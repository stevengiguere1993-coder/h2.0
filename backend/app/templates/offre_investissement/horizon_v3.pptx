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handoutMasters/handoutMaster1.xml" ContentType="application/vnd.openxmlformats-officedocument.presentationml.handoutMaster+xml"/>
  <Override PartName="/ppt/media/image10.svg" ContentType="image/svg+xml"/>
  <Override PartName="/ppt/media/image14.svg" ContentType="image/svg+xml"/>
  <Override PartName="/ppt/media/image15.svg" ContentType="image/svg+xml"/>
  <Override PartName="/ppt/media/image19.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6.svg" ContentType="image/svg+xml"/>
  <Override PartName="/ppt/media/image27.svg" ContentType="image/svg+xml"/>
  <Override PartName="/ppt/media/image28.svg" ContentType="image/svg+xml"/>
  <Override PartName="/ppt/media/image29.svg" ContentType="image/svg+xml"/>
  <Override PartName="/ppt/media/image30.svg" ContentType="image/svg+xml"/>
  <Override PartName="/ppt/media/image32.svg" ContentType="image/svg+xml"/>
  <Override PartName="/ppt/media/image33.svg" ContentType="image/svg+xml"/>
  <Override PartName="/ppt/media/image34.svg" ContentType="image/svg+xml"/>
  <Override PartName="/ppt/media/image35.svg" ContentType="image/svg+xml"/>
  <Override PartName="/ppt/media/image37.svg" ContentType="image/svg+xml"/>
  <Override PartName="/ppt/media/image38.svg" ContentType="image/svg+xml"/>
  <Override PartName="/ppt/media/image39.svg" ContentType="image/svg+xml"/>
  <Override PartName="/ppt/media/image40.svg" ContentType="image/svg+xml"/>
  <Override PartName="/ppt/media/image41.svg" ContentType="image/svg+xml"/>
  <Override PartName="/ppt/media/image42.svg" ContentType="image/svg+xml"/>
  <Override PartName="/ppt/media/image43.svg" ContentType="image/svg+xml"/>
  <Override PartName="/ppt/media/image44.svg" ContentType="image/svg+xml"/>
  <Override PartName="/ppt/media/image45.svg" ContentType="image/svg+xml"/>
  <Override PartName="/ppt/media/image46.svg" ContentType="image/svg+xml"/>
  <Override PartName="/ppt/media/image47.svg" ContentType="image/svg+xml"/>
  <Override PartName="/ppt/media/image48.svg" ContentType="image/svg+xml"/>
  <Override PartName="/ppt/media/image49.svg" ContentType="image/svg+xml"/>
  <Override PartName="/ppt/media/image5.svg" ContentType="image/svg+xml"/>
  <Override PartName="/ppt/media/image50.svg" ContentType="image/svg+xml"/>
  <Override PartName="/ppt/media/image51.svg" ContentType="image/svg+xml"/>
  <Override PartName="/ppt/media/image52.svg" ContentType="image/svg+xml"/>
  <Override PartName="/ppt/media/image53.svg" ContentType="image/svg+xml"/>
  <Override PartName="/ppt/media/image54.svg" ContentType="image/svg+xml"/>
  <Override PartName="/ppt/media/image55.svg" ContentType="image/svg+xml"/>
  <Override PartName="/ppt/media/image56.svg" ContentType="image/svg+xml"/>
  <Override PartName="/ppt/media/image6.svg" ContentType="image/svg+xml"/>
  <Override PartName="/ppt/media/image60.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handoutMasterIdLst>
    <p:handoutMasterId r:id="rId19"/>
  </p:handoutMasterIdLst>
  <p:sldIdLst>
    <p:sldId id="257" r:id="rId2"/>
    <p:sldId id="279" r:id="rId3"/>
    <p:sldId id="280" r:id="rId4"/>
    <p:sldId id="278" r:id="rId5"/>
    <p:sldId id="281" r:id="rId6"/>
    <p:sldId id="274" r:id="rId7"/>
    <p:sldId id="282" r:id="rId8"/>
    <p:sldId id="275" r:id="rId9"/>
    <p:sldId id="288" r:id="rId10"/>
    <p:sldId id="283" r:id="rId11"/>
    <p:sldId id="290" r:id="rId12"/>
    <p:sldId id="276" r:id="rId13"/>
    <p:sldId id="286" r:id="rId14"/>
    <p:sldId id="285" r:id="rId15"/>
    <p:sldId id="287" r:id="rId16"/>
    <p:sldId id="27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FAE91FD-31B2-6186-CC59-D86EC4F5FD62}" name="Philippe Meuser" initials="PM" userId="S::info@meuserimmobilier.com::a9ba78da-ebb6-47ad-a820-045ca653f669"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1D3E32"/>
    <a:srgbClr val="832715"/>
    <a:srgbClr val="F8D956"/>
    <a:srgbClr val="009999"/>
    <a:srgbClr val="EF3E45"/>
    <a:srgbClr val="FFCC00"/>
    <a:srgbClr val="EDE209"/>
    <a:srgbClr val="F6EB16"/>
    <a:srgbClr val="DEDE1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0549E2-0678-425C-A7A8-F70BD243C034}" v="35" dt="2026-09-23T18:35:22.46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089" autoAdjust="0"/>
  </p:normalViewPr>
  <p:slideViewPr>
    <p:cSldViewPr snapToGrid="0">
      <p:cViewPr varScale="1">
        <p:scale>
          <a:sx n="145" d="100"/>
          <a:sy n="145" d="100"/>
        </p:scale>
        <p:origin x="13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handoutMaster" Target="handoutMasters/handout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microsoft.com/office/2016/11/relationships/changesInfo" Target="changesInfos/changesInfo1.xml"/><Relationship Id="rId25" Type="http://schemas.microsoft.com/office/2015/10/relationships/revisionInfo" Target="revisionInfo.xml"/><Relationship Id="rId26"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hilippe Meuser" userId="10d45716-5ec8-4a43-b2be-1e816ebf99c3" providerId="ADAL" clId="{0E66A23D-57B9-4E2C-8887-84C45F198E79}"/>
    <pc:docChg chg="undo custSel addSld delSld modSld">
      <pc:chgData name="Philippe Meuser" userId="10d45716-5ec8-4a43-b2be-1e816ebf99c3" providerId="ADAL" clId="{0E66A23D-57B9-4E2C-8887-84C45F198E79}" dt="2026-09-23T18:41:03.843" v="1448" actId="27918"/>
      <pc:docMkLst>
        <pc:docMk/>
      </pc:docMkLst>
      <pc:sldChg chg="modSp mod">
        <pc:chgData name="Philippe Meuser" userId="10d45716-5ec8-4a43-b2be-1e816ebf99c3" providerId="ADAL" clId="{0E66A23D-57B9-4E2C-8887-84C45F198E79}" dt="2026-09-23T17:52:35.511" v="3" actId="6549"/>
        <pc:sldMkLst>
          <pc:docMk/>
          <pc:sldMk cId="1949512189" sldId="257"/>
        </pc:sldMkLst>
        <pc:spChg chg="mod">
          <ac:chgData name="Philippe Meuser" userId="10d45716-5ec8-4a43-b2be-1e816ebf99c3" providerId="ADAL" clId="{0E66A23D-57B9-4E2C-8887-84C45F198E79}" dt="2026-09-23T17:52:35.511" v="3" actId="6549"/>
          <ac:spMkLst>
            <pc:docMk/>
            <pc:sldMk cId="1949512189" sldId="257"/>
            <ac:spMk id="6" creationId="{27B6FE47-51E4-4F3E-8018-E8AA8336EE3D}"/>
          </ac:spMkLst>
        </pc:spChg>
      </pc:sldChg>
      <pc:sldChg chg="modSp mod">
        <pc:chgData name="Philippe Meuser" userId="10d45716-5ec8-4a43-b2be-1e816ebf99c3" providerId="ADAL" clId="{0E66A23D-57B9-4E2C-8887-84C45F198E79}" dt="2026-09-23T18:08:42.827" v="604" actId="20577"/>
        <pc:sldMkLst>
          <pc:docMk/>
          <pc:sldMk cId="4148072408" sldId="274"/>
        </pc:sldMkLst>
        <pc:graphicFrameChg chg="modGraphic">
          <ac:chgData name="Philippe Meuser" userId="10d45716-5ec8-4a43-b2be-1e816ebf99c3" providerId="ADAL" clId="{0E66A23D-57B9-4E2C-8887-84C45F198E79}" dt="2026-09-23T18:08:06.710" v="596" actId="20577"/>
          <ac:graphicFrameMkLst>
            <pc:docMk/>
            <pc:sldMk cId="4148072408" sldId="274"/>
            <ac:graphicFrameMk id="2" creationId="{49D1DD19-7BC1-9978-5050-FD61F73B4967}"/>
          </ac:graphicFrameMkLst>
        </pc:graphicFrameChg>
        <pc:graphicFrameChg chg="modGraphic">
          <ac:chgData name="Philippe Meuser" userId="10d45716-5ec8-4a43-b2be-1e816ebf99c3" providerId="ADAL" clId="{0E66A23D-57B9-4E2C-8887-84C45F198E79}" dt="2026-09-23T18:08:42.827" v="604" actId="20577"/>
          <ac:graphicFrameMkLst>
            <pc:docMk/>
            <pc:sldMk cId="4148072408" sldId="274"/>
            <ac:graphicFrameMk id="13" creationId="{CDF40566-F3ED-0F68-686A-C9B3B9410506}"/>
          </ac:graphicFrameMkLst>
        </pc:graphicFrameChg>
      </pc:sldChg>
      <pc:sldChg chg="addSp modSp mod">
        <pc:chgData name="Philippe Meuser" userId="10d45716-5ec8-4a43-b2be-1e816ebf99c3" providerId="ADAL" clId="{0E66A23D-57B9-4E2C-8887-84C45F198E79}" dt="2026-09-23T18:15:08.982" v="846" actId="20577"/>
        <pc:sldMkLst>
          <pc:docMk/>
          <pc:sldMk cId="2488838096" sldId="275"/>
        </pc:sldMkLst>
        <pc:spChg chg="add mod">
          <ac:chgData name="Philippe Meuser" userId="10d45716-5ec8-4a43-b2be-1e816ebf99c3" providerId="ADAL" clId="{0E66A23D-57B9-4E2C-8887-84C45F198E79}" dt="2026-09-23T18:14:52.597" v="823" actId="1076"/>
          <ac:spMkLst>
            <pc:docMk/>
            <pc:sldMk cId="2488838096" sldId="275"/>
            <ac:spMk id="2" creationId="{DC23EC60-00D7-1CFA-F456-7AB2304825CC}"/>
          </ac:spMkLst>
        </pc:spChg>
        <pc:spChg chg="mod">
          <ac:chgData name="Philippe Meuser" userId="10d45716-5ec8-4a43-b2be-1e816ebf99c3" providerId="ADAL" clId="{0E66A23D-57B9-4E2C-8887-84C45F198E79}" dt="2026-09-23T18:13:08.347" v="698" actId="20577"/>
          <ac:spMkLst>
            <pc:docMk/>
            <pc:sldMk cId="2488838096" sldId="275"/>
            <ac:spMk id="18" creationId="{7DDDB058-0616-8943-12A9-3F862C6E99AF}"/>
          </ac:spMkLst>
        </pc:spChg>
        <pc:spChg chg="mod">
          <ac:chgData name="Philippe Meuser" userId="10d45716-5ec8-4a43-b2be-1e816ebf99c3" providerId="ADAL" clId="{0E66A23D-57B9-4E2C-8887-84C45F198E79}" dt="2026-09-23T18:13:13.431" v="706" actId="20577"/>
          <ac:spMkLst>
            <pc:docMk/>
            <pc:sldMk cId="2488838096" sldId="275"/>
            <ac:spMk id="19" creationId="{12E4F5CE-3D8D-CA99-A7D0-8F2862ACA780}"/>
          </ac:spMkLst>
        </pc:spChg>
        <pc:graphicFrameChg chg="modGraphic">
          <ac:chgData name="Philippe Meuser" userId="10d45716-5ec8-4a43-b2be-1e816ebf99c3" providerId="ADAL" clId="{0E66A23D-57B9-4E2C-8887-84C45F198E79}" dt="2026-09-23T18:15:08.982" v="846" actId="20577"/>
          <ac:graphicFrameMkLst>
            <pc:docMk/>
            <pc:sldMk cId="2488838096" sldId="275"/>
            <ac:graphicFrameMk id="3" creationId="{CCC5CA1C-4D7E-633A-F78E-B648F4065F29}"/>
          </ac:graphicFrameMkLst>
        </pc:graphicFrameChg>
      </pc:sldChg>
      <pc:sldChg chg="addSp delSp modSp mod">
        <pc:chgData name="Philippe Meuser" userId="10d45716-5ec8-4a43-b2be-1e816ebf99c3" providerId="ADAL" clId="{0E66A23D-57B9-4E2C-8887-84C45F198E79}" dt="2026-09-23T18:35:37.935" v="1424" actId="20577"/>
        <pc:sldMkLst>
          <pc:docMk/>
          <pc:sldMk cId="3187219015" sldId="276"/>
        </pc:sldMkLst>
        <pc:spChg chg="mod">
          <ac:chgData name="Philippe Meuser" userId="10d45716-5ec8-4a43-b2be-1e816ebf99c3" providerId="ADAL" clId="{0E66A23D-57B9-4E2C-8887-84C45F198E79}" dt="2026-09-23T18:35:30.679" v="1412" actId="1076"/>
          <ac:spMkLst>
            <pc:docMk/>
            <pc:sldMk cId="3187219015" sldId="276"/>
            <ac:spMk id="15" creationId="{E7CAF93F-F1AB-7AD2-4AD5-D2EBAE4955F3}"/>
          </ac:spMkLst>
        </pc:spChg>
        <pc:spChg chg="mod">
          <ac:chgData name="Philippe Meuser" userId="10d45716-5ec8-4a43-b2be-1e816ebf99c3" providerId="ADAL" clId="{0E66A23D-57B9-4E2C-8887-84C45F198E79}" dt="2026-09-23T18:35:37.935" v="1424" actId="20577"/>
          <ac:spMkLst>
            <pc:docMk/>
            <pc:sldMk cId="3187219015" sldId="276"/>
            <ac:spMk id="26" creationId="{518E405E-7681-027E-F663-26D06C0EC75E}"/>
          </ac:spMkLst>
        </pc:spChg>
        <pc:spChg chg="mod">
          <ac:chgData name="Philippe Meuser" userId="10d45716-5ec8-4a43-b2be-1e816ebf99c3" providerId="ADAL" clId="{0E66A23D-57B9-4E2C-8887-84C45F198E79}" dt="2026-09-23T18:35:17.095" v="1409" actId="20577"/>
          <ac:spMkLst>
            <pc:docMk/>
            <pc:sldMk cId="3187219015" sldId="276"/>
            <ac:spMk id="28" creationId="{99CC2492-8F25-8491-04F5-7DB996235820}"/>
          </ac:spMkLst>
        </pc:spChg>
        <pc:graphicFrameChg chg="mod">
          <ac:chgData name="Philippe Meuser" userId="10d45716-5ec8-4a43-b2be-1e816ebf99c3" providerId="ADAL" clId="{0E66A23D-57B9-4E2C-8887-84C45F198E79}" dt="2026-09-23T18:35:22.467" v="1411" actId="20577"/>
          <ac:graphicFrameMkLst>
            <pc:docMk/>
            <pc:sldMk cId="3187219015" sldId="276"/>
            <ac:graphicFrameMk id="21" creationId="{4C624E22-A2A6-B6F2-E267-1A8F83949C5E}"/>
          </ac:graphicFrameMkLst>
        </pc:graphicFrameChg>
        <pc:picChg chg="add mod">
          <ac:chgData name="Philippe Meuser" userId="10d45716-5ec8-4a43-b2be-1e816ebf99c3" providerId="ADAL" clId="{0E66A23D-57B9-4E2C-8887-84C45F198E79}" dt="2026-09-23T18:34:17.568" v="1392" actId="1076"/>
          <ac:picMkLst>
            <pc:docMk/>
            <pc:sldMk cId="3187219015" sldId="276"/>
            <ac:picMk id="4" creationId="{C3E45C3A-F456-ABE2-F62E-7D515F59CEFD}"/>
          </ac:picMkLst>
        </pc:picChg>
        <pc:picChg chg="del">
          <ac:chgData name="Philippe Meuser" userId="10d45716-5ec8-4a43-b2be-1e816ebf99c3" providerId="ADAL" clId="{0E66A23D-57B9-4E2C-8887-84C45F198E79}" dt="2026-09-23T18:33:56.159" v="1385" actId="478"/>
          <ac:picMkLst>
            <pc:docMk/>
            <pc:sldMk cId="3187219015" sldId="276"/>
            <ac:picMk id="7" creationId="{431516B5-F95E-9B33-1E1E-C222F676E6D4}"/>
          </ac:picMkLst>
        </pc:picChg>
        <pc:picChg chg="del">
          <ac:chgData name="Philippe Meuser" userId="10d45716-5ec8-4a43-b2be-1e816ebf99c3" providerId="ADAL" clId="{0E66A23D-57B9-4E2C-8887-84C45F198E79}" dt="2026-09-23T18:33:55.273" v="1383" actId="478"/>
          <ac:picMkLst>
            <pc:docMk/>
            <pc:sldMk cId="3187219015" sldId="276"/>
            <ac:picMk id="14" creationId="{BE8943FD-4D9C-7F31-6603-84A53B72B740}"/>
          </ac:picMkLst>
        </pc:picChg>
        <pc:picChg chg="del">
          <ac:chgData name="Philippe Meuser" userId="10d45716-5ec8-4a43-b2be-1e816ebf99c3" providerId="ADAL" clId="{0E66A23D-57B9-4E2C-8887-84C45F198E79}" dt="2026-09-23T18:33:54.719" v="1382" actId="478"/>
          <ac:picMkLst>
            <pc:docMk/>
            <pc:sldMk cId="3187219015" sldId="276"/>
            <ac:picMk id="17" creationId="{C9BC2456-6843-C06B-D6BF-1AFAD4D75B84}"/>
          </ac:picMkLst>
        </pc:picChg>
        <pc:picChg chg="del">
          <ac:chgData name="Philippe Meuser" userId="10d45716-5ec8-4a43-b2be-1e816ebf99c3" providerId="ADAL" clId="{0E66A23D-57B9-4E2C-8887-84C45F198E79}" dt="2026-09-23T18:33:55.761" v="1384" actId="478"/>
          <ac:picMkLst>
            <pc:docMk/>
            <pc:sldMk cId="3187219015" sldId="276"/>
            <ac:picMk id="19" creationId="{2D5A6EE9-DB50-EB25-74CB-75F1E6CA8DC3}"/>
          </ac:picMkLst>
        </pc:picChg>
      </pc:sldChg>
      <pc:sldChg chg="modSp mod">
        <pc:chgData name="Philippe Meuser" userId="10d45716-5ec8-4a43-b2be-1e816ebf99c3" providerId="ADAL" clId="{0E66A23D-57B9-4E2C-8887-84C45F198E79}" dt="2026-09-23T18:01:57.871" v="184" actId="27918"/>
        <pc:sldMkLst>
          <pc:docMk/>
          <pc:sldMk cId="365502376" sldId="278"/>
        </pc:sldMkLst>
        <pc:spChg chg="mod">
          <ac:chgData name="Philippe Meuser" userId="10d45716-5ec8-4a43-b2be-1e816ebf99c3" providerId="ADAL" clId="{0E66A23D-57B9-4E2C-8887-84C45F198E79}" dt="2026-09-23T18:01:34.206" v="182" actId="20577"/>
          <ac:spMkLst>
            <pc:docMk/>
            <pc:sldMk cId="365502376" sldId="278"/>
            <ac:spMk id="7" creationId="{B9F2800D-0CB3-CD23-59B6-071892C1F7AC}"/>
          </ac:spMkLst>
        </pc:spChg>
        <pc:spChg chg="mod">
          <ac:chgData name="Philippe Meuser" userId="10d45716-5ec8-4a43-b2be-1e816ebf99c3" providerId="ADAL" clId="{0E66A23D-57B9-4E2C-8887-84C45F198E79}" dt="2026-09-23T18:00:15.713" v="163" actId="20577"/>
          <ac:spMkLst>
            <pc:docMk/>
            <pc:sldMk cId="365502376" sldId="278"/>
            <ac:spMk id="31" creationId="{FE0D4FCE-AB0D-EB4D-7342-37E0C0222D97}"/>
          </ac:spMkLst>
        </pc:spChg>
        <pc:picChg chg="mod">
          <ac:chgData name="Philippe Meuser" userId="10d45716-5ec8-4a43-b2be-1e816ebf99c3" providerId="ADAL" clId="{0E66A23D-57B9-4E2C-8887-84C45F198E79}" dt="2026-09-23T18:00:31.052" v="165" actId="1076"/>
          <ac:picMkLst>
            <pc:docMk/>
            <pc:sldMk cId="365502376" sldId="278"/>
            <ac:picMk id="77" creationId="{0B286614-A61E-658E-67A7-BD52C86E28C7}"/>
          </ac:picMkLst>
        </pc:picChg>
      </pc:sldChg>
      <pc:sldChg chg="addSp delSp modSp mod">
        <pc:chgData name="Philippe Meuser" userId="10d45716-5ec8-4a43-b2be-1e816ebf99c3" providerId="ADAL" clId="{0E66A23D-57B9-4E2C-8887-84C45F198E79}" dt="2026-09-23T17:57:39.546" v="51" actId="20577"/>
        <pc:sldMkLst>
          <pc:docMk/>
          <pc:sldMk cId="3162987099" sldId="279"/>
        </pc:sldMkLst>
        <pc:spChg chg="add del mod">
          <ac:chgData name="Philippe Meuser" userId="10d45716-5ec8-4a43-b2be-1e816ebf99c3" providerId="ADAL" clId="{0E66A23D-57B9-4E2C-8887-84C45F198E79}" dt="2026-09-23T17:55:06.322" v="21"/>
          <ac:spMkLst>
            <pc:docMk/>
            <pc:sldMk cId="3162987099" sldId="279"/>
            <ac:spMk id="11" creationId="{DAD686A7-0F10-A56D-A5EB-F0A61858DFAD}"/>
          </ac:spMkLst>
        </pc:spChg>
        <pc:spChg chg="add">
          <ac:chgData name="Philippe Meuser" userId="10d45716-5ec8-4a43-b2be-1e816ebf99c3" providerId="ADAL" clId="{0E66A23D-57B9-4E2C-8887-84C45F198E79}" dt="2026-09-23T17:57:02.859" v="36" actId="22"/>
          <ac:spMkLst>
            <pc:docMk/>
            <pc:sldMk cId="3162987099" sldId="279"/>
            <ac:spMk id="16" creationId="{EA633D0C-7F1D-5F46-A1E9-BF7CC3C04C08}"/>
          </ac:spMkLst>
        </pc:spChg>
        <pc:spChg chg="mod">
          <ac:chgData name="Philippe Meuser" userId="10d45716-5ec8-4a43-b2be-1e816ebf99c3" providerId="ADAL" clId="{0E66A23D-57B9-4E2C-8887-84C45F198E79}" dt="2026-09-23T17:54:41.941" v="14" actId="20577"/>
          <ac:spMkLst>
            <pc:docMk/>
            <pc:sldMk cId="3162987099" sldId="279"/>
            <ac:spMk id="35" creationId="{148EDDA9-A9D9-4BFB-0F3E-27CFE6E373E0}"/>
          </ac:spMkLst>
        </pc:spChg>
        <pc:spChg chg="mod">
          <ac:chgData name="Philippe Meuser" userId="10d45716-5ec8-4a43-b2be-1e816ebf99c3" providerId="ADAL" clId="{0E66A23D-57B9-4E2C-8887-84C45F198E79}" dt="2026-09-23T17:57:39.546" v="51" actId="20577"/>
          <ac:spMkLst>
            <pc:docMk/>
            <pc:sldMk cId="3162987099" sldId="279"/>
            <ac:spMk id="38" creationId="{64A7F72C-7240-DCA4-8E2A-E74094A7D1E8}"/>
          </ac:spMkLst>
        </pc:spChg>
        <pc:spChg chg="del">
          <ac:chgData name="Philippe Meuser" userId="10d45716-5ec8-4a43-b2be-1e816ebf99c3" providerId="ADAL" clId="{0E66A23D-57B9-4E2C-8887-84C45F198E79}" dt="2026-09-23T17:57:02.584" v="35" actId="478"/>
          <ac:spMkLst>
            <pc:docMk/>
            <pc:sldMk cId="3162987099" sldId="279"/>
            <ac:spMk id="40" creationId="{818EB867-0E20-4AD1-82FD-883E0B1774F0}"/>
          </ac:spMkLst>
        </pc:spChg>
        <pc:picChg chg="mod">
          <ac:chgData name="Philippe Meuser" userId="10d45716-5ec8-4a43-b2be-1e816ebf99c3" providerId="ADAL" clId="{0E66A23D-57B9-4E2C-8887-84C45F198E79}" dt="2026-09-23T17:56:26.544" v="29" actId="1076"/>
          <ac:picMkLst>
            <pc:docMk/>
            <pc:sldMk cId="3162987099" sldId="279"/>
            <ac:picMk id="6" creationId="{2605B1DA-CBCD-7C52-3592-D824919F6480}"/>
          </ac:picMkLst>
        </pc:picChg>
        <pc:picChg chg="add mod">
          <ac:chgData name="Philippe Meuser" userId="10d45716-5ec8-4a43-b2be-1e816ebf99c3" providerId="ADAL" clId="{0E66A23D-57B9-4E2C-8887-84C45F198E79}" dt="2026-09-23T17:56:34.494" v="31" actId="1076"/>
          <ac:picMkLst>
            <pc:docMk/>
            <pc:sldMk cId="3162987099" sldId="279"/>
            <ac:picMk id="9" creationId="{FE698BD7-71FD-A01E-4FC4-4BBF8650E6B8}"/>
          </ac:picMkLst>
        </pc:picChg>
        <pc:picChg chg="add mod">
          <ac:chgData name="Philippe Meuser" userId="10d45716-5ec8-4a43-b2be-1e816ebf99c3" providerId="ADAL" clId="{0E66A23D-57B9-4E2C-8887-84C45F198E79}" dt="2026-09-23T17:56:31.332" v="30" actId="1076"/>
          <ac:picMkLst>
            <pc:docMk/>
            <pc:sldMk cId="3162987099" sldId="279"/>
            <ac:picMk id="14" creationId="{999D7AFD-3CEB-B6A1-F53C-665F5CF50658}"/>
          </ac:picMkLst>
        </pc:picChg>
        <pc:picChg chg="del">
          <ac:chgData name="Philippe Meuser" userId="10d45716-5ec8-4a43-b2be-1e816ebf99c3" providerId="ADAL" clId="{0E66A23D-57B9-4E2C-8887-84C45F198E79}" dt="2026-09-23T17:55:11.391" v="23" actId="478"/>
          <ac:picMkLst>
            <pc:docMk/>
            <pc:sldMk cId="3162987099" sldId="279"/>
            <ac:picMk id="41" creationId="{00000000-0000-0000-0000-000000000000}"/>
          </ac:picMkLst>
        </pc:picChg>
        <pc:picChg chg="del">
          <ac:chgData name="Philippe Meuser" userId="10d45716-5ec8-4a43-b2be-1e816ebf99c3" providerId="ADAL" clId="{0E66A23D-57B9-4E2C-8887-84C45F198E79}" dt="2026-09-23T17:55:06.321" v="19" actId="478"/>
          <ac:picMkLst>
            <pc:docMk/>
            <pc:sldMk cId="3162987099" sldId="279"/>
            <ac:picMk id="42" creationId="{00000000-0000-0000-0000-000000000000}"/>
          </ac:picMkLst>
        </pc:picChg>
      </pc:sldChg>
      <pc:sldChg chg="modSp mod">
        <pc:chgData name="Philippe Meuser" userId="10d45716-5ec8-4a43-b2be-1e816ebf99c3" providerId="ADAL" clId="{0E66A23D-57B9-4E2C-8887-84C45F198E79}" dt="2026-09-23T17:59:33.358" v="99" actId="1076"/>
        <pc:sldMkLst>
          <pc:docMk/>
          <pc:sldMk cId="2746227003" sldId="280"/>
        </pc:sldMkLst>
        <pc:graphicFrameChg chg="mod modGraphic">
          <ac:chgData name="Philippe Meuser" userId="10d45716-5ec8-4a43-b2be-1e816ebf99c3" providerId="ADAL" clId="{0E66A23D-57B9-4E2C-8887-84C45F198E79}" dt="2026-09-23T17:59:06.572" v="93" actId="20577"/>
          <ac:graphicFrameMkLst>
            <pc:docMk/>
            <pc:sldMk cId="2746227003" sldId="280"/>
            <ac:graphicFrameMk id="13" creationId="{34C974B2-88A6-E1C1-6998-F90CD9197C6C}"/>
          </ac:graphicFrameMkLst>
        </pc:graphicFrameChg>
        <pc:picChg chg="mod">
          <ac:chgData name="Philippe Meuser" userId="10d45716-5ec8-4a43-b2be-1e816ebf99c3" providerId="ADAL" clId="{0E66A23D-57B9-4E2C-8887-84C45F198E79}" dt="2026-09-23T17:59:33.358" v="99" actId="1076"/>
          <ac:picMkLst>
            <pc:docMk/>
            <pc:sldMk cId="2746227003" sldId="280"/>
            <ac:picMk id="6" creationId="{7E721095-8AAB-BDBE-AA2C-1E260F583111}"/>
          </ac:picMkLst>
        </pc:picChg>
      </pc:sldChg>
      <pc:sldChg chg="modSp mod">
        <pc:chgData name="Philippe Meuser" userId="10d45716-5ec8-4a43-b2be-1e816ebf99c3" providerId="ADAL" clId="{0E66A23D-57B9-4E2C-8887-84C45F198E79}" dt="2026-09-23T18:03:08.610" v="207" actId="20577"/>
        <pc:sldMkLst>
          <pc:docMk/>
          <pc:sldMk cId="2388617471" sldId="281"/>
        </pc:sldMkLst>
        <pc:graphicFrameChg chg="modGraphic">
          <ac:chgData name="Philippe Meuser" userId="10d45716-5ec8-4a43-b2be-1e816ebf99c3" providerId="ADAL" clId="{0E66A23D-57B9-4E2C-8887-84C45F198E79}" dt="2026-09-23T18:02:41.706" v="193" actId="20577"/>
          <ac:graphicFrameMkLst>
            <pc:docMk/>
            <pc:sldMk cId="2388617471" sldId="281"/>
            <ac:graphicFrameMk id="9" creationId="{8FF33625-40DC-ADCA-9E80-A7A433B0D19F}"/>
          </ac:graphicFrameMkLst>
        </pc:graphicFrameChg>
        <pc:graphicFrameChg chg="modGraphic">
          <ac:chgData name="Philippe Meuser" userId="10d45716-5ec8-4a43-b2be-1e816ebf99c3" providerId="ADAL" clId="{0E66A23D-57B9-4E2C-8887-84C45F198E79}" dt="2026-09-23T18:03:08.610" v="207" actId="20577"/>
          <ac:graphicFrameMkLst>
            <pc:docMk/>
            <pc:sldMk cId="2388617471" sldId="281"/>
            <ac:graphicFrameMk id="13" creationId="{FFFC4B53-8B08-D79A-5AA8-D8C7F3CD7F0E}"/>
          </ac:graphicFrameMkLst>
        </pc:graphicFrameChg>
      </pc:sldChg>
      <pc:sldChg chg="modSp mod">
        <pc:chgData name="Philippe Meuser" userId="10d45716-5ec8-4a43-b2be-1e816ebf99c3" providerId="ADAL" clId="{0E66A23D-57B9-4E2C-8887-84C45F198E79}" dt="2026-09-23T18:09:14.041" v="627" actId="20577"/>
        <pc:sldMkLst>
          <pc:docMk/>
          <pc:sldMk cId="3963861749" sldId="282"/>
        </pc:sldMkLst>
        <pc:spChg chg="mod">
          <ac:chgData name="Philippe Meuser" userId="10d45716-5ec8-4a43-b2be-1e816ebf99c3" providerId="ADAL" clId="{0E66A23D-57B9-4E2C-8887-84C45F198E79}" dt="2026-09-23T18:09:14.041" v="627" actId="20577"/>
          <ac:spMkLst>
            <pc:docMk/>
            <pc:sldMk cId="3963861749" sldId="282"/>
            <ac:spMk id="4" creationId="{5FF541BE-CD9B-88A3-A8CF-AA015592314D}"/>
          </ac:spMkLst>
        </pc:spChg>
      </pc:sldChg>
      <pc:sldChg chg="modSp mod">
        <pc:chgData name="Philippe Meuser" userId="10d45716-5ec8-4a43-b2be-1e816ebf99c3" providerId="ADAL" clId="{0E66A23D-57B9-4E2C-8887-84C45F198E79}" dt="2026-09-23T18:28:49.466" v="1232" actId="20577"/>
        <pc:sldMkLst>
          <pc:docMk/>
          <pc:sldMk cId="3717854353" sldId="283"/>
        </pc:sldMkLst>
        <pc:spChg chg="mod">
          <ac:chgData name="Philippe Meuser" userId="10d45716-5ec8-4a43-b2be-1e816ebf99c3" providerId="ADAL" clId="{0E66A23D-57B9-4E2C-8887-84C45F198E79}" dt="2026-09-23T18:28:06.622" v="1228" actId="20577"/>
          <ac:spMkLst>
            <pc:docMk/>
            <pc:sldMk cId="3717854353" sldId="283"/>
            <ac:spMk id="19" creationId="{0D42D459-B19D-A8DF-CFB7-BA3BE0331488}"/>
          </ac:spMkLst>
        </pc:spChg>
        <pc:graphicFrameChg chg="modGraphic">
          <ac:chgData name="Philippe Meuser" userId="10d45716-5ec8-4a43-b2be-1e816ebf99c3" providerId="ADAL" clId="{0E66A23D-57B9-4E2C-8887-84C45F198E79}" dt="2026-09-23T18:28:49.466" v="1232" actId="20577"/>
          <ac:graphicFrameMkLst>
            <pc:docMk/>
            <pc:sldMk cId="3717854353" sldId="283"/>
            <ac:graphicFrameMk id="3" creationId="{FF571CF8-030A-F923-765C-F81B16A96B43}"/>
          </ac:graphicFrameMkLst>
        </pc:graphicFrameChg>
      </pc:sldChg>
      <pc:sldChg chg="mod">
        <pc:chgData name="Philippe Meuser" userId="10d45716-5ec8-4a43-b2be-1e816ebf99c3" providerId="ADAL" clId="{0E66A23D-57B9-4E2C-8887-84C45F198E79}" dt="2026-09-23T18:41:03.843" v="1448" actId="27918"/>
        <pc:sldMkLst>
          <pc:docMk/>
          <pc:sldMk cId="3450455366" sldId="286"/>
        </pc:sldMkLst>
      </pc:sldChg>
      <pc:sldChg chg="modSp mod">
        <pc:chgData name="Philippe Meuser" userId="10d45716-5ec8-4a43-b2be-1e816ebf99c3" providerId="ADAL" clId="{0E66A23D-57B9-4E2C-8887-84C45F198E79}" dt="2026-09-23T18:24:23.819" v="1126" actId="113"/>
        <pc:sldMkLst>
          <pc:docMk/>
          <pc:sldMk cId="2949046833" sldId="288"/>
        </pc:sldMkLst>
        <pc:graphicFrameChg chg="mod modGraphic">
          <ac:chgData name="Philippe Meuser" userId="10d45716-5ec8-4a43-b2be-1e816ebf99c3" providerId="ADAL" clId="{0E66A23D-57B9-4E2C-8887-84C45F198E79}" dt="2026-09-23T18:24:23.819" v="1126" actId="113"/>
          <ac:graphicFrameMkLst>
            <pc:docMk/>
            <pc:sldMk cId="2949046833" sldId="288"/>
            <ac:graphicFrameMk id="3" creationId="{744C9E82-597F-5F9A-FE64-F54B644DBF98}"/>
          </ac:graphicFrameMkLst>
        </pc:graphicFrameChg>
      </pc:sldChg>
      <pc:sldChg chg="modSp del mod">
        <pc:chgData name="Philippe Meuser" userId="10d45716-5ec8-4a43-b2be-1e816ebf99c3" providerId="ADAL" clId="{0E66A23D-57B9-4E2C-8887-84C45F198E79}" dt="2026-09-23T18:33:35.230" v="1381" actId="2696"/>
        <pc:sldMkLst>
          <pc:docMk/>
          <pc:sldMk cId="681714533" sldId="289"/>
        </pc:sldMkLst>
        <pc:graphicFrameChg chg="modGraphic">
          <ac:chgData name="Philippe Meuser" userId="10d45716-5ec8-4a43-b2be-1e816ebf99c3" providerId="ADAL" clId="{0E66A23D-57B9-4E2C-8887-84C45F198E79}" dt="2026-09-23T18:30:44.380" v="1279" actId="20577"/>
          <ac:graphicFrameMkLst>
            <pc:docMk/>
            <pc:sldMk cId="681714533" sldId="289"/>
            <ac:graphicFrameMk id="84" creationId="{A154E383-9124-C77F-DA97-27CEE43918D4}"/>
          </ac:graphicFrameMkLst>
        </pc:graphicFrameChg>
      </pc:sldChg>
      <pc:sldChg chg="modSp add mod setBg">
        <pc:chgData name="Philippe Meuser" userId="10d45716-5ec8-4a43-b2be-1e816ebf99c3" providerId="ADAL" clId="{0E66A23D-57B9-4E2C-8887-84C45F198E79}" dt="2026-09-23T18:33:27.874" v="1380" actId="20577"/>
        <pc:sldMkLst>
          <pc:docMk/>
          <pc:sldMk cId="2921077500" sldId="290"/>
        </pc:sldMkLst>
        <pc:graphicFrameChg chg="modGraphic">
          <ac:chgData name="Philippe Meuser" userId="10d45716-5ec8-4a43-b2be-1e816ebf99c3" providerId="ADAL" clId="{0E66A23D-57B9-4E2C-8887-84C45F198E79}" dt="2026-09-23T18:33:27.874" v="1380" actId="20577"/>
          <ac:graphicFrameMkLst>
            <pc:docMk/>
            <pc:sldMk cId="2921077500" sldId="290"/>
            <ac:graphicFrameMk id="84" creationId="{A154E383-9124-C77F-DA97-27CEE43918D4}"/>
          </ac:graphicFrameMkLst>
        </pc:graphicFrameChg>
      </pc:sldChg>
    </pc:docChg>
  </pc:docChgLst>
</pc:chgInfo>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400" dirty="0">
                <a:solidFill>
                  <a:srgbClr val="F8D956"/>
                </a:solidFill>
              </a:rPr>
              <a:t>VALEUR MARCHANDE</a:t>
            </a:r>
          </a:p>
        </c:rich>
      </c:tx>
      <c:layout>
        <c:manualLayout>
          <c:xMode val="edge"/>
          <c:yMode val="edge"/>
          <c:x val="0.32093708598208526"/>
          <c:y val="3.3581389035544272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PDM</c:v>
                </c:pt>
              </c:strCache>
            </c:strRef>
          </c:tx>
          <c:spPr>
            <a:ln w="28575" cap="rnd">
              <a:solidFill>
                <a:srgbClr val="F8D956"/>
              </a:solidFill>
              <a:round/>
            </a:ln>
            <a:effectLst/>
          </c:spPr>
          <c:marker>
            <c:symbol val="none"/>
          </c:marker>
          <c:dLbls>
            <c:delete val="1"/>
          </c:dLbls>
          <c:cat>
            <c:strRef>
              <c:f>Sheet1!$A$2:$A$3</c:f>
              <c:strCache>
                <c:ptCount val="2"/>
                <c:pt idx="0">
                  <c:v>Avant</c:v>
                </c:pt>
                <c:pt idx="1">
                  <c:v>Après refi</c:v>
                </c:pt>
              </c:strCache>
            </c:strRef>
          </c:cat>
          <c:val>
            <c:numRef>
              <c:f>Sheet1!$B$2:$B$3</c:f>
              <c:numCache>
                <c:formatCode>General</c:formatCode>
                <c:ptCount val="2"/>
                <c:pt idx="0">
                  <c:v>1800000</c:v>
                </c:pt>
                <c:pt idx="1">
                  <c:v>3334722.9575340012</c:v>
                </c:pt>
              </c:numCache>
            </c:numRef>
          </c:val>
          <c:smooth val="0"/>
          <c:extLst>
            <c:ext xmlns:c16="http://schemas.microsoft.com/office/drawing/2014/chart" uri="{C3380CC4-5D6E-409C-BE32-E72D297353CC}">
              <c16:uniqueId val="{00000000-8F07-4284-ADDD-C014714E8F96}"/>
            </c:ext>
          </c:extLst>
        </c:ser>
        <c:dLbls>
          <c:dLblPos val="t"/>
          <c:showLegendKey val="0"/>
          <c:showVal val="1"/>
          <c:showCatName val="0"/>
          <c:showSerName val="0"/>
          <c:showPercent val="0"/>
          <c:showBubbleSize val="0"/>
        </c:dLbls>
        <c:smooth val="0"/>
        <c:axId val="300317695"/>
        <c:axId val="300318175"/>
      </c:lineChart>
      <c:catAx>
        <c:axId val="30031769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300318175"/>
        <c:crosses val="autoZero"/>
        <c:auto val="1"/>
        <c:lblAlgn val="ctr"/>
        <c:lblOffset val="100"/>
        <c:noMultiLvlLbl val="0"/>
      </c:catAx>
      <c:valAx>
        <c:axId val="300318175"/>
        <c:scaling>
          <c:orientation val="minMax"/>
        </c:scaling>
        <c:delete val="0"/>
        <c:axPos val="l"/>
        <c:majorGridlines>
          <c:spPr>
            <a:ln w="9525" cap="flat" cmpd="sng" algn="ctr">
              <a:solidFill>
                <a:schemeClr val="bg1"/>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300317695"/>
        <c:crosses val="autoZero"/>
        <c:crossBetween val="between"/>
        <c:dispUnits>
          <c:builtInUnit val="millions"/>
          <c:dispUnitsLbl>
            <c:layout>
              <c:manualLayout>
                <c:xMode val="edge"/>
                <c:yMode val="edge"/>
                <c:x val="4.3620685509845256E-2"/>
                <c:y val="0.28155174222185403"/>
              </c:manualLayout>
            </c:layout>
            <c:spPr>
              <a:noFill/>
              <a:ln>
                <a:noFill/>
              </a:ln>
              <a:effectLst/>
            </c:spPr>
            <c:txPr>
              <a:bodyPr rot="-5400000" spcFirstLastPara="1" vertOverflow="ellipsis" vert="horz" wrap="square" anchor="ctr" anchorCtr="1"/>
              <a:lstStyle/>
              <a:p>
                <a:pPr>
                  <a:defRPr sz="1330" b="0" i="0" u="none" strike="noStrike" kern="1200" baseline="0">
                    <a:solidFill>
                      <a:schemeClr val="bg1"/>
                    </a:solidFill>
                    <a:latin typeface="+mn-lt"/>
                    <a:ea typeface="+mn-ea"/>
                    <a:cs typeface="+mn-cs"/>
                  </a:defRPr>
                </a:pPr>
                <a:endParaRPr lang="en-US"/>
              </a:p>
            </c:txPr>
          </c:dispUnitsLbl>
        </c:dispUnits>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rgbClr val="F8D956"/>
                </a:solidFill>
                <a:latin typeface="+mn-lt"/>
                <a:ea typeface="+mn-ea"/>
                <a:cs typeface="+mn-cs"/>
              </a:defRPr>
            </a:pPr>
            <a:r>
              <a:rPr lang="en-US" sz="1400" dirty="0">
                <a:solidFill>
                  <a:srgbClr val="F8D956"/>
                </a:solidFill>
              </a:rPr>
              <a:t>PROFIT À L’ACHAT</a:t>
            </a:r>
          </a:p>
        </c:rich>
      </c:tx>
      <c:overlay val="0"/>
      <c:spPr>
        <a:noFill/>
        <a:ln>
          <a:noFill/>
        </a:ln>
        <a:effectLst/>
      </c:spPr>
      <c:txPr>
        <a:bodyPr rot="0" spcFirstLastPara="1" vertOverflow="ellipsis" vert="horz" wrap="square" anchor="ctr" anchorCtr="1"/>
        <a:lstStyle/>
        <a:p>
          <a:pPr>
            <a:defRPr sz="1862" b="0" i="0" u="none" strike="noStrike" kern="1200" spc="0" baseline="0">
              <a:solidFill>
                <a:srgbClr val="F8D956"/>
              </a:solidFill>
              <a:latin typeface="+mn-lt"/>
              <a:ea typeface="+mn-ea"/>
              <a:cs typeface="+mn-cs"/>
            </a:defRPr>
          </a:pPr>
          <a:endParaRPr lang="en-US"/>
        </a:p>
      </c:txPr>
    </c:title>
    <c:autoTitleDeleted val="0"/>
    <c:plotArea>
      <c:layout/>
      <c:barChart>
        <c:barDir val="col"/>
        <c:grouping val="stacked"/>
        <c:varyColors val="0"/>
        <c:ser>
          <c:idx val="0"/>
          <c:order val="0"/>
          <c:tx>
            <c:strRef>
              <c:f>Sheet1!$B$1</c:f>
              <c:strCache>
                <c:ptCount val="1"/>
                <c:pt idx="0">
                  <c:v>Prix payé</c:v>
                </c:pt>
              </c:strCache>
            </c:strRef>
          </c:tx>
          <c:spPr>
            <a:solidFill>
              <a:srgbClr val="F8D956"/>
            </a:solidFill>
            <a:ln>
              <a:noFill/>
            </a:ln>
            <a:effectLst/>
          </c:spPr>
          <c:invertIfNegative val="0"/>
          <c:cat>
            <c:strRef>
              <c:f>Sheet1!$A$2:$A$3</c:f>
              <c:strCache>
                <c:ptCount val="2"/>
                <c:pt idx="0">
                  <c:v>Valeur d'achat</c:v>
                </c:pt>
                <c:pt idx="1">
                  <c:v>Valeur réelle</c:v>
                </c:pt>
              </c:strCache>
            </c:strRef>
          </c:cat>
          <c:val>
            <c:numRef>
              <c:f>Sheet1!$B$2:$B$3</c:f>
              <c:numCache>
                <c:formatCode>General</c:formatCode>
                <c:ptCount val="2"/>
                <c:pt idx="0">
                  <c:v>1800000</c:v>
                </c:pt>
                <c:pt idx="1">
                  <c:v>2000000</c:v>
                </c:pt>
              </c:numCache>
            </c:numRef>
          </c:val>
          <c:extLst>
            <c:ext xmlns:c16="http://schemas.microsoft.com/office/drawing/2014/chart" uri="{C3380CC4-5D6E-409C-BE32-E72D297353CC}">
              <c16:uniqueId val="{00000000-406C-4013-9565-381F06C56834}"/>
            </c:ext>
          </c:extLst>
        </c:ser>
        <c:ser>
          <c:idx val="1"/>
          <c:order val="1"/>
          <c:tx>
            <c:strRef>
              <c:f>Sheet1!$C$1</c:f>
              <c:strCache>
                <c:ptCount val="1"/>
                <c:pt idx="0">
                  <c:v>Écart comparable</c:v>
                </c:pt>
              </c:strCache>
            </c:strRef>
          </c:tx>
          <c:spPr>
            <a:solidFill>
              <a:srgbClr val="EF3E45"/>
            </a:solidFill>
            <a:ln>
              <a:noFill/>
            </a:ln>
            <a:effectLst/>
          </c:spPr>
          <c:invertIfNegative val="0"/>
          <c:cat>
            <c:strRef>
              <c:f>Sheet1!$A$2:$A$3</c:f>
              <c:strCache>
                <c:ptCount val="2"/>
                <c:pt idx="0">
                  <c:v>Valeur d'achat</c:v>
                </c:pt>
                <c:pt idx="1">
                  <c:v>Valeur réelle</c:v>
                </c:pt>
              </c:strCache>
            </c:strRef>
          </c:cat>
          <c:val>
            <c:numRef>
              <c:f>Sheet1!$C$2:$C$3</c:f>
              <c:numCache>
                <c:formatCode>General</c:formatCode>
                <c:ptCount val="2"/>
                <c:pt idx="0">
                  <c:v>0</c:v>
                </c:pt>
                <c:pt idx="1">
                  <c:v>0</c:v>
                </c:pt>
              </c:numCache>
            </c:numRef>
          </c:val>
          <c:extLst>
            <c:ext xmlns:c16="http://schemas.microsoft.com/office/drawing/2014/chart" uri="{C3380CC4-5D6E-409C-BE32-E72D297353CC}">
              <c16:uniqueId val="{00000000-EBE1-4B5D-A1E6-21F2CACE9B35}"/>
            </c:ext>
          </c:extLst>
        </c:ser>
        <c:dLbls>
          <c:showLegendKey val="0"/>
          <c:showVal val="0"/>
          <c:showCatName val="0"/>
          <c:showSerName val="0"/>
          <c:showPercent val="0"/>
          <c:showBubbleSize val="0"/>
        </c:dLbls>
        <c:gapWidth val="150"/>
        <c:overlap val="100"/>
        <c:axId val="1930018495"/>
        <c:axId val="1930018975"/>
      </c:barChart>
      <c:catAx>
        <c:axId val="193001849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1930018975"/>
        <c:crosses val="autoZero"/>
        <c:auto val="1"/>
        <c:lblAlgn val="ctr"/>
        <c:lblOffset val="100"/>
        <c:noMultiLvlLbl val="0"/>
      </c:catAx>
      <c:valAx>
        <c:axId val="193001897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1930018495"/>
        <c:crosses val="autoZero"/>
        <c:crossBetween val="between"/>
        <c:dispUnits>
          <c:builtInUnit val="millions"/>
          <c:dispUnitsLbl>
            <c:layout>
              <c:manualLayout>
                <c:xMode val="edge"/>
                <c:yMode val="edge"/>
                <c:x val="3.9655168645313869E-2"/>
                <c:y val="0.34021983467441408"/>
              </c:manualLayout>
            </c:layout>
            <c:spPr>
              <a:noFill/>
              <a:ln>
                <a:noFill/>
              </a:ln>
              <a:effectLst/>
            </c:spPr>
            <c:txPr>
              <a:bodyPr rot="-5400000" spcFirstLastPara="1" vertOverflow="ellipsis" vert="horz" wrap="square" anchor="ctr" anchorCtr="1"/>
              <a:lstStyle/>
              <a:p>
                <a:pPr>
                  <a:defRPr sz="1330" b="0" i="0" u="none" strike="noStrike" kern="1200" baseline="0">
                    <a:solidFill>
                      <a:schemeClr val="bg1"/>
                    </a:solidFill>
                    <a:latin typeface="+mn-lt"/>
                    <a:ea typeface="+mn-ea"/>
                    <a:cs typeface="+mn-cs"/>
                  </a:defRPr>
                </a:pPr>
                <a:endParaRPr lang="en-US"/>
              </a:p>
            </c:txPr>
          </c:dispUnitsLbl>
        </c:dispUnits>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fr-FR" sz="1200" dirty="0">
                <a:solidFill>
                  <a:srgbClr val="F8D956"/>
                </a:solidFill>
              </a:rPr>
              <a:t>Croissance projetée de la moyenne locative (+75 % en 2 ans)</a:t>
            </a:r>
            <a:endParaRPr lang="en-US" sz="1200" dirty="0">
              <a:solidFill>
                <a:srgbClr val="F8D956"/>
              </a:solidFill>
            </a:endParaRPr>
          </a:p>
        </c:rich>
      </c:tx>
      <c:layout>
        <c:manualLayout>
          <c:xMode val="edge"/>
          <c:yMode val="edge"/>
          <c:x val="0.1441621502968361"/>
          <c:y val="3.9178287208134981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PDM</c:v>
                </c:pt>
              </c:strCache>
            </c:strRef>
          </c:tx>
          <c:spPr>
            <a:ln w="28575" cap="rnd">
              <a:solidFill>
                <a:srgbClr val="F8D956"/>
              </a:solidFill>
              <a:round/>
            </a:ln>
            <a:effectLst/>
          </c:spPr>
          <c:marker>
            <c:symbol val="none"/>
          </c:marker>
          <c:dLbls>
            <c:delete val="1"/>
          </c:dLbls>
          <c:cat>
            <c:strRef>
              <c:f>Sheet1!$A$2:$A$3</c:f>
              <c:strCache>
                <c:ptCount val="2"/>
                <c:pt idx="0">
                  <c:v>Année 0</c:v>
                </c:pt>
                <c:pt idx="1">
                  <c:v>Année 2</c:v>
                </c:pt>
              </c:strCache>
            </c:strRef>
          </c:cat>
          <c:val>
            <c:numRef>
              <c:f>Sheet1!$B$2:$B$3</c:f>
              <c:numCache>
                <c:formatCode>General</c:formatCode>
                <c:ptCount val="2"/>
                <c:pt idx="0">
                  <c:v>1362.75</c:v>
                </c:pt>
                <c:pt idx="1">
                  <c:v>2200</c:v>
                </c:pt>
              </c:numCache>
            </c:numRef>
          </c:val>
          <c:smooth val="0"/>
          <c:extLst>
            <c:ext xmlns:c16="http://schemas.microsoft.com/office/drawing/2014/chart" uri="{C3380CC4-5D6E-409C-BE32-E72D297353CC}">
              <c16:uniqueId val="{00000000-3969-4FF0-BD0D-56CA6378C50B}"/>
            </c:ext>
          </c:extLst>
        </c:ser>
        <c:dLbls>
          <c:dLblPos val="t"/>
          <c:showLegendKey val="0"/>
          <c:showVal val="1"/>
          <c:showCatName val="0"/>
          <c:showSerName val="0"/>
          <c:showPercent val="0"/>
          <c:showBubbleSize val="0"/>
        </c:dLbls>
        <c:smooth val="0"/>
        <c:axId val="300317695"/>
        <c:axId val="300318175"/>
      </c:lineChart>
      <c:catAx>
        <c:axId val="30031769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bg1"/>
                </a:solidFill>
                <a:latin typeface="+mn-lt"/>
                <a:ea typeface="+mn-ea"/>
                <a:cs typeface="+mn-cs"/>
              </a:defRPr>
            </a:pPr>
            <a:endParaRPr lang="en-US"/>
          </a:p>
        </c:txPr>
        <c:crossAx val="300318175"/>
        <c:crosses val="autoZero"/>
        <c:auto val="1"/>
        <c:lblAlgn val="ctr"/>
        <c:lblOffset val="100"/>
        <c:noMultiLvlLbl val="0"/>
      </c:catAx>
      <c:valAx>
        <c:axId val="300318175"/>
        <c:scaling>
          <c:orientation val="minMax"/>
          <c:max val="2500"/>
          <c:min val="1000"/>
        </c:scaling>
        <c:delete val="0"/>
        <c:axPos val="l"/>
        <c:majorGridlines>
          <c:spPr>
            <a:ln w="9525" cap="flat" cmpd="sng" algn="ctr">
              <a:solidFill>
                <a:schemeClr val="bg1"/>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bg1"/>
                </a:solidFill>
                <a:latin typeface="+mn-lt"/>
                <a:ea typeface="+mn-ea"/>
                <a:cs typeface="+mn-cs"/>
              </a:defRPr>
            </a:pPr>
            <a:endParaRPr lang="en-US"/>
          </a:p>
        </c:txPr>
        <c:crossAx val="30031769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fr-CA" dirty="0">
                <a:solidFill>
                  <a:schemeClr val="bg1"/>
                </a:solidFill>
              </a:rPr>
              <a:t>Finances de l’actif</a:t>
            </a:r>
            <a:endParaRPr lang="en-CA" dirty="0">
              <a:solidFill>
                <a:schemeClr val="bg1"/>
              </a:solidFill>
            </a:endParaRP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CA"/>
        </a:p>
      </c:txPr>
    </c:title>
    <c:autoTitleDeleted val="0"/>
    <c:plotArea>
      <c:layout/>
      <c:barChart>
        <c:barDir val="col"/>
        <c:grouping val="clustered"/>
        <c:varyColors val="0"/>
        <c:ser>
          <c:idx val="0"/>
          <c:order val="0"/>
          <c:tx>
            <c:strRef>
              <c:f>Sheet1!$B$1</c:f>
              <c:strCache>
                <c:ptCount val="1"/>
                <c:pt idx="0">
                  <c:v>Capital investi/recupéré</c:v>
                </c:pt>
              </c:strCache>
            </c:strRef>
          </c:tx>
          <c:spPr>
            <a:solidFill>
              <a:srgbClr val="F8D956"/>
            </a:solidFill>
            <a:ln>
              <a:noFill/>
            </a:ln>
            <a:effectLst/>
          </c:spPr>
          <c:invertIfNegative val="0"/>
          <c:cat>
            <c:strRef>
              <c:f>Sheet1!$A$2:$A$4</c:f>
              <c:strCache>
                <c:ptCount val="3"/>
                <c:pt idx="0">
                  <c:v>Année 0</c:v>
                </c:pt>
                <c:pt idx="1">
                  <c:v>Année 2</c:v>
                </c:pt>
                <c:pt idx="2">
                  <c:v>Année 12</c:v>
                </c:pt>
              </c:strCache>
            </c:strRef>
          </c:cat>
          <c:val>
            <c:numRef>
              <c:f>Sheet1!$B$2:$B$4</c:f>
              <c:numCache>
                <c:formatCode>General</c:formatCode>
                <c:ptCount val="3"/>
                <c:pt idx="0">
                  <c:v>-300000</c:v>
                </c:pt>
                <c:pt idx="1">
                  <c:v>333000</c:v>
                </c:pt>
                <c:pt idx="2">
                  <c:v>1009383</c:v>
                </c:pt>
              </c:numCache>
            </c:numRef>
          </c:val>
          <c:extLst>
            <c:ext xmlns:c16="http://schemas.microsoft.com/office/drawing/2014/chart" uri="{C3380CC4-5D6E-409C-BE32-E72D297353CC}">
              <c16:uniqueId val="{00000000-D9AD-4D81-A1E5-840CA91438F9}"/>
            </c:ext>
          </c:extLst>
        </c:ser>
        <c:ser>
          <c:idx val="1"/>
          <c:order val="1"/>
          <c:tx>
            <c:strRef>
              <c:f>Sheet1!$C$1</c:f>
              <c:strCache>
                <c:ptCount val="1"/>
                <c:pt idx="0">
                  <c:v>Équité dans l'immeuble</c:v>
                </c:pt>
              </c:strCache>
            </c:strRef>
          </c:tx>
          <c:spPr>
            <a:solidFill>
              <a:srgbClr val="009999"/>
            </a:solidFill>
            <a:ln>
              <a:noFill/>
            </a:ln>
            <a:effectLst/>
          </c:spPr>
          <c:invertIfNegative val="0"/>
          <c:cat>
            <c:strRef>
              <c:f>Sheet1!$A$2:$A$4</c:f>
              <c:strCache>
                <c:ptCount val="3"/>
                <c:pt idx="0">
                  <c:v>Année 0</c:v>
                </c:pt>
                <c:pt idx="1">
                  <c:v>Année 2</c:v>
                </c:pt>
                <c:pt idx="2">
                  <c:v>Année 12</c:v>
                </c:pt>
              </c:strCache>
            </c:strRef>
          </c:cat>
          <c:val>
            <c:numRef>
              <c:f>Sheet1!$C$2:$C$4</c:f>
              <c:numCache>
                <c:formatCode>General</c:formatCode>
                <c:ptCount val="3"/>
                <c:pt idx="0">
                  <c:v>300000</c:v>
                </c:pt>
                <c:pt idx="1">
                  <c:v>500000</c:v>
                </c:pt>
                <c:pt idx="2">
                  <c:v>1752000</c:v>
                </c:pt>
              </c:numCache>
            </c:numRef>
          </c:val>
          <c:extLst>
            <c:ext xmlns:c16="http://schemas.microsoft.com/office/drawing/2014/chart" uri="{C3380CC4-5D6E-409C-BE32-E72D297353CC}">
              <c16:uniqueId val="{00000001-D9AD-4D81-A1E5-840CA91438F9}"/>
            </c:ext>
          </c:extLst>
        </c:ser>
        <c:ser>
          <c:idx val="2"/>
          <c:order val="2"/>
          <c:tx>
            <c:strRef>
              <c:f>Sheet1!$D$1</c:f>
              <c:strCache>
                <c:ptCount val="1"/>
                <c:pt idx="0">
                  <c:v>Valeurs de l'immeubles</c:v>
                </c:pt>
              </c:strCache>
            </c:strRef>
          </c:tx>
          <c:spPr>
            <a:solidFill>
              <a:schemeClr val="tx1"/>
            </a:solidFill>
            <a:ln>
              <a:noFill/>
            </a:ln>
            <a:effectLst/>
          </c:spPr>
          <c:invertIfNegative val="0"/>
          <c:cat>
            <c:strRef>
              <c:f>Sheet1!$A$2:$A$4</c:f>
              <c:strCache>
                <c:ptCount val="3"/>
                <c:pt idx="0">
                  <c:v>Année 0</c:v>
                </c:pt>
                <c:pt idx="1">
                  <c:v>Année 2</c:v>
                </c:pt>
                <c:pt idx="2">
                  <c:v>Année 12</c:v>
                </c:pt>
              </c:strCache>
            </c:strRef>
          </c:cat>
          <c:val>
            <c:numRef>
              <c:f>Sheet1!$D$2:$D$4</c:f>
              <c:numCache>
                <c:formatCode>General</c:formatCode>
                <c:ptCount val="3"/>
                <c:pt idx="0">
                  <c:v>1900000</c:v>
                </c:pt>
                <c:pt idx="1">
                  <c:v>3334723</c:v>
                </c:pt>
                <c:pt idx="2">
                  <c:v>4481589</c:v>
                </c:pt>
              </c:numCache>
            </c:numRef>
          </c:val>
          <c:extLst>
            <c:ext xmlns:c16="http://schemas.microsoft.com/office/drawing/2014/chart" uri="{C3380CC4-5D6E-409C-BE32-E72D297353CC}">
              <c16:uniqueId val="{00000004-D9AD-4D81-A1E5-840CA91438F9}"/>
            </c:ext>
          </c:extLst>
        </c:ser>
        <c:dLbls>
          <c:showLegendKey val="0"/>
          <c:showVal val="0"/>
          <c:showCatName val="0"/>
          <c:showSerName val="0"/>
          <c:showPercent val="0"/>
          <c:showBubbleSize val="0"/>
        </c:dLbls>
        <c:gapWidth val="219"/>
        <c:overlap val="-27"/>
        <c:axId val="1159198015"/>
        <c:axId val="1159191775"/>
      </c:barChart>
      <c:catAx>
        <c:axId val="1159198015"/>
        <c:scaling>
          <c:orientation val="minMax"/>
        </c:scaling>
        <c:delete val="0"/>
        <c:axPos val="b"/>
        <c:numFmt formatCode="General" sourceLinked="1"/>
        <c:majorTickMark val="none"/>
        <c:minorTickMark val="none"/>
        <c:tickLblPos val="nextTo"/>
        <c:spPr>
          <a:noFill/>
          <a:ln w="9525" cap="flat" cmpd="sng" algn="ctr">
            <a:solidFill>
              <a:schemeClr val="bg1"/>
            </a:solidFill>
            <a:round/>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1159191775"/>
        <c:crosses val="autoZero"/>
        <c:auto val="1"/>
        <c:lblAlgn val="ctr"/>
        <c:lblOffset val="100"/>
        <c:noMultiLvlLbl val="0"/>
      </c:catAx>
      <c:valAx>
        <c:axId val="1159191775"/>
        <c:scaling>
          <c:orientation val="minMax"/>
        </c:scaling>
        <c:delete val="0"/>
        <c:axPos val="l"/>
        <c:majorGridlines>
          <c:spPr>
            <a:ln w="9525" cap="flat" cmpd="sng" algn="ctr">
              <a:solidFill>
                <a:schemeClr val="tx1">
                  <a:lumMod val="15000"/>
                  <a:lumOff val="85000"/>
                </a:schemeClr>
              </a:solidFill>
              <a:round/>
            </a:ln>
            <a:effectLst/>
          </c:spPr>
        </c:majorGridlines>
        <c:numFmt formatCode="#,##0\ &quot;$&quot;" sourceLinked="0"/>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115919801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A3E5C3A-9668-99BF-CE5F-670389B056C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a:extLst>
              <a:ext uri="{FF2B5EF4-FFF2-40B4-BE49-F238E27FC236}">
                <a16:creationId xmlns:a16="http://schemas.microsoft.com/office/drawing/2014/main" id="{7CF84B9D-B703-C7D7-523F-75405CB0D42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4837B87-2135-45AD-AA84-3230FE8D25AC}" type="datetimeFigureOut">
              <a:rPr lang="en-CA" smtClean="0"/>
              <a:t>2026-09-23</a:t>
            </a:fld>
            <a:endParaRPr lang="en-CA"/>
          </a:p>
        </p:txBody>
      </p:sp>
      <p:sp>
        <p:nvSpPr>
          <p:cNvPr id="4" name="Footer Placeholder 3">
            <a:extLst>
              <a:ext uri="{FF2B5EF4-FFF2-40B4-BE49-F238E27FC236}">
                <a16:creationId xmlns:a16="http://schemas.microsoft.com/office/drawing/2014/main" id="{DA8A35A7-F5F1-481A-FFBA-26500AAFCDB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5" name="Slide Number Placeholder 4">
            <a:extLst>
              <a:ext uri="{FF2B5EF4-FFF2-40B4-BE49-F238E27FC236}">
                <a16:creationId xmlns:a16="http://schemas.microsoft.com/office/drawing/2014/main" id="{C1A4CA82-F242-5507-699D-6BDCACC6A99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3057D9A-B273-4484-B4C8-E2AFA2BEE3A5}" type="slidenum">
              <a:rPr lang="en-CA" smtClean="0"/>
              <a:t>‹#›</a:t>
            </a:fld>
            <a:endParaRPr lang="en-CA"/>
          </a:p>
        </p:txBody>
      </p:sp>
    </p:spTree>
    <p:extLst>
      <p:ext uri="{BB962C8B-B14F-4D97-AF65-F5344CB8AC3E}">
        <p14:creationId xmlns:p14="http://schemas.microsoft.com/office/powerpoint/2010/main" val="220358778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954B2E-7305-4B31-89E6-D579A17CD775}" type="datetimeFigureOut">
              <a:rPr lang="en-CA" smtClean="0"/>
              <a:t>2026-09-23</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339D51-05C8-4C86-A305-C03890DB27AA}" type="slidenum">
              <a:rPr lang="en-CA" smtClean="0"/>
              <a:t>‹#›</a:t>
            </a:fld>
            <a:endParaRPr lang="en-CA"/>
          </a:p>
        </p:txBody>
      </p:sp>
    </p:spTree>
    <p:extLst>
      <p:ext uri="{BB962C8B-B14F-4D97-AF65-F5344CB8AC3E}">
        <p14:creationId xmlns:p14="http://schemas.microsoft.com/office/powerpoint/2010/main" val="19508201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p:txBody>
      </p:sp>
      <p:sp>
        <p:nvSpPr>
          <p:cNvPr id="4" name="Espace réservé du numéro de diapositive 3"/>
          <p:cNvSpPr>
            <a:spLocks noGrp="1"/>
          </p:cNvSpPr>
          <p:nvPr>
            <p:ph type="sldNum" sz="quarter" idx="5"/>
          </p:nvPr>
        </p:nvSpPr>
        <p:spPr/>
        <p:txBody>
          <a:bodyPr/>
          <a:lstStyle/>
          <a:p>
            <a:fld id="{DDF46BDA-448A-4334-9191-088C8FD233CC}" type="slidenum">
              <a:rPr lang="fr-CA" smtClean="0"/>
              <a:t>1</a:t>
            </a:fld>
            <a:endParaRPr lang="fr-CA"/>
          </a:p>
        </p:txBody>
      </p:sp>
    </p:spTree>
    <p:extLst>
      <p:ext uri="{BB962C8B-B14F-4D97-AF65-F5344CB8AC3E}">
        <p14:creationId xmlns:p14="http://schemas.microsoft.com/office/powerpoint/2010/main" val="37001848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5"/>
          </p:nvPr>
        </p:nvSpPr>
        <p:spPr/>
        <p:txBody>
          <a:bodyPr/>
          <a:lstStyle/>
          <a:p>
            <a:fld id="{8F339D51-05C8-4C86-A305-C03890DB27AA}" type="slidenum">
              <a:rPr lang="en-CA" smtClean="0"/>
              <a:t>6</a:t>
            </a:fld>
            <a:endParaRPr lang="en-CA"/>
          </a:p>
        </p:txBody>
      </p:sp>
    </p:spTree>
    <p:extLst>
      <p:ext uri="{BB962C8B-B14F-4D97-AF65-F5344CB8AC3E}">
        <p14:creationId xmlns:p14="http://schemas.microsoft.com/office/powerpoint/2010/main" val="41175344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5"/>
          </p:nvPr>
        </p:nvSpPr>
        <p:spPr/>
        <p:txBody>
          <a:bodyPr/>
          <a:lstStyle/>
          <a:p>
            <a:fld id="{8F339D51-05C8-4C86-A305-C03890DB27AA}" type="slidenum">
              <a:rPr lang="en-CA" smtClean="0"/>
              <a:t>9</a:t>
            </a:fld>
            <a:endParaRPr lang="en-CA"/>
          </a:p>
        </p:txBody>
      </p:sp>
    </p:spTree>
    <p:extLst>
      <p:ext uri="{BB962C8B-B14F-4D97-AF65-F5344CB8AC3E}">
        <p14:creationId xmlns:p14="http://schemas.microsoft.com/office/powerpoint/2010/main" val="38560496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p:txBody>
      </p:sp>
      <p:sp>
        <p:nvSpPr>
          <p:cNvPr id="4" name="Espace réservé du numéro de diapositive 3"/>
          <p:cNvSpPr>
            <a:spLocks noGrp="1"/>
          </p:cNvSpPr>
          <p:nvPr>
            <p:ph type="sldNum" sz="quarter" idx="5"/>
          </p:nvPr>
        </p:nvSpPr>
        <p:spPr/>
        <p:txBody>
          <a:bodyPr/>
          <a:lstStyle/>
          <a:p>
            <a:fld id="{DDF46BDA-448A-4334-9191-088C8FD233CC}" type="slidenum">
              <a:rPr lang="fr-CA" smtClean="0"/>
              <a:t>16</a:t>
            </a:fld>
            <a:endParaRPr lang="fr-CA"/>
          </a:p>
        </p:txBody>
      </p:sp>
    </p:spTree>
    <p:extLst>
      <p:ext uri="{BB962C8B-B14F-4D97-AF65-F5344CB8AC3E}">
        <p14:creationId xmlns:p14="http://schemas.microsoft.com/office/powerpoint/2010/main" val="17474807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73D78-B346-19F7-3359-FE96774EC90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E159C7E9-B364-DC10-FDE3-648D2C2E4DA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B657EFB1-579E-134E-5D46-45CA6979B24B}"/>
              </a:ext>
            </a:extLst>
          </p:cNvPr>
          <p:cNvSpPr>
            <a:spLocks noGrp="1"/>
          </p:cNvSpPr>
          <p:nvPr>
            <p:ph type="dt" sz="half" idx="10"/>
          </p:nvPr>
        </p:nvSpPr>
        <p:spPr/>
        <p:txBody>
          <a:bodyPr/>
          <a:lstStyle/>
          <a:p>
            <a:fld id="{1DDF896A-457D-49E8-B25B-DACD1228BD69}" type="datetimeFigureOut">
              <a:rPr lang="en-CA" smtClean="0"/>
              <a:t>2026-09-23</a:t>
            </a:fld>
            <a:endParaRPr lang="en-CA"/>
          </a:p>
        </p:txBody>
      </p:sp>
      <p:sp>
        <p:nvSpPr>
          <p:cNvPr id="5" name="Footer Placeholder 4">
            <a:extLst>
              <a:ext uri="{FF2B5EF4-FFF2-40B4-BE49-F238E27FC236}">
                <a16:creationId xmlns:a16="http://schemas.microsoft.com/office/drawing/2014/main" id="{BF711437-DB8E-3D0E-544F-CCB3E70E883C}"/>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CE7B6D97-B3C6-1371-5D17-088106EBFABC}"/>
              </a:ext>
            </a:extLst>
          </p:cNvPr>
          <p:cNvSpPr>
            <a:spLocks noGrp="1"/>
          </p:cNvSpPr>
          <p:nvPr>
            <p:ph type="sldNum" sz="quarter" idx="12"/>
          </p:nvPr>
        </p:nvSpPr>
        <p:spPr/>
        <p:txBody>
          <a:bodyPr/>
          <a:lstStyle/>
          <a:p>
            <a:fld id="{C7B5E5F1-BB22-4482-B65F-1E5E8477FE79}" type="slidenum">
              <a:rPr lang="en-CA" smtClean="0"/>
              <a:t>‹#›</a:t>
            </a:fld>
            <a:endParaRPr lang="en-CA"/>
          </a:p>
        </p:txBody>
      </p:sp>
    </p:spTree>
    <p:extLst>
      <p:ext uri="{BB962C8B-B14F-4D97-AF65-F5344CB8AC3E}">
        <p14:creationId xmlns:p14="http://schemas.microsoft.com/office/powerpoint/2010/main" val="2529332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8F1CD-D942-815A-A5A0-8B30AFB0B34E}"/>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B52DBF53-34BF-4169-90B8-51094126F77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F9F55A5F-F7CD-D646-52AD-D33E233A3399}"/>
              </a:ext>
            </a:extLst>
          </p:cNvPr>
          <p:cNvSpPr>
            <a:spLocks noGrp="1"/>
          </p:cNvSpPr>
          <p:nvPr>
            <p:ph type="dt" sz="half" idx="10"/>
          </p:nvPr>
        </p:nvSpPr>
        <p:spPr/>
        <p:txBody>
          <a:bodyPr/>
          <a:lstStyle/>
          <a:p>
            <a:fld id="{1DDF896A-457D-49E8-B25B-DACD1228BD69}" type="datetimeFigureOut">
              <a:rPr lang="en-CA" smtClean="0"/>
              <a:t>2026-09-23</a:t>
            </a:fld>
            <a:endParaRPr lang="en-CA"/>
          </a:p>
        </p:txBody>
      </p:sp>
      <p:sp>
        <p:nvSpPr>
          <p:cNvPr id="5" name="Footer Placeholder 4">
            <a:extLst>
              <a:ext uri="{FF2B5EF4-FFF2-40B4-BE49-F238E27FC236}">
                <a16:creationId xmlns:a16="http://schemas.microsoft.com/office/drawing/2014/main" id="{4CF0ED90-EFF1-A0C1-6BD5-C6BCEF28DBA0}"/>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2F581183-6365-D373-BA4F-AB60F62BDAC4}"/>
              </a:ext>
            </a:extLst>
          </p:cNvPr>
          <p:cNvSpPr>
            <a:spLocks noGrp="1"/>
          </p:cNvSpPr>
          <p:nvPr>
            <p:ph type="sldNum" sz="quarter" idx="12"/>
          </p:nvPr>
        </p:nvSpPr>
        <p:spPr/>
        <p:txBody>
          <a:bodyPr/>
          <a:lstStyle/>
          <a:p>
            <a:fld id="{C7B5E5F1-BB22-4482-B65F-1E5E8477FE79}" type="slidenum">
              <a:rPr lang="en-CA" smtClean="0"/>
              <a:t>‹#›</a:t>
            </a:fld>
            <a:endParaRPr lang="en-CA"/>
          </a:p>
        </p:txBody>
      </p:sp>
    </p:spTree>
    <p:extLst>
      <p:ext uri="{BB962C8B-B14F-4D97-AF65-F5344CB8AC3E}">
        <p14:creationId xmlns:p14="http://schemas.microsoft.com/office/powerpoint/2010/main" val="33883713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AB91B-386D-410B-3C98-535B4AC539E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3F6D3C5D-38CE-3764-F095-0618F3CB473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94060B8-97B1-274B-E1B5-E9BE9DFBD589}"/>
              </a:ext>
            </a:extLst>
          </p:cNvPr>
          <p:cNvSpPr>
            <a:spLocks noGrp="1"/>
          </p:cNvSpPr>
          <p:nvPr>
            <p:ph type="dt" sz="half" idx="10"/>
          </p:nvPr>
        </p:nvSpPr>
        <p:spPr/>
        <p:txBody>
          <a:bodyPr/>
          <a:lstStyle/>
          <a:p>
            <a:fld id="{1DDF896A-457D-49E8-B25B-DACD1228BD69}" type="datetimeFigureOut">
              <a:rPr lang="en-CA" smtClean="0"/>
              <a:t>2026-09-23</a:t>
            </a:fld>
            <a:endParaRPr lang="en-CA"/>
          </a:p>
        </p:txBody>
      </p:sp>
      <p:sp>
        <p:nvSpPr>
          <p:cNvPr id="5" name="Footer Placeholder 4">
            <a:extLst>
              <a:ext uri="{FF2B5EF4-FFF2-40B4-BE49-F238E27FC236}">
                <a16:creationId xmlns:a16="http://schemas.microsoft.com/office/drawing/2014/main" id="{92A915F6-81DE-F68B-F698-AF91477E57A4}"/>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A799EA99-66C2-6F23-EC06-618F840BC7FF}"/>
              </a:ext>
            </a:extLst>
          </p:cNvPr>
          <p:cNvSpPr>
            <a:spLocks noGrp="1"/>
          </p:cNvSpPr>
          <p:nvPr>
            <p:ph type="sldNum" sz="quarter" idx="12"/>
          </p:nvPr>
        </p:nvSpPr>
        <p:spPr/>
        <p:txBody>
          <a:bodyPr/>
          <a:lstStyle/>
          <a:p>
            <a:fld id="{C7B5E5F1-BB22-4482-B65F-1E5E8477FE79}" type="slidenum">
              <a:rPr lang="en-CA" smtClean="0"/>
              <a:t>‹#›</a:t>
            </a:fld>
            <a:endParaRPr lang="en-CA"/>
          </a:p>
        </p:txBody>
      </p:sp>
    </p:spTree>
    <p:extLst>
      <p:ext uri="{BB962C8B-B14F-4D97-AF65-F5344CB8AC3E}">
        <p14:creationId xmlns:p14="http://schemas.microsoft.com/office/powerpoint/2010/main" val="11520125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51763-9BAA-FBFB-B71D-E0D0BBD10175}"/>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A4BEB54A-87ED-3F30-0D9B-EEE2B28F13B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CA6A9696-BC8A-CD31-675F-54677A11BCC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038ECA3A-44F6-2A65-444F-D7F82589786E}"/>
              </a:ext>
            </a:extLst>
          </p:cNvPr>
          <p:cNvSpPr>
            <a:spLocks noGrp="1"/>
          </p:cNvSpPr>
          <p:nvPr>
            <p:ph type="dt" sz="half" idx="10"/>
          </p:nvPr>
        </p:nvSpPr>
        <p:spPr/>
        <p:txBody>
          <a:bodyPr/>
          <a:lstStyle/>
          <a:p>
            <a:fld id="{1DDF896A-457D-49E8-B25B-DACD1228BD69}" type="datetimeFigureOut">
              <a:rPr lang="en-CA" smtClean="0"/>
              <a:t>2026-09-23</a:t>
            </a:fld>
            <a:endParaRPr lang="en-CA"/>
          </a:p>
        </p:txBody>
      </p:sp>
      <p:sp>
        <p:nvSpPr>
          <p:cNvPr id="6" name="Footer Placeholder 5">
            <a:extLst>
              <a:ext uri="{FF2B5EF4-FFF2-40B4-BE49-F238E27FC236}">
                <a16:creationId xmlns:a16="http://schemas.microsoft.com/office/drawing/2014/main" id="{DFAC65F9-5D6F-3AD7-454C-4E77A97CFE68}"/>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2DEA39B4-4416-9390-F5C3-96398AD4AA0D}"/>
              </a:ext>
            </a:extLst>
          </p:cNvPr>
          <p:cNvSpPr>
            <a:spLocks noGrp="1"/>
          </p:cNvSpPr>
          <p:nvPr>
            <p:ph type="sldNum" sz="quarter" idx="12"/>
          </p:nvPr>
        </p:nvSpPr>
        <p:spPr/>
        <p:txBody>
          <a:bodyPr/>
          <a:lstStyle/>
          <a:p>
            <a:fld id="{C7B5E5F1-BB22-4482-B65F-1E5E8477FE79}" type="slidenum">
              <a:rPr lang="en-CA" smtClean="0"/>
              <a:t>‹#›</a:t>
            </a:fld>
            <a:endParaRPr lang="en-CA"/>
          </a:p>
        </p:txBody>
      </p:sp>
    </p:spTree>
    <p:extLst>
      <p:ext uri="{BB962C8B-B14F-4D97-AF65-F5344CB8AC3E}">
        <p14:creationId xmlns:p14="http://schemas.microsoft.com/office/powerpoint/2010/main" val="9114316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61C3E-D9DD-999A-FF46-4E0E4F191819}"/>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B0D12209-B0EF-9D51-1C7F-268D8F0D469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CC18179-5931-36E2-E462-DD74267EA0B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DCFD6297-16CC-2927-5940-29911606F8E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465B368-9669-B332-CB4A-3F05E46FF8C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6A73A41B-AB3C-25E5-9B04-2B8C578205A3}"/>
              </a:ext>
            </a:extLst>
          </p:cNvPr>
          <p:cNvSpPr>
            <a:spLocks noGrp="1"/>
          </p:cNvSpPr>
          <p:nvPr>
            <p:ph type="dt" sz="half" idx="10"/>
          </p:nvPr>
        </p:nvSpPr>
        <p:spPr/>
        <p:txBody>
          <a:bodyPr/>
          <a:lstStyle/>
          <a:p>
            <a:fld id="{1DDF896A-457D-49E8-B25B-DACD1228BD69}" type="datetimeFigureOut">
              <a:rPr lang="en-CA" smtClean="0"/>
              <a:t>2026-09-23</a:t>
            </a:fld>
            <a:endParaRPr lang="en-CA"/>
          </a:p>
        </p:txBody>
      </p:sp>
      <p:sp>
        <p:nvSpPr>
          <p:cNvPr id="8" name="Footer Placeholder 7">
            <a:extLst>
              <a:ext uri="{FF2B5EF4-FFF2-40B4-BE49-F238E27FC236}">
                <a16:creationId xmlns:a16="http://schemas.microsoft.com/office/drawing/2014/main" id="{ED8191DB-14DA-91E4-FA13-C206976A9745}"/>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B100DC87-5CC2-470F-E2A0-D2F4124DCD17}"/>
              </a:ext>
            </a:extLst>
          </p:cNvPr>
          <p:cNvSpPr>
            <a:spLocks noGrp="1"/>
          </p:cNvSpPr>
          <p:nvPr>
            <p:ph type="sldNum" sz="quarter" idx="12"/>
          </p:nvPr>
        </p:nvSpPr>
        <p:spPr/>
        <p:txBody>
          <a:bodyPr/>
          <a:lstStyle/>
          <a:p>
            <a:fld id="{C7B5E5F1-BB22-4482-B65F-1E5E8477FE79}" type="slidenum">
              <a:rPr lang="en-CA" smtClean="0"/>
              <a:t>‹#›</a:t>
            </a:fld>
            <a:endParaRPr lang="en-CA"/>
          </a:p>
        </p:txBody>
      </p:sp>
    </p:spTree>
    <p:extLst>
      <p:ext uri="{BB962C8B-B14F-4D97-AF65-F5344CB8AC3E}">
        <p14:creationId xmlns:p14="http://schemas.microsoft.com/office/powerpoint/2010/main" val="10382625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4EA12-13D2-57C7-E665-3578DF2F9937}"/>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59350F29-F73F-E67D-2FC0-F0D608CB54DE}"/>
              </a:ext>
            </a:extLst>
          </p:cNvPr>
          <p:cNvSpPr>
            <a:spLocks noGrp="1"/>
          </p:cNvSpPr>
          <p:nvPr>
            <p:ph type="dt" sz="half" idx="10"/>
          </p:nvPr>
        </p:nvSpPr>
        <p:spPr/>
        <p:txBody>
          <a:bodyPr/>
          <a:lstStyle/>
          <a:p>
            <a:fld id="{1DDF896A-457D-49E8-B25B-DACD1228BD69}" type="datetimeFigureOut">
              <a:rPr lang="en-CA" smtClean="0"/>
              <a:t>2026-09-23</a:t>
            </a:fld>
            <a:endParaRPr lang="en-CA"/>
          </a:p>
        </p:txBody>
      </p:sp>
      <p:sp>
        <p:nvSpPr>
          <p:cNvPr id="4" name="Footer Placeholder 3">
            <a:extLst>
              <a:ext uri="{FF2B5EF4-FFF2-40B4-BE49-F238E27FC236}">
                <a16:creationId xmlns:a16="http://schemas.microsoft.com/office/drawing/2014/main" id="{EB8F153A-B756-7CA6-6E1B-1320DFA606D4}"/>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8D3AD12F-671F-A846-376D-5C464CB3E33F}"/>
              </a:ext>
            </a:extLst>
          </p:cNvPr>
          <p:cNvSpPr>
            <a:spLocks noGrp="1"/>
          </p:cNvSpPr>
          <p:nvPr>
            <p:ph type="sldNum" sz="quarter" idx="12"/>
          </p:nvPr>
        </p:nvSpPr>
        <p:spPr/>
        <p:txBody>
          <a:bodyPr/>
          <a:lstStyle/>
          <a:p>
            <a:fld id="{C7B5E5F1-BB22-4482-B65F-1E5E8477FE79}" type="slidenum">
              <a:rPr lang="en-CA" smtClean="0"/>
              <a:t>‹#›</a:t>
            </a:fld>
            <a:endParaRPr lang="en-CA"/>
          </a:p>
        </p:txBody>
      </p:sp>
    </p:spTree>
    <p:extLst>
      <p:ext uri="{BB962C8B-B14F-4D97-AF65-F5344CB8AC3E}">
        <p14:creationId xmlns:p14="http://schemas.microsoft.com/office/powerpoint/2010/main" val="17594209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2C93EA7-D76A-272E-184E-E2F963C75415}"/>
              </a:ext>
            </a:extLst>
          </p:cNvPr>
          <p:cNvSpPr>
            <a:spLocks noGrp="1"/>
          </p:cNvSpPr>
          <p:nvPr>
            <p:ph type="dt" sz="half" idx="10"/>
          </p:nvPr>
        </p:nvSpPr>
        <p:spPr/>
        <p:txBody>
          <a:bodyPr/>
          <a:lstStyle/>
          <a:p>
            <a:fld id="{1DDF896A-457D-49E8-B25B-DACD1228BD69}" type="datetimeFigureOut">
              <a:rPr lang="en-CA" smtClean="0"/>
              <a:t>2026-09-23</a:t>
            </a:fld>
            <a:endParaRPr lang="en-CA"/>
          </a:p>
        </p:txBody>
      </p:sp>
      <p:sp>
        <p:nvSpPr>
          <p:cNvPr id="3" name="Footer Placeholder 2">
            <a:extLst>
              <a:ext uri="{FF2B5EF4-FFF2-40B4-BE49-F238E27FC236}">
                <a16:creationId xmlns:a16="http://schemas.microsoft.com/office/drawing/2014/main" id="{5B4203A4-134E-89F3-DA15-215F60C13F12}"/>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4E71FC8B-34D1-D1A2-9AA2-A3F5EE92D740}"/>
              </a:ext>
            </a:extLst>
          </p:cNvPr>
          <p:cNvSpPr>
            <a:spLocks noGrp="1"/>
          </p:cNvSpPr>
          <p:nvPr>
            <p:ph type="sldNum" sz="quarter" idx="12"/>
          </p:nvPr>
        </p:nvSpPr>
        <p:spPr/>
        <p:txBody>
          <a:bodyPr/>
          <a:lstStyle/>
          <a:p>
            <a:fld id="{C7B5E5F1-BB22-4482-B65F-1E5E8477FE79}" type="slidenum">
              <a:rPr lang="en-CA" smtClean="0"/>
              <a:t>‹#›</a:t>
            </a:fld>
            <a:endParaRPr lang="en-CA"/>
          </a:p>
        </p:txBody>
      </p:sp>
    </p:spTree>
    <p:extLst>
      <p:ext uri="{BB962C8B-B14F-4D97-AF65-F5344CB8AC3E}">
        <p14:creationId xmlns:p14="http://schemas.microsoft.com/office/powerpoint/2010/main" val="39726813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DF605-979E-A79D-CAB6-F40DF1E1FD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7630CD4D-7442-C8FD-724F-E497939DF0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E35F03A3-1493-E6F0-819D-CD1833E099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010E13-F980-0BA7-8375-B8C1CFE6D8B5}"/>
              </a:ext>
            </a:extLst>
          </p:cNvPr>
          <p:cNvSpPr>
            <a:spLocks noGrp="1"/>
          </p:cNvSpPr>
          <p:nvPr>
            <p:ph type="dt" sz="half" idx="10"/>
          </p:nvPr>
        </p:nvSpPr>
        <p:spPr/>
        <p:txBody>
          <a:bodyPr/>
          <a:lstStyle/>
          <a:p>
            <a:fld id="{1DDF896A-457D-49E8-B25B-DACD1228BD69}" type="datetimeFigureOut">
              <a:rPr lang="en-CA" smtClean="0"/>
              <a:t>2026-09-23</a:t>
            </a:fld>
            <a:endParaRPr lang="en-CA"/>
          </a:p>
        </p:txBody>
      </p:sp>
      <p:sp>
        <p:nvSpPr>
          <p:cNvPr id="6" name="Footer Placeholder 5">
            <a:extLst>
              <a:ext uri="{FF2B5EF4-FFF2-40B4-BE49-F238E27FC236}">
                <a16:creationId xmlns:a16="http://schemas.microsoft.com/office/drawing/2014/main" id="{826E9A44-5A5C-31D5-6D08-1A45A6F993FD}"/>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4FA8CDD7-6E02-0CA3-5A2A-6D41A87A4E76}"/>
              </a:ext>
            </a:extLst>
          </p:cNvPr>
          <p:cNvSpPr>
            <a:spLocks noGrp="1"/>
          </p:cNvSpPr>
          <p:nvPr>
            <p:ph type="sldNum" sz="quarter" idx="12"/>
          </p:nvPr>
        </p:nvSpPr>
        <p:spPr/>
        <p:txBody>
          <a:bodyPr/>
          <a:lstStyle/>
          <a:p>
            <a:fld id="{C7B5E5F1-BB22-4482-B65F-1E5E8477FE79}" type="slidenum">
              <a:rPr lang="en-CA" smtClean="0"/>
              <a:t>‹#›</a:t>
            </a:fld>
            <a:endParaRPr lang="en-CA"/>
          </a:p>
        </p:txBody>
      </p:sp>
    </p:spTree>
    <p:extLst>
      <p:ext uri="{BB962C8B-B14F-4D97-AF65-F5344CB8AC3E}">
        <p14:creationId xmlns:p14="http://schemas.microsoft.com/office/powerpoint/2010/main" val="22656665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4D9CD-BF58-8527-CC5C-265903C50F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0307A1F3-6EDE-7FBE-3C2E-4CC65194C26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64C175F5-1351-03A3-72EC-501516C1F5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F4911F0-5BD8-5465-D5C6-9A85217FE1A2}"/>
              </a:ext>
            </a:extLst>
          </p:cNvPr>
          <p:cNvSpPr>
            <a:spLocks noGrp="1"/>
          </p:cNvSpPr>
          <p:nvPr>
            <p:ph type="dt" sz="half" idx="10"/>
          </p:nvPr>
        </p:nvSpPr>
        <p:spPr/>
        <p:txBody>
          <a:bodyPr/>
          <a:lstStyle/>
          <a:p>
            <a:fld id="{1DDF896A-457D-49E8-B25B-DACD1228BD69}" type="datetimeFigureOut">
              <a:rPr lang="en-CA" smtClean="0"/>
              <a:t>2026-09-23</a:t>
            </a:fld>
            <a:endParaRPr lang="en-CA"/>
          </a:p>
        </p:txBody>
      </p:sp>
      <p:sp>
        <p:nvSpPr>
          <p:cNvPr id="6" name="Footer Placeholder 5">
            <a:extLst>
              <a:ext uri="{FF2B5EF4-FFF2-40B4-BE49-F238E27FC236}">
                <a16:creationId xmlns:a16="http://schemas.microsoft.com/office/drawing/2014/main" id="{D354CD56-1D19-820F-2838-59FE3D20E49F}"/>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635189F5-26B4-E407-5A1C-B04673ED19BB}"/>
              </a:ext>
            </a:extLst>
          </p:cNvPr>
          <p:cNvSpPr>
            <a:spLocks noGrp="1"/>
          </p:cNvSpPr>
          <p:nvPr>
            <p:ph type="sldNum" sz="quarter" idx="12"/>
          </p:nvPr>
        </p:nvSpPr>
        <p:spPr/>
        <p:txBody>
          <a:bodyPr/>
          <a:lstStyle/>
          <a:p>
            <a:fld id="{C7B5E5F1-BB22-4482-B65F-1E5E8477FE79}" type="slidenum">
              <a:rPr lang="en-CA" smtClean="0"/>
              <a:t>‹#›</a:t>
            </a:fld>
            <a:endParaRPr lang="en-CA"/>
          </a:p>
        </p:txBody>
      </p:sp>
    </p:spTree>
    <p:extLst>
      <p:ext uri="{BB962C8B-B14F-4D97-AF65-F5344CB8AC3E}">
        <p14:creationId xmlns:p14="http://schemas.microsoft.com/office/powerpoint/2010/main" val="28336492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25E2D-A7CA-538D-EA88-C983821723C0}"/>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C5131408-633B-122C-498E-EDBB78415D3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E79E7BA9-4F41-A73B-6A85-0CFC7C1B62B4}"/>
              </a:ext>
            </a:extLst>
          </p:cNvPr>
          <p:cNvSpPr>
            <a:spLocks noGrp="1"/>
          </p:cNvSpPr>
          <p:nvPr>
            <p:ph type="dt" sz="half" idx="10"/>
          </p:nvPr>
        </p:nvSpPr>
        <p:spPr/>
        <p:txBody>
          <a:bodyPr/>
          <a:lstStyle/>
          <a:p>
            <a:fld id="{1DDF896A-457D-49E8-B25B-DACD1228BD69}" type="datetimeFigureOut">
              <a:rPr lang="en-CA" smtClean="0"/>
              <a:t>2026-09-23</a:t>
            </a:fld>
            <a:endParaRPr lang="en-CA"/>
          </a:p>
        </p:txBody>
      </p:sp>
      <p:sp>
        <p:nvSpPr>
          <p:cNvPr id="5" name="Footer Placeholder 4">
            <a:extLst>
              <a:ext uri="{FF2B5EF4-FFF2-40B4-BE49-F238E27FC236}">
                <a16:creationId xmlns:a16="http://schemas.microsoft.com/office/drawing/2014/main" id="{879549FB-AFD9-4B75-6CAF-C8D88A7244EF}"/>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F576C451-411B-5AB5-3C6D-555A68EDE48F}"/>
              </a:ext>
            </a:extLst>
          </p:cNvPr>
          <p:cNvSpPr>
            <a:spLocks noGrp="1"/>
          </p:cNvSpPr>
          <p:nvPr>
            <p:ph type="sldNum" sz="quarter" idx="12"/>
          </p:nvPr>
        </p:nvSpPr>
        <p:spPr/>
        <p:txBody>
          <a:bodyPr/>
          <a:lstStyle/>
          <a:p>
            <a:fld id="{C7B5E5F1-BB22-4482-B65F-1E5E8477FE79}" type="slidenum">
              <a:rPr lang="en-CA" smtClean="0"/>
              <a:t>‹#›</a:t>
            </a:fld>
            <a:endParaRPr lang="en-CA"/>
          </a:p>
        </p:txBody>
      </p:sp>
    </p:spTree>
    <p:extLst>
      <p:ext uri="{BB962C8B-B14F-4D97-AF65-F5344CB8AC3E}">
        <p14:creationId xmlns:p14="http://schemas.microsoft.com/office/powerpoint/2010/main" val="5212743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7E1A70-9927-F28E-0816-F9738C81DB9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9E48ECBE-E80D-D3D6-B3D9-4D448326DE1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1B837EE8-E0D9-4C14-CF82-B9A3F3A29A41}"/>
              </a:ext>
            </a:extLst>
          </p:cNvPr>
          <p:cNvSpPr>
            <a:spLocks noGrp="1"/>
          </p:cNvSpPr>
          <p:nvPr>
            <p:ph type="dt" sz="half" idx="10"/>
          </p:nvPr>
        </p:nvSpPr>
        <p:spPr/>
        <p:txBody>
          <a:bodyPr/>
          <a:lstStyle/>
          <a:p>
            <a:fld id="{1DDF896A-457D-49E8-B25B-DACD1228BD69}" type="datetimeFigureOut">
              <a:rPr lang="en-CA" smtClean="0"/>
              <a:t>2026-09-23</a:t>
            </a:fld>
            <a:endParaRPr lang="en-CA"/>
          </a:p>
        </p:txBody>
      </p:sp>
      <p:sp>
        <p:nvSpPr>
          <p:cNvPr id="5" name="Footer Placeholder 4">
            <a:extLst>
              <a:ext uri="{FF2B5EF4-FFF2-40B4-BE49-F238E27FC236}">
                <a16:creationId xmlns:a16="http://schemas.microsoft.com/office/drawing/2014/main" id="{AF832F3B-5A2E-E34B-A9F9-36328DBBAB0D}"/>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83CD64D3-5463-47C7-F842-200EDCD62BAE}"/>
              </a:ext>
            </a:extLst>
          </p:cNvPr>
          <p:cNvSpPr>
            <a:spLocks noGrp="1"/>
          </p:cNvSpPr>
          <p:nvPr>
            <p:ph type="sldNum" sz="quarter" idx="12"/>
          </p:nvPr>
        </p:nvSpPr>
        <p:spPr/>
        <p:txBody>
          <a:bodyPr/>
          <a:lstStyle/>
          <a:p>
            <a:fld id="{C7B5E5F1-BB22-4482-B65F-1E5E8477FE79}" type="slidenum">
              <a:rPr lang="en-CA" smtClean="0"/>
              <a:t>‹#›</a:t>
            </a:fld>
            <a:endParaRPr lang="en-CA"/>
          </a:p>
        </p:txBody>
      </p:sp>
    </p:spTree>
    <p:extLst>
      <p:ext uri="{BB962C8B-B14F-4D97-AF65-F5344CB8AC3E}">
        <p14:creationId xmlns:p14="http://schemas.microsoft.com/office/powerpoint/2010/main" val="421986195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9DF1AB-C5A2-67AE-9A7A-8E9E4232C73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2B51BB7D-5E2B-DE3C-C4C6-7CF07083B80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0A618C7D-7E6C-74F2-7D03-C1F0421167A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DDF896A-457D-49E8-B25B-DACD1228BD69}" type="datetimeFigureOut">
              <a:rPr lang="en-CA" smtClean="0"/>
              <a:t>2026-09-23</a:t>
            </a:fld>
            <a:endParaRPr lang="en-CA"/>
          </a:p>
        </p:txBody>
      </p:sp>
      <p:sp>
        <p:nvSpPr>
          <p:cNvPr id="5" name="Footer Placeholder 4">
            <a:extLst>
              <a:ext uri="{FF2B5EF4-FFF2-40B4-BE49-F238E27FC236}">
                <a16:creationId xmlns:a16="http://schemas.microsoft.com/office/drawing/2014/main" id="{56DB32CB-551C-4526-5239-81CD8F049BA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2D2C50DF-CFEC-2F2B-5995-90DD88E102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7B5E5F1-BB22-4482-B65F-1E5E8477FE79}" type="slidenum">
              <a:rPr lang="en-CA" smtClean="0"/>
              <a:t>‹#›</a:t>
            </a:fld>
            <a:endParaRPr lang="en-CA"/>
          </a:p>
        </p:txBody>
      </p:sp>
    </p:spTree>
    <p:extLst>
      <p:ext uri="{BB962C8B-B14F-4D97-AF65-F5344CB8AC3E}">
        <p14:creationId xmlns:p14="http://schemas.microsoft.com/office/powerpoint/2010/main" val="26504104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6" Type="http://schemas.openxmlformats.org/officeDocument/2006/relationships/image" Target="../media/image6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1.png"/><Relationship Id="rId4" Type="http://schemas.openxmlformats.org/officeDocument/2006/relationships/image" Target="../media/image5.svg"/><Relationship Id="rId5" Type="http://schemas.openxmlformats.org/officeDocument/2006/relationships/image" Target="../media/image6.svg"/><Relationship Id="rId6" Type="http://schemas.openxmlformats.org/officeDocument/2006/relationships/image" Target="../media/image7.svg"/><Relationship Id="rId7" Type="http://schemas.openxmlformats.org/officeDocument/2006/relationships/image" Target="../media/image8.svg"/><Relationship Id="rId8" Type="http://schemas.openxmlformats.org/officeDocument/2006/relationships/image" Target="../media/image9.svg"/><Relationship Id="rId9" Type="http://schemas.openxmlformats.org/officeDocument/2006/relationships/image" Target="../media/image10.svg"/><Relationship Id="rId10" Type="http://schemas.openxmlformats.org/officeDocument/2006/relationships/image" Target="../media/image11.jpg"/><Relationship Id="rId11" Type="http://schemas.openxmlformats.org/officeDocument/2006/relationships/image" Target="../media/image12.jpg"/><Relationship Id="rId12"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4" Type="http://schemas.openxmlformats.org/officeDocument/2006/relationships/image" Target="../media/image14.svg"/><Relationship Id="rId5" Type="http://schemas.openxmlformats.org/officeDocument/2006/relationships/image" Target="../media/image15.svg"/><Relationship Id="rId6"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hyperlink" Target="https://www.centris.ca/fr/multifamilial~a-vendre~montreal-mercier-hochelaga-maisonneuve/25650511" TargetMode="External"/><Relationship Id="rId5" Type="http://schemas.openxmlformats.org/officeDocument/2006/relationships/chart" Target="../charts/chart1.xml"/><Relationship Id="rId6" Type="http://schemas.openxmlformats.org/officeDocument/2006/relationships/chart" Target="../charts/chart2.xml"/><Relationship Id="rId7" Type="http://schemas.openxmlformats.org/officeDocument/2006/relationships/image" Target="../media/image1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17.jpg"/><Relationship Id="rId5" Type="http://schemas.openxmlformats.org/officeDocument/2006/relationships/image" Target="../media/image1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19.svg"/><Relationship Id="rId4" Type="http://schemas.openxmlformats.org/officeDocument/2006/relationships/image" Target="../media/image20.svg"/><Relationship Id="rId5" Type="http://schemas.openxmlformats.org/officeDocument/2006/relationships/image" Target="../media/image21.svg"/><Relationship Id="rId6" Type="http://schemas.openxmlformats.org/officeDocument/2006/relationships/image" Target="../media/image22.svg"/><Relationship Id="rId7" Type="http://schemas.openxmlformats.org/officeDocument/2006/relationships/image" Target="../media/image23.svg"/><Relationship Id="rId8" Type="http://schemas.openxmlformats.org/officeDocument/2006/relationships/image" Target="../media/image24.svg"/><Relationship Id="rId9" Type="http://schemas.openxmlformats.org/officeDocument/2006/relationships/image" Target="../media/image2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6.svg"/><Relationship Id="rId4" Type="http://schemas.openxmlformats.org/officeDocument/2006/relationships/image" Target="../media/image27.svg"/><Relationship Id="rId5" Type="http://schemas.openxmlformats.org/officeDocument/2006/relationships/image" Target="../media/image28.svg"/><Relationship Id="rId6" Type="http://schemas.openxmlformats.org/officeDocument/2006/relationships/image" Target="../media/image29.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30.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6.svg"/><Relationship Id="rId4" Type="http://schemas.openxmlformats.org/officeDocument/2006/relationships/image" Target="../media/image27.svg"/><Relationship Id="rId5" Type="http://schemas.openxmlformats.org/officeDocument/2006/relationships/image" Target="../media/image28.svg"/><Relationship Id="rId6" Type="http://schemas.openxmlformats.org/officeDocument/2006/relationships/image" Target="../media/image29.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image" Target="../media/image32.svg"/><Relationship Id="rId4" Type="http://schemas.openxmlformats.org/officeDocument/2006/relationships/image" Target="../media/image33.svg"/><Relationship Id="rId5" Type="http://schemas.openxmlformats.org/officeDocument/2006/relationships/image" Target="../media/image34.svg"/><Relationship Id="rId6" Type="http://schemas.openxmlformats.org/officeDocument/2006/relationships/image" Target="../media/image35.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chart" Target="../charts/chart3.xml"/><Relationship Id="rId5" Type="http://schemas.openxmlformats.org/officeDocument/2006/relationships/image" Target="../media/image1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chart" Target="../charts/chart4.xml"/><Relationship Id="rId4" Type="http://schemas.openxmlformats.org/officeDocument/2006/relationships/image" Target="../media/image37.svg"/><Relationship Id="rId5" Type="http://schemas.openxmlformats.org/officeDocument/2006/relationships/image" Target="../media/image38.svg"/><Relationship Id="rId6" Type="http://schemas.openxmlformats.org/officeDocument/2006/relationships/image" Target="../media/image39.svg"/><Relationship Id="rId7" Type="http://schemas.openxmlformats.org/officeDocument/2006/relationships/image" Target="../media/image40.svg"/><Relationship Id="rId8" Type="http://schemas.openxmlformats.org/officeDocument/2006/relationships/image" Target="../media/image41.svg"/><Relationship Id="rId9" Type="http://schemas.openxmlformats.org/officeDocument/2006/relationships/image" Target="../media/image42.svg"/><Relationship Id="rId10" Type="http://schemas.openxmlformats.org/officeDocument/2006/relationships/image" Target="../media/image43.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7.svg"/><Relationship Id="rId4" Type="http://schemas.openxmlformats.org/officeDocument/2006/relationships/image" Target="../media/image28.svg"/><Relationship Id="rId5" Type="http://schemas.openxmlformats.org/officeDocument/2006/relationships/image" Target="../media/image44.svg"/><Relationship Id="rId6" Type="http://schemas.openxmlformats.org/officeDocument/2006/relationships/image" Target="../media/image45.svg"/><Relationship Id="rId7" Type="http://schemas.openxmlformats.org/officeDocument/2006/relationships/image" Target="../media/image46.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30.svg"/><Relationship Id="rId4" Type="http://schemas.openxmlformats.org/officeDocument/2006/relationships/image" Target="../media/image47.svg"/><Relationship Id="rId5" Type="http://schemas.openxmlformats.org/officeDocument/2006/relationships/image" Target="../media/image48.svg"/><Relationship Id="rId6" Type="http://schemas.openxmlformats.org/officeDocument/2006/relationships/image" Target="../media/image49.svg"/><Relationship Id="rId7" Type="http://schemas.openxmlformats.org/officeDocument/2006/relationships/image" Target="../media/image50.svg"/><Relationship Id="rId8" Type="http://schemas.openxmlformats.org/officeDocument/2006/relationships/image" Target="../media/image51.svg"/><Relationship Id="rId9" Type="http://schemas.openxmlformats.org/officeDocument/2006/relationships/image" Target="../media/image52.svg"/><Relationship Id="rId10" Type="http://schemas.openxmlformats.org/officeDocument/2006/relationships/image" Target="../media/image53.svg"/><Relationship Id="rId11" Type="http://schemas.openxmlformats.org/officeDocument/2006/relationships/image" Target="../media/image27.svg"/><Relationship Id="rId12" Type="http://schemas.openxmlformats.org/officeDocument/2006/relationships/image" Target="../media/image54.svg"/><Relationship Id="rId13" Type="http://schemas.openxmlformats.org/officeDocument/2006/relationships/image" Target="../media/image55.svg"/><Relationship Id="rId14" Type="http://schemas.openxmlformats.org/officeDocument/2006/relationships/image" Target="../media/image56.svg"/><Relationship Id="rId15" Type="http://schemas.openxmlformats.org/officeDocument/2006/relationships/image" Target="../media/image57.jpg"/><Relationship Id="rId16" Type="http://schemas.openxmlformats.org/officeDocument/2006/relationships/image" Target="../media/image58.jpg"/><Relationship Id="rId17" Type="http://schemas.openxmlformats.org/officeDocument/2006/relationships/image" Target="../media/image59.jpg"/><Relationship Id="rId18" Type="http://schemas.openxmlformats.org/officeDocument/2006/relationships/image" Target="../media/image60.svg"/><Relationship Id="rId19" Type="http://schemas.openxmlformats.org/officeDocument/2006/relationships/image" Target="../media/image5.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140FBE11-2C3F-62BF-446E-7BEBF2E1503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1188861" y="6031860"/>
            <a:ext cx="998416" cy="998416"/>
          </a:xfrm>
          <a:prstGeom prst="rect">
            <a:avLst/>
          </a:prstGeom>
        </p:spPr>
      </p:pic>
      <p:sp>
        <p:nvSpPr>
          <p:cNvPr id="5" name="Rectangle 4">
            <a:extLst>
              <a:ext uri="{FF2B5EF4-FFF2-40B4-BE49-F238E27FC236}">
                <a16:creationId xmlns:a16="http://schemas.microsoft.com/office/drawing/2014/main" id="{6F162E11-686C-4B82-9784-249C0E7B7D94}"/>
              </a:ext>
            </a:extLst>
          </p:cNvPr>
          <p:cNvSpPr/>
          <p:nvPr/>
        </p:nvSpPr>
        <p:spPr>
          <a:xfrm>
            <a:off x="549964" y="1273365"/>
            <a:ext cx="92765" cy="2282958"/>
          </a:xfrm>
          <a:prstGeom prst="rect">
            <a:avLst/>
          </a:prstGeom>
          <a:solidFill>
            <a:srgbClr val="F8D9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6" name="ZoneTexte 5">
            <a:extLst>
              <a:ext uri="{FF2B5EF4-FFF2-40B4-BE49-F238E27FC236}">
                <a16:creationId xmlns:a16="http://schemas.microsoft.com/office/drawing/2014/main" id="{27B6FE47-51E4-4F3E-8018-E8AA8336EE3D}"/>
              </a:ext>
            </a:extLst>
          </p:cNvPr>
          <p:cNvSpPr txBox="1"/>
          <p:nvPr/>
        </p:nvSpPr>
        <p:spPr>
          <a:xfrm>
            <a:off x="731326" y="1300723"/>
            <a:ext cx="3989990" cy="1107996"/>
          </a:xfrm>
          <a:prstGeom prst="rect">
            <a:avLst/>
          </a:prstGeom>
          <a:noFill/>
        </p:spPr>
        <p:txBody>
          <a:bodyPr wrap="square" rtlCol="0">
            <a:spAutoFit/>
          </a:bodyPr>
          <a:lstStyle/>
          <a:p>
            <a:r>
              <a:rPr lang="fr-FR" sz="2200" b="1" dirty="0">
                <a:solidFill>
                  <a:schemeClr val="bg1"/>
                </a:solidFill>
                <a:latin typeface="Arial" panose="020B0604020202020204" pitchFamily="34" charset="0"/>
                <a:cs typeface="Arial" panose="020B0604020202020204" pitchFamily="34" charset="0"/>
              </a:rPr>
              <a:t>De l'achat au refinancement: un projet immobilier exceptionnel à Montréal</a:t>
            </a:r>
            <a:endParaRPr lang="fr-CA" sz="2200" b="1" dirty="0">
              <a:solidFill>
                <a:schemeClr val="bg1"/>
              </a:solidFill>
              <a:latin typeface="Arial" panose="020B0604020202020204" pitchFamily="34" charset="0"/>
              <a:cs typeface="Arial" panose="020B0604020202020204" pitchFamily="34" charset="0"/>
            </a:endParaRPr>
          </a:p>
        </p:txBody>
      </p:sp>
      <p:sp>
        <p:nvSpPr>
          <p:cNvPr id="7" name="ZoneTexte 6">
            <a:extLst>
              <a:ext uri="{FF2B5EF4-FFF2-40B4-BE49-F238E27FC236}">
                <a16:creationId xmlns:a16="http://schemas.microsoft.com/office/drawing/2014/main" id="{BDE38591-5431-4008-9EC1-80A26A8C88A8}"/>
              </a:ext>
            </a:extLst>
          </p:cNvPr>
          <p:cNvSpPr txBox="1"/>
          <p:nvPr/>
        </p:nvSpPr>
        <p:spPr>
          <a:xfrm>
            <a:off x="745434" y="3168718"/>
            <a:ext cx="3644348" cy="338554"/>
          </a:xfrm>
          <a:prstGeom prst="rect">
            <a:avLst/>
          </a:prstGeom>
          <a:noFill/>
        </p:spPr>
        <p:txBody>
          <a:bodyPr wrap="square" rtlCol="0">
            <a:spAutoFit/>
          </a:bodyPr>
          <a:lstStyle/>
          <a:p>
            <a:r>
              <a:rPr lang="fr-FR" sz="1600" b="1" dirty="0">
                <a:solidFill>
                  <a:schemeClr val="bg1"/>
                </a:solidFill>
                <a:latin typeface="Arial" panose="020B0604020202020204" pitchFamily="34" charset="0"/>
                <a:cs typeface="Arial" panose="020B0604020202020204" pitchFamily="34" charset="0"/>
              </a:rPr>
              <a:t>2420 Boul. Pie-IX, Montréal</a:t>
            </a:r>
          </a:p>
        </p:txBody>
      </p:sp>
      <p:sp>
        <p:nvSpPr>
          <p:cNvPr id="8" name="ZoneTexte 7">
            <a:extLst>
              <a:ext uri="{FF2B5EF4-FFF2-40B4-BE49-F238E27FC236}">
                <a16:creationId xmlns:a16="http://schemas.microsoft.com/office/drawing/2014/main" id="{D79D8591-9CB2-44C8-9D06-FE9EE2B625D1}"/>
              </a:ext>
            </a:extLst>
          </p:cNvPr>
          <p:cNvSpPr txBox="1"/>
          <p:nvPr/>
        </p:nvSpPr>
        <p:spPr>
          <a:xfrm>
            <a:off x="745434" y="4304587"/>
            <a:ext cx="4817923" cy="698717"/>
          </a:xfrm>
          <a:prstGeom prst="rect">
            <a:avLst/>
          </a:prstGeom>
          <a:noFill/>
        </p:spPr>
        <p:txBody>
          <a:bodyPr wrap="square" rtlCol="0">
            <a:spAutoFit/>
          </a:bodyPr>
          <a:lstStyle/>
          <a:p>
            <a:pPr>
              <a:lnSpc>
                <a:spcPct val="150000"/>
              </a:lnSpc>
            </a:pPr>
            <a:r>
              <a:rPr lang="fr-CA" sz="1400" b="1" dirty="0">
                <a:solidFill>
                  <a:schemeClr val="bg1"/>
                </a:solidFill>
                <a:latin typeface="Arial" panose="020B0604020202020204" pitchFamily="34" charset="0"/>
                <a:cs typeface="Arial" panose="020B0604020202020204" pitchFamily="34" charset="0"/>
              </a:rPr>
              <a:t>Présenté par </a:t>
            </a:r>
          </a:p>
          <a:p>
            <a:pPr>
              <a:lnSpc>
                <a:spcPct val="150000"/>
              </a:lnSpc>
            </a:pPr>
            <a:r>
              <a:rPr lang="fr-CA" sz="1400" b="1" dirty="0">
                <a:solidFill>
                  <a:schemeClr val="bg1"/>
                </a:solidFill>
                <a:latin typeface="Arial" panose="020B0604020202020204" pitchFamily="34" charset="0"/>
                <a:cs typeface="Arial" panose="020B0604020202020204" pitchFamily="34" charset="0"/>
              </a:rPr>
              <a:t>Horizon Services Immobiliers</a:t>
            </a:r>
          </a:p>
        </p:txBody>
      </p:sp>
      <p:cxnSp>
        <p:nvCxnSpPr>
          <p:cNvPr id="9" name="Connecteur droit 8">
            <a:extLst>
              <a:ext uri="{FF2B5EF4-FFF2-40B4-BE49-F238E27FC236}">
                <a16:creationId xmlns:a16="http://schemas.microsoft.com/office/drawing/2014/main" id="{ABE36C91-78DC-474E-82C2-071D34C23091}"/>
              </a:ext>
            </a:extLst>
          </p:cNvPr>
          <p:cNvCxnSpPr>
            <a:cxnSpLocks/>
          </p:cNvCxnSpPr>
          <p:nvPr/>
        </p:nvCxnSpPr>
        <p:spPr>
          <a:xfrm>
            <a:off x="824338" y="3087745"/>
            <a:ext cx="3624470" cy="0"/>
          </a:xfrm>
          <a:prstGeom prst="line">
            <a:avLst/>
          </a:prstGeom>
          <a:ln>
            <a:solidFill>
              <a:srgbClr val="F8D956"/>
            </a:solidFill>
          </a:ln>
        </p:spPr>
        <p:style>
          <a:lnRef idx="1">
            <a:schemeClr val="accent1"/>
          </a:lnRef>
          <a:fillRef idx="0">
            <a:schemeClr val="accent1"/>
          </a:fillRef>
          <a:effectRef idx="0">
            <a:schemeClr val="accent1"/>
          </a:effectRef>
          <a:fontRef idx="minor">
            <a:schemeClr val="tx1"/>
          </a:fontRef>
        </p:style>
      </p:cxnSp>
      <p:sp>
        <p:nvSpPr>
          <p:cNvPr id="20" name="AutoShape 10" descr="Centre National de Cyclisme de Bromont | CNCB">
            <a:extLst>
              <a:ext uri="{FF2B5EF4-FFF2-40B4-BE49-F238E27FC236}">
                <a16:creationId xmlns:a16="http://schemas.microsoft.com/office/drawing/2014/main" id="{FF0FE3A4-A972-0218-9733-3B53B182531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A"/>
          </a:p>
        </p:txBody>
      </p:sp>
      <p:sp>
        <p:nvSpPr>
          <p:cNvPr id="25" name="Rectangle 24">
            <a:extLst>
              <a:ext uri="{FF2B5EF4-FFF2-40B4-BE49-F238E27FC236}">
                <a16:creationId xmlns:a16="http://schemas.microsoft.com/office/drawing/2014/main" id="{7252101E-76BA-D2FA-9347-E95369ED0E12}"/>
              </a:ext>
            </a:extLst>
          </p:cNvPr>
          <p:cNvSpPr/>
          <p:nvPr/>
        </p:nvSpPr>
        <p:spPr>
          <a:xfrm>
            <a:off x="7185264" y="6308146"/>
            <a:ext cx="279177" cy="280215"/>
          </a:xfrm>
          <a:prstGeom prst="rect">
            <a:avLst/>
          </a:prstGeom>
          <a:solidFill>
            <a:srgbClr val="F8D9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26" name="Rectangle 25">
            <a:extLst>
              <a:ext uri="{FF2B5EF4-FFF2-40B4-BE49-F238E27FC236}">
                <a16:creationId xmlns:a16="http://schemas.microsoft.com/office/drawing/2014/main" id="{8ABF5453-24F1-511C-6125-CAF94A7E93B1}"/>
              </a:ext>
            </a:extLst>
          </p:cNvPr>
          <p:cNvSpPr/>
          <p:nvPr/>
        </p:nvSpPr>
        <p:spPr>
          <a:xfrm>
            <a:off x="6096000" y="6207261"/>
            <a:ext cx="152400" cy="152967"/>
          </a:xfrm>
          <a:prstGeom prst="rect">
            <a:avLst/>
          </a:prstGeom>
          <a:solidFill>
            <a:srgbClr val="F8D9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pic>
        <p:nvPicPr>
          <p:cNvPr id="30" name="Picture 29">
            <a:extLst>
              <a:ext uri="{FF2B5EF4-FFF2-40B4-BE49-F238E27FC236}">
                <a16:creationId xmlns:a16="http://schemas.microsoft.com/office/drawing/2014/main" id="{2B02330A-A870-AB5A-6B7A-DF249C710828}"/>
              </a:ext>
            </a:extLst>
          </p:cNvPr>
          <p:cNvPicPr>
            <a:picLocks noChangeAspect="1"/>
          </p:cNvPicPr>
          <p:nvPr/>
        </p:nvPicPr>
        <p:blipFill>
          <a:blip r:embed="rId4"/>
          <a:stretch>
            <a:fillRect/>
          </a:stretch>
        </p:blipFill>
        <p:spPr>
          <a:xfrm>
            <a:off x="9439673" y="409746"/>
            <a:ext cx="2398643" cy="1471678"/>
          </a:xfrm>
          <a:prstGeom prst="rect">
            <a:avLst/>
          </a:prstGeom>
          <a:ln>
            <a:noFill/>
          </a:ln>
          <a:effectLst>
            <a:outerShdw blurRad="50800" dist="38100" dir="8100000" algn="tr" rotWithShape="0">
              <a:prstClr val="black">
                <a:alpha val="40000"/>
              </a:prstClr>
            </a:outerShdw>
          </a:effectLst>
        </p:spPr>
      </p:pic>
      <p:sp>
        <p:nvSpPr>
          <p:cNvPr id="32" name="Rectangle 31">
            <a:extLst>
              <a:ext uri="{FF2B5EF4-FFF2-40B4-BE49-F238E27FC236}">
                <a16:creationId xmlns:a16="http://schemas.microsoft.com/office/drawing/2014/main" id="{ED0FFF6A-BB23-CD68-D279-411B185BADB6}"/>
              </a:ext>
            </a:extLst>
          </p:cNvPr>
          <p:cNvSpPr/>
          <p:nvPr/>
        </p:nvSpPr>
        <p:spPr>
          <a:xfrm>
            <a:off x="9004852" y="6206271"/>
            <a:ext cx="279177" cy="280215"/>
          </a:xfrm>
          <a:prstGeom prst="rect">
            <a:avLst/>
          </a:prstGeom>
          <a:solidFill>
            <a:srgbClr val="F8D9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33" name="Rectangle 32">
            <a:extLst>
              <a:ext uri="{FF2B5EF4-FFF2-40B4-BE49-F238E27FC236}">
                <a16:creationId xmlns:a16="http://schemas.microsoft.com/office/drawing/2014/main" id="{130458FD-B54A-0D9D-39BA-78967CFEC2AA}"/>
              </a:ext>
            </a:extLst>
          </p:cNvPr>
          <p:cNvSpPr/>
          <p:nvPr/>
        </p:nvSpPr>
        <p:spPr>
          <a:xfrm>
            <a:off x="10393730" y="6410002"/>
            <a:ext cx="152400" cy="152967"/>
          </a:xfrm>
          <a:prstGeom prst="rect">
            <a:avLst/>
          </a:prstGeom>
          <a:solidFill>
            <a:srgbClr val="F8D9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pic>
        <p:nvPicPr>
          <p:cNvPr id="34" name="Picture 33" descr="image.png"/>
          <p:cNvPicPr>
            <a:picLocks noChangeAspect="1"/>
          </p:cNvPicPr>
          <p:nvPr/>
        </p:nvPicPr>
        <p:blipFill>
          <a:blip r:embed="rId6"/>
          <a:stretch>
            <a:fillRect/>
          </a:stretch>
        </p:blipFill>
        <p:spPr>
          <a:xfrm>
            <a:off x="4730443" y="409746"/>
            <a:ext cx="7117000" cy="5337749"/>
          </a:xfrm>
          <a:prstGeom prst="rect">
            <a:avLst/>
          </a:prstGeom>
        </p:spPr>
      </p:pic>
    </p:spTree>
    <p:extLst>
      <p:ext uri="{BB962C8B-B14F-4D97-AF65-F5344CB8AC3E}">
        <p14:creationId xmlns:p14="http://schemas.microsoft.com/office/powerpoint/2010/main" val="19495121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pic>
        <p:nvPicPr>
          <p:cNvPr id="6" name="Picture 5" descr="A room with white cabinets and cardboard boxes  AI-generated content may be incorrect.">
            <a:extLst>
              <a:ext uri="{FF2B5EF4-FFF2-40B4-BE49-F238E27FC236}">
                <a16:creationId xmlns:a16="http://schemas.microsoft.com/office/drawing/2014/main" id="{2605B1DA-CBCD-7C52-3592-D824919F6480}"/>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0110807" y="4225497"/>
            <a:ext cx="2076470" cy="2529872"/>
          </a:xfrm>
          <a:prstGeom prst="rect">
            <a:avLst/>
          </a:prstGeom>
          <a:effectLst>
            <a:softEdge rad="25400"/>
          </a:effectLst>
        </p:spPr>
      </p:pic>
      <p:sp>
        <p:nvSpPr>
          <p:cNvPr id="5" name="Title 1">
            <a:extLst>
              <a:ext uri="{FF2B5EF4-FFF2-40B4-BE49-F238E27FC236}">
                <a16:creationId xmlns:a16="http://schemas.microsoft.com/office/drawing/2014/main" id="{D59AD608-C03C-F6EA-FCD8-3FA57BD60FF1}"/>
              </a:ext>
            </a:extLst>
          </p:cNvPr>
          <p:cNvSpPr txBox="1">
            <a:spLocks/>
          </p:cNvSpPr>
          <p:nvPr/>
        </p:nvSpPr>
        <p:spPr>
          <a:xfrm>
            <a:off x="791021" y="416577"/>
            <a:ext cx="7261157" cy="717279"/>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Aptos Display" panose="02110004020202020204"/>
                <a:ea typeface="+mj-ea"/>
                <a:cs typeface="+mj-cs"/>
              </a:rPr>
              <a:t>RÉSUMÉ EXÉCUTIF</a:t>
            </a:r>
            <a:endParaRPr kumimoji="0" lang="en-US" sz="4400" b="0" i="0" u="none" strike="noStrike" kern="1200" cap="none" spc="0" normalizeH="0" baseline="0" noProof="0" dirty="0">
              <a:ln>
                <a:noFill/>
              </a:ln>
              <a:solidFill>
                <a:prstClr val="black"/>
              </a:solidFill>
              <a:effectLst/>
              <a:uLnTx/>
              <a:uFillTx/>
              <a:latin typeface="Aptos Display" panose="02110004020202020204"/>
              <a:ea typeface="+mj-ea"/>
              <a:cs typeface="+mj-cs"/>
            </a:endParaRPr>
          </a:p>
        </p:txBody>
      </p:sp>
      <p:sp>
        <p:nvSpPr>
          <p:cNvPr id="8" name="TextBox 7">
            <a:extLst>
              <a:ext uri="{FF2B5EF4-FFF2-40B4-BE49-F238E27FC236}">
                <a16:creationId xmlns:a16="http://schemas.microsoft.com/office/drawing/2014/main" id="{B4BB3B2F-2206-F2E9-3580-5C20CDAE294F}"/>
              </a:ext>
            </a:extLst>
          </p:cNvPr>
          <p:cNvSpPr txBox="1"/>
          <p:nvPr/>
        </p:nvSpPr>
        <p:spPr>
          <a:xfrm>
            <a:off x="184326" y="6476025"/>
            <a:ext cx="596347"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CA" sz="1200" b="0" i="0" u="none" strike="noStrike" kern="1200" cap="none" spc="0" normalizeH="0" baseline="0" noProof="0" dirty="0">
                <a:ln>
                  <a:noFill/>
                </a:ln>
                <a:solidFill>
                  <a:prstClr val="white"/>
                </a:solidFill>
                <a:effectLst/>
                <a:uLnTx/>
                <a:uFillTx/>
                <a:latin typeface="Aptos" panose="02110004020202020204"/>
                <a:ea typeface="+mn-ea"/>
                <a:cs typeface="+mn-cs"/>
              </a:rPr>
              <a:t>2</a:t>
            </a:r>
            <a:endParaRPr kumimoji="0" lang="en-CA" sz="12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4" name="Rectangle 23">
            <a:extLst>
              <a:ext uri="{FF2B5EF4-FFF2-40B4-BE49-F238E27FC236}">
                <a16:creationId xmlns:a16="http://schemas.microsoft.com/office/drawing/2014/main" id="{8053042D-B11E-8D92-1C32-7C3671E10B75}"/>
              </a:ext>
            </a:extLst>
          </p:cNvPr>
          <p:cNvSpPr/>
          <p:nvPr/>
        </p:nvSpPr>
        <p:spPr>
          <a:xfrm>
            <a:off x="895060" y="971550"/>
            <a:ext cx="1929109" cy="85725"/>
          </a:xfrm>
          <a:prstGeom prst="rect">
            <a:avLst/>
          </a:prstGeom>
          <a:solidFill>
            <a:srgbClr val="F8D95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noFill/>
              <a:effectLst/>
              <a:uLnTx/>
              <a:uFillTx/>
              <a:latin typeface="Aptos" panose="02110004020202020204"/>
              <a:ea typeface="+mn-ea"/>
              <a:cs typeface="+mn-cs"/>
            </a:endParaRPr>
          </a:p>
        </p:txBody>
      </p:sp>
      <p:pic>
        <p:nvPicPr>
          <p:cNvPr id="3" name="Picture 2">
            <a:extLst>
              <a:ext uri="{FF2B5EF4-FFF2-40B4-BE49-F238E27FC236}">
                <a16:creationId xmlns:a16="http://schemas.microsoft.com/office/drawing/2014/main" id="{02684A96-65B4-3354-CAC2-0353344F474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1188861" y="6031860"/>
            <a:ext cx="998416" cy="998416"/>
          </a:xfrm>
          <a:prstGeom prst="rect">
            <a:avLst/>
          </a:prstGeom>
        </p:spPr>
      </p:pic>
      <p:pic>
        <p:nvPicPr>
          <p:cNvPr id="4" name="Graphic 3" descr="House outline">
            <a:extLst>
              <a:ext uri="{FF2B5EF4-FFF2-40B4-BE49-F238E27FC236}">
                <a16:creationId xmlns:a16="http://schemas.microsoft.com/office/drawing/2014/main" id="{30CA1841-B97F-8FA0-DE1E-22F528F64EB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80806" y="1443250"/>
            <a:ext cx="914400" cy="914400"/>
          </a:xfrm>
          <a:prstGeom prst="rect">
            <a:avLst/>
          </a:prstGeom>
        </p:spPr>
      </p:pic>
      <p:pic>
        <p:nvPicPr>
          <p:cNvPr id="7" name="Graphic 6" descr="Marker outline">
            <a:extLst>
              <a:ext uri="{FF2B5EF4-FFF2-40B4-BE49-F238E27FC236}">
                <a16:creationId xmlns:a16="http://schemas.microsoft.com/office/drawing/2014/main" id="{58F9F000-2996-742A-F083-4A0B9FA43A4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515342" y="1443250"/>
            <a:ext cx="914400" cy="914400"/>
          </a:xfrm>
          <a:prstGeom prst="rect">
            <a:avLst/>
          </a:prstGeom>
        </p:spPr>
      </p:pic>
      <p:pic>
        <p:nvPicPr>
          <p:cNvPr id="22" name="Graphic 21" descr="Hourglass Full outline">
            <a:extLst>
              <a:ext uri="{FF2B5EF4-FFF2-40B4-BE49-F238E27FC236}">
                <a16:creationId xmlns:a16="http://schemas.microsoft.com/office/drawing/2014/main" id="{FDB0F0C6-BEAB-0184-F06C-88D997EA187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515342" y="3749721"/>
            <a:ext cx="914400" cy="914400"/>
          </a:xfrm>
          <a:prstGeom prst="rect">
            <a:avLst/>
          </a:prstGeom>
        </p:spPr>
      </p:pic>
      <p:pic>
        <p:nvPicPr>
          <p:cNvPr id="30" name="Graphic 29" descr="Target outline">
            <a:extLst>
              <a:ext uri="{FF2B5EF4-FFF2-40B4-BE49-F238E27FC236}">
                <a16:creationId xmlns:a16="http://schemas.microsoft.com/office/drawing/2014/main" id="{8CBE1BCE-18B4-D1C5-96CA-6800D9E4B71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80806" y="3749721"/>
            <a:ext cx="914400" cy="914400"/>
          </a:xfrm>
          <a:prstGeom prst="rect">
            <a:avLst/>
          </a:prstGeom>
        </p:spPr>
      </p:pic>
      <p:sp>
        <p:nvSpPr>
          <p:cNvPr id="31" name="TextBox 30">
            <a:extLst>
              <a:ext uri="{FF2B5EF4-FFF2-40B4-BE49-F238E27FC236}">
                <a16:creationId xmlns:a16="http://schemas.microsoft.com/office/drawing/2014/main" id="{D77A4695-6204-03A7-DF8F-0AAFE590CB6F}"/>
              </a:ext>
            </a:extLst>
          </p:cNvPr>
          <p:cNvSpPr txBox="1"/>
          <p:nvPr/>
        </p:nvSpPr>
        <p:spPr>
          <a:xfrm>
            <a:off x="356254" y="2535443"/>
            <a:ext cx="2563504"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prstClr val="white"/>
                </a:solidFill>
                <a:effectLst/>
                <a:uLnTx/>
                <a:uFillTx/>
                <a:latin typeface="Aptos" panose="02110004020202020204"/>
                <a:ea typeface="+mn-ea"/>
                <a:cs typeface="+mn-cs"/>
              </a:rPr>
              <a:t>🏠 </a:t>
            </a:r>
            <a:r>
              <a:rPr kumimoji="0" lang="fr-FR" sz="1400" b="1" i="0" u="none" strike="noStrike" kern="1200" cap="none" spc="0" normalizeH="0" baseline="0" noProof="0" dirty="0">
                <a:ln>
                  <a:noFill/>
                </a:ln>
                <a:solidFill>
                  <a:prstClr val="white"/>
                </a:solidFill>
                <a:effectLst/>
                <a:uLnTx/>
                <a:uFillTx/>
                <a:latin typeface="Aptos" panose="02110004020202020204"/>
                <a:ea typeface="+mn-ea"/>
                <a:cs typeface="+mn-cs"/>
              </a:rPr>
              <a:t>Projet</a:t>
            </a:r>
            <a:r>
              <a:rPr kumimoji="0" lang="fr-FR" sz="1400" b="0" i="0" u="none" strike="noStrike" kern="1200" cap="none" spc="0" normalizeH="0" baseline="0" noProof="0" dirty="0">
                <a:ln>
                  <a:noFill/>
                </a:ln>
                <a:solidFill>
                  <a:prstClr val="white"/>
                </a:solidFill>
                <a:effectLst/>
                <a:uLnTx/>
                <a:uFillTx/>
                <a:latin typeface="Aptos" panose="02110004020202020204"/>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prstClr val="white"/>
                </a:solidFill>
                <a:effectLst/>
                <a:uLnTx/>
                <a:uFillTx/>
                <a:latin typeface="Aptos" panose="02110004020202020204"/>
                <a:ea typeface="+mn-ea"/>
                <a:cs typeface="+mn-cs"/>
              </a:rPr>
              <a:t>Acquisition &amp; optimisation</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dirty="0">
                <a:solidFill>
                  <a:prstClr val="white"/>
                </a:solidFill>
                <a:latin typeface="Aptos" panose="02110004020202020204"/>
              </a:rPr>
              <a:t>Immeuble de 8 logements</a:t>
            </a:r>
            <a:endParaRPr kumimoji="0" lang="fr-CA" sz="14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32" name="TextBox 31">
            <a:extLst>
              <a:ext uri="{FF2B5EF4-FFF2-40B4-BE49-F238E27FC236}">
                <a16:creationId xmlns:a16="http://schemas.microsoft.com/office/drawing/2014/main" id="{A49C1E51-0C13-1B19-A979-51329AB9E976}"/>
              </a:ext>
            </a:extLst>
          </p:cNvPr>
          <p:cNvSpPr txBox="1"/>
          <p:nvPr/>
        </p:nvSpPr>
        <p:spPr>
          <a:xfrm>
            <a:off x="3690790" y="2535443"/>
            <a:ext cx="2563504"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prstClr val="white"/>
                </a:solidFill>
                <a:effectLst/>
                <a:uLnTx/>
                <a:uFillTx/>
                <a:latin typeface="Aptos" panose="02110004020202020204"/>
                <a:ea typeface="+mn-ea"/>
                <a:cs typeface="+mn-cs"/>
              </a:rPr>
              <a:t>📍 </a:t>
            </a:r>
            <a:r>
              <a:rPr kumimoji="0" lang="fr-FR" sz="1400" b="1" i="0" u="none" strike="noStrike" kern="1200" cap="none" spc="0" normalizeH="0" baseline="0" noProof="0" dirty="0">
                <a:ln>
                  <a:noFill/>
                </a:ln>
                <a:solidFill>
                  <a:prstClr val="white"/>
                </a:solidFill>
                <a:effectLst/>
                <a:uLnTx/>
                <a:uFillTx/>
                <a:latin typeface="Aptos" panose="02110004020202020204"/>
                <a:ea typeface="+mn-ea"/>
                <a:cs typeface="+mn-cs"/>
              </a:rPr>
              <a:t>Localisation</a:t>
            </a:r>
            <a:r>
              <a:rPr kumimoji="0" lang="fr-FR" sz="1400" b="0" i="0" u="none" strike="noStrike" kern="1200" cap="none" spc="0" normalizeH="0" baseline="0" noProof="0" dirty="0">
                <a:ln>
                  <a:noFill/>
                </a:ln>
                <a:solidFill>
                  <a:prstClr val="white"/>
                </a:solidFill>
                <a:effectLst/>
                <a:uLnTx/>
                <a:uFillTx/>
                <a:latin typeface="Aptos" panose="02110004020202020204"/>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prstClr val="white"/>
                </a:solidFill>
                <a:effectLst/>
                <a:uLnTx/>
                <a:uFillTx/>
                <a:latin typeface="Aptos" panose="02110004020202020204"/>
                <a:ea typeface="+mn-ea"/>
                <a:cs typeface="+mn-cs"/>
              </a:rPr>
              <a:t>2420 Boul. Pie-IX, Montréal</a:t>
            </a:r>
            <a:endParaRPr kumimoji="0" lang="fr-CA" sz="14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36" name="TextBox 35">
            <a:extLst>
              <a:ext uri="{FF2B5EF4-FFF2-40B4-BE49-F238E27FC236}">
                <a16:creationId xmlns:a16="http://schemas.microsoft.com/office/drawing/2014/main" id="{5C347DF5-4119-F5A2-CA65-53E0BC8CF30E}"/>
              </a:ext>
            </a:extLst>
          </p:cNvPr>
          <p:cNvSpPr txBox="1"/>
          <p:nvPr/>
        </p:nvSpPr>
        <p:spPr>
          <a:xfrm>
            <a:off x="19409" y="4886615"/>
            <a:ext cx="3237193"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solidFill>
                <a:effectLst/>
                <a:uLnTx/>
                <a:uFillTx/>
                <a:latin typeface="Aptos" panose="02110004020202020204"/>
                <a:ea typeface="+mn-ea"/>
                <a:cs typeface="+mn-cs"/>
              </a:rPr>
              <a:t>🔄</a:t>
            </a:r>
            <a:r>
              <a:rPr kumimoji="0" lang="fr-FR" sz="1400" b="0" i="0" u="none" strike="noStrike" kern="1200" cap="none" spc="0" normalizeH="0" baseline="0" noProof="0" dirty="0">
                <a:ln>
                  <a:noFill/>
                </a:ln>
                <a:solidFill>
                  <a:prstClr val="white"/>
                </a:solidFill>
                <a:effectLst/>
                <a:uLnTx/>
                <a:uFillTx/>
                <a:latin typeface="Aptos" panose="02110004020202020204"/>
                <a:ea typeface="+mn-ea"/>
                <a:cs typeface="+mn-cs"/>
              </a:rPr>
              <a:t> </a:t>
            </a:r>
            <a:r>
              <a:rPr kumimoji="0" lang="fr-FR" sz="1400" b="1" i="0" u="none" strike="noStrike" kern="1200" cap="none" spc="0" normalizeH="0" baseline="0" noProof="0" dirty="0">
                <a:ln>
                  <a:noFill/>
                </a:ln>
                <a:solidFill>
                  <a:prstClr val="white"/>
                </a:solidFill>
                <a:effectLst/>
                <a:uLnTx/>
                <a:uFillTx/>
                <a:latin typeface="Aptos" panose="02110004020202020204"/>
                <a:ea typeface="+mn-ea"/>
                <a:cs typeface="+mn-cs"/>
              </a:rPr>
              <a:t>Stratégie BRRRR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white"/>
                </a:solidFill>
                <a:effectLst/>
                <a:uLnTx/>
                <a:uFillTx/>
                <a:latin typeface="Aptos" panose="02110004020202020204"/>
                <a:ea typeface="+mn-ea"/>
                <a:cs typeface="+mn-cs"/>
              </a:rPr>
              <a:t>Buy, renovate, rent, </a:t>
            </a:r>
          </a:p>
          <a:p>
            <a:pPr marL="0" marR="0" lvl="0" indent="0" algn="ctr" defTabSz="914400" rtl="0" eaLnBrk="1" fontAlgn="auto" latinLnBrk="0" hangingPunct="1">
              <a:lnSpc>
                <a:spcPct val="100000"/>
              </a:lnSpc>
              <a:spcBef>
                <a:spcPts val="0"/>
              </a:spcBef>
              <a:spcAft>
                <a:spcPts val="0"/>
              </a:spcAft>
              <a:buClrTx/>
              <a:buSzTx/>
              <a:buFontTx/>
              <a:buNone/>
              <a:tabLst/>
              <a:defRPr/>
            </a:pPr>
            <a:r>
              <a:rPr lang="en-CA" sz="1400" dirty="0">
                <a:solidFill>
                  <a:prstClr val="white"/>
                </a:solidFill>
                <a:latin typeface="Aptos" panose="02110004020202020204"/>
              </a:rPr>
              <a:t>r</a:t>
            </a:r>
            <a:r>
              <a:rPr kumimoji="0" lang="en-CA" sz="1400" b="0" i="0" u="none" strike="noStrike" kern="1200" cap="none" spc="0" normalizeH="0" baseline="0" noProof="0" dirty="0" err="1">
                <a:ln>
                  <a:noFill/>
                </a:ln>
                <a:solidFill>
                  <a:prstClr val="white"/>
                </a:solidFill>
                <a:effectLst/>
                <a:uLnTx/>
                <a:uFillTx/>
                <a:latin typeface="Aptos" panose="02110004020202020204"/>
                <a:ea typeface="+mn-ea"/>
                <a:cs typeface="+mn-cs"/>
              </a:rPr>
              <a:t>efinance</a:t>
            </a:r>
            <a:r>
              <a:rPr kumimoji="0" lang="en-CA" sz="1400" b="0" i="0" u="none" strike="noStrike" kern="1200" cap="none" spc="0" normalizeH="0" baseline="0" noProof="0" dirty="0">
                <a:ln>
                  <a:noFill/>
                </a:ln>
                <a:solidFill>
                  <a:prstClr val="white"/>
                </a:solidFill>
                <a:effectLst/>
                <a:uLnTx/>
                <a:uFillTx/>
                <a:latin typeface="Aptos" panose="02110004020202020204"/>
                <a:ea typeface="+mn-ea"/>
                <a:cs typeface="+mn-cs"/>
              </a:rPr>
              <a:t>, repeat</a:t>
            </a:r>
          </a:p>
        </p:txBody>
      </p:sp>
      <p:sp>
        <p:nvSpPr>
          <p:cNvPr id="37" name="TextBox 36">
            <a:extLst>
              <a:ext uri="{FF2B5EF4-FFF2-40B4-BE49-F238E27FC236}">
                <a16:creationId xmlns:a16="http://schemas.microsoft.com/office/drawing/2014/main" id="{D9CE36A0-64B8-3FC8-2D93-5EDED70B7601}"/>
              </a:ext>
            </a:extLst>
          </p:cNvPr>
          <p:cNvSpPr txBox="1"/>
          <p:nvPr/>
        </p:nvSpPr>
        <p:spPr>
          <a:xfrm>
            <a:off x="3076589" y="4886615"/>
            <a:ext cx="3791905"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A" sz="1400" b="0" i="0" u="none" strike="noStrike" kern="1200" cap="none" spc="0" normalizeH="0" baseline="0" noProof="0" dirty="0">
                <a:ln>
                  <a:noFill/>
                </a:ln>
                <a:solidFill>
                  <a:prstClr val="white"/>
                </a:solidFill>
                <a:effectLst/>
                <a:uLnTx/>
                <a:uFillTx/>
                <a:latin typeface="Aptos" panose="02110004020202020204"/>
                <a:ea typeface="+mn-ea"/>
                <a:cs typeface="+mn-cs"/>
              </a:rPr>
              <a:t>⏳ </a:t>
            </a:r>
            <a:r>
              <a:rPr kumimoji="0" lang="fr-CA" sz="1400" b="1" i="0" u="none" strike="noStrike" kern="1200" cap="none" spc="0" normalizeH="0" baseline="0" noProof="0" dirty="0">
                <a:ln>
                  <a:noFill/>
                </a:ln>
                <a:solidFill>
                  <a:prstClr val="white"/>
                </a:solidFill>
                <a:effectLst/>
                <a:uLnTx/>
                <a:uFillTx/>
                <a:latin typeface="Aptos" panose="02110004020202020204"/>
                <a:ea typeface="+mn-ea"/>
                <a:cs typeface="+mn-cs"/>
              </a:rPr>
              <a:t>Horizon</a:t>
            </a:r>
            <a:r>
              <a:rPr kumimoji="0" lang="fr-CA" sz="1400" b="0" i="0" u="none" strike="noStrike" kern="1200" cap="none" spc="0" normalizeH="0" baseline="0" noProof="0" dirty="0">
                <a:ln>
                  <a:noFill/>
                </a:ln>
                <a:solidFill>
                  <a:prstClr val="white"/>
                </a:solidFill>
                <a:effectLst/>
                <a:uLnTx/>
                <a:uFillTx/>
                <a:latin typeface="Aptos" panose="02110004020202020204"/>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A" sz="1400" b="0" i="0" u="none" strike="noStrike" kern="1200" cap="none" spc="0" normalizeH="0" baseline="0" noProof="0" dirty="0">
                <a:ln>
                  <a:noFill/>
                </a:ln>
                <a:solidFill>
                  <a:prstClr val="white"/>
                </a:solidFill>
                <a:effectLst/>
                <a:uLnTx/>
                <a:uFillTx/>
                <a:latin typeface="Aptos" panose="02110004020202020204"/>
                <a:ea typeface="+mn-ea"/>
                <a:cs typeface="+mn-cs"/>
              </a:rPr>
              <a:t>Refinancement 2 ans |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A" sz="1400" b="0" i="0" u="none" strike="noStrike" kern="1200" cap="none" spc="0" normalizeH="0" baseline="0" noProof="0" dirty="0">
                <a:ln>
                  <a:noFill/>
                </a:ln>
                <a:solidFill>
                  <a:prstClr val="white"/>
                </a:solidFill>
                <a:effectLst/>
                <a:uLnTx/>
                <a:uFillTx/>
                <a:latin typeface="Aptos" panose="02110004020202020204"/>
                <a:ea typeface="+mn-ea"/>
                <a:cs typeface="+mn-cs"/>
              </a:rPr>
              <a:t>Détention long terme</a:t>
            </a:r>
          </a:p>
        </p:txBody>
      </p:sp>
      <p:pic>
        <p:nvPicPr>
          <p:cNvPr id="10" name="Graphic 9" descr="Money outline">
            <a:extLst>
              <a:ext uri="{FF2B5EF4-FFF2-40B4-BE49-F238E27FC236}">
                <a16:creationId xmlns:a16="http://schemas.microsoft.com/office/drawing/2014/main" id="{54C3A45B-509E-A74C-76DE-166999EC263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849878" y="1443250"/>
            <a:ext cx="914400" cy="914400"/>
          </a:xfrm>
          <a:prstGeom prst="rect">
            <a:avLst/>
          </a:prstGeom>
        </p:spPr>
      </p:pic>
      <p:pic>
        <p:nvPicPr>
          <p:cNvPr id="13" name="Graphic 12" descr="Upward trend outline">
            <a:extLst>
              <a:ext uri="{FF2B5EF4-FFF2-40B4-BE49-F238E27FC236}">
                <a16:creationId xmlns:a16="http://schemas.microsoft.com/office/drawing/2014/main" id="{FC641C20-5319-815D-7DD5-A1BD93EDAEA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849878" y="3749721"/>
            <a:ext cx="914400" cy="914400"/>
          </a:xfrm>
          <a:prstGeom prst="rect">
            <a:avLst/>
          </a:prstGeom>
        </p:spPr>
      </p:pic>
      <p:sp>
        <p:nvSpPr>
          <p:cNvPr id="35" name="TextBox 34">
            <a:extLst>
              <a:ext uri="{FF2B5EF4-FFF2-40B4-BE49-F238E27FC236}">
                <a16:creationId xmlns:a16="http://schemas.microsoft.com/office/drawing/2014/main" id="{148EDDA9-A9D9-4BFB-0F3E-27CFE6E373E0}"/>
              </a:ext>
            </a:extLst>
          </p:cNvPr>
          <p:cNvSpPr txBox="1"/>
          <p:nvPr/>
        </p:nvSpPr>
        <p:spPr>
          <a:xfrm>
            <a:off x="7025326" y="2535443"/>
            <a:ext cx="2563504"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prstClr val="white"/>
                </a:solidFill>
                <a:effectLst/>
                <a:uLnTx/>
                <a:uFillTx/>
                <a:latin typeface="Aptos" panose="02110004020202020204"/>
                <a:ea typeface="+mn-ea"/>
                <a:cs typeface="+mn-cs"/>
              </a:rPr>
              <a:t>💰 </a:t>
            </a:r>
            <a:r>
              <a:rPr kumimoji="0" lang="fr-FR" sz="1400" b="1" i="0" u="none" strike="noStrike" kern="1200" cap="none" spc="0" normalizeH="0" baseline="0" noProof="0" dirty="0">
                <a:ln>
                  <a:noFill/>
                </a:ln>
                <a:solidFill>
                  <a:prstClr val="white"/>
                </a:solidFill>
                <a:effectLst/>
                <a:uLnTx/>
                <a:uFillTx/>
                <a:latin typeface="Aptos" panose="02110004020202020204"/>
                <a:ea typeface="+mn-ea"/>
                <a:cs typeface="+mn-cs"/>
              </a:rPr>
              <a:t>Investissement requis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prstClr val="white"/>
                </a:solidFill>
                <a:effectLst/>
                <a:uLnTx/>
                <a:uFillTx/>
                <a:latin typeface="Aptos" panose="02110004020202020204"/>
                <a:ea typeface="+mn-ea"/>
                <a:cs typeface="+mn-cs"/>
              </a:rPr>
              <a:t>300 000$</a:t>
            </a:r>
          </a:p>
          <a:p>
            <a:pPr algn="ctr">
              <a:defRPr/>
            </a:pPr>
            <a:r>
              <a:rPr lang="fr-CA" sz="1400" dirty="0">
                <a:solidFill>
                  <a:prstClr val="white"/>
                </a:solidFill>
              </a:rPr>
              <a:t>🏷️ 50% des parts du projet</a:t>
            </a:r>
          </a:p>
        </p:txBody>
      </p:sp>
      <p:sp>
        <p:nvSpPr>
          <p:cNvPr id="38" name="TextBox 37">
            <a:extLst>
              <a:ext uri="{FF2B5EF4-FFF2-40B4-BE49-F238E27FC236}">
                <a16:creationId xmlns:a16="http://schemas.microsoft.com/office/drawing/2014/main" id="{64A7F72C-7240-DCA4-8E2A-E74094A7D1E8}"/>
              </a:ext>
            </a:extLst>
          </p:cNvPr>
          <p:cNvSpPr txBox="1"/>
          <p:nvPr/>
        </p:nvSpPr>
        <p:spPr>
          <a:xfrm>
            <a:off x="6658387" y="4886615"/>
            <a:ext cx="3297382" cy="95410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A" sz="1400" b="0" i="0" u="none" strike="noStrike" kern="1200" cap="none" spc="0" normalizeH="0" baseline="0" noProof="0" dirty="0">
                <a:ln>
                  <a:noFill/>
                </a:ln>
                <a:solidFill>
                  <a:prstClr val="white"/>
                </a:solidFill>
                <a:effectLst/>
                <a:uLnTx/>
                <a:uFillTx/>
                <a:latin typeface="Aptos" panose="02110004020202020204"/>
                <a:ea typeface="+mn-ea"/>
                <a:cs typeface="+mn-cs"/>
              </a:rPr>
              <a:t>📈 </a:t>
            </a:r>
            <a:r>
              <a:rPr kumimoji="0" lang="fr-CA" sz="1400" b="1" i="0" u="none" strike="noStrike" kern="1200" cap="none" spc="0" normalizeH="0" baseline="0" noProof="0" dirty="0">
                <a:ln>
                  <a:noFill/>
                </a:ln>
                <a:solidFill>
                  <a:prstClr val="white"/>
                </a:solidFill>
                <a:effectLst/>
                <a:uLnTx/>
                <a:uFillTx/>
                <a:latin typeface="Aptos" panose="02110004020202020204"/>
                <a:ea typeface="+mn-ea"/>
                <a:cs typeface="+mn-cs"/>
              </a:rPr>
              <a:t>Rendement</a:t>
            </a:r>
          </a:p>
          <a:p>
            <a:pPr lvl="0" algn="ctr">
              <a:defRPr/>
            </a:pPr>
            <a:r>
              <a:rPr lang="fr-CA" sz="1400" dirty="0">
                <a:solidFill>
                  <a:prstClr val="white"/>
                </a:solidFill>
              </a:rPr>
              <a:t> TRI* 2 ans :  37,5 % |  </a:t>
            </a:r>
          </a:p>
          <a:p>
            <a:pPr lvl="0" algn="ctr">
              <a:defRPr/>
            </a:pPr>
            <a:r>
              <a:rPr lang="fr-CA" sz="1400" dirty="0">
                <a:solidFill>
                  <a:prstClr val="white"/>
                </a:solidFill>
              </a:rPr>
              <a:t>TRI 7 ans : 28,0 % |</a:t>
            </a:r>
          </a:p>
          <a:p>
            <a:pPr lvl="0" algn="ctr">
              <a:defRPr/>
            </a:pPr>
            <a:r>
              <a:rPr lang="fr-CA" sz="1400" dirty="0">
                <a:solidFill>
                  <a:prstClr val="white"/>
                </a:solidFill>
              </a:rPr>
              <a:t>TRI 12 ans : 26,4 %</a:t>
            </a:r>
          </a:p>
        </p:txBody>
      </p:sp>
      <p:pic>
        <p:nvPicPr>
          <p:cNvPr id="9" name="Picture 8" descr="A kitchen with a sink and a ladder  AI-generated content may be incorrect.">
            <a:extLst>
              <a:ext uri="{FF2B5EF4-FFF2-40B4-BE49-F238E27FC236}">
                <a16:creationId xmlns:a16="http://schemas.microsoft.com/office/drawing/2014/main" id="{FE698BD7-71FD-A01E-4FC4-4BBF8650E6B8}"/>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0115530" y="2590743"/>
            <a:ext cx="2076470" cy="1563436"/>
          </a:xfrm>
          <a:prstGeom prst="rect">
            <a:avLst/>
          </a:prstGeom>
          <a:effectLst>
            <a:softEdge rad="25400"/>
          </a:effectLst>
        </p:spPr>
      </p:pic>
      <p:pic>
        <p:nvPicPr>
          <p:cNvPr id="14" name="Picture 13">
            <a:extLst>
              <a:ext uri="{FF2B5EF4-FFF2-40B4-BE49-F238E27FC236}">
                <a16:creationId xmlns:a16="http://schemas.microsoft.com/office/drawing/2014/main" id="{999D7AFD-3CEB-B6A1-F53C-665F5CF50658}"/>
              </a:ext>
            </a:extLst>
          </p:cNvPr>
          <p:cNvPicPr>
            <a:picLocks noChangeAspect="1"/>
          </p:cNvPicPr>
          <p:nvPr/>
        </p:nvPicPr>
        <p:blipFill>
          <a:blip r:embed="rId12">
            <a:extLst>
              <a:ext uri="{28A0092B-C50C-407E-A947-70E740481C1C}">
                <a14:useLocalDpi xmlns:a14="http://schemas.microsoft.com/office/drawing/2010/main" val="0"/>
              </a:ext>
            </a:extLst>
          </a:blip>
          <a:stretch/>
        </p:blipFill>
        <p:spPr>
          <a:xfrm flipH="1">
            <a:off x="10114196" y="99396"/>
            <a:ext cx="2077804" cy="2420030"/>
          </a:xfrm>
          <a:prstGeom prst="rect">
            <a:avLst/>
          </a:prstGeom>
          <a:effectLst>
            <a:softEdge rad="25400"/>
          </a:effectLst>
        </p:spPr>
      </p:pic>
      <p:sp>
        <p:nvSpPr>
          <p:cNvPr id="16" name="TextBox 15">
            <a:extLst>
              <a:ext uri="{FF2B5EF4-FFF2-40B4-BE49-F238E27FC236}">
                <a16:creationId xmlns:a16="http://schemas.microsoft.com/office/drawing/2014/main" id="{EA633D0C-7F1D-5F46-A1E9-BF7CC3C04C08}"/>
              </a:ext>
            </a:extLst>
          </p:cNvPr>
          <p:cNvSpPr txBox="1"/>
          <p:nvPr/>
        </p:nvSpPr>
        <p:spPr>
          <a:xfrm>
            <a:off x="5871838" y="6565201"/>
            <a:ext cx="4228847" cy="24622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CA" sz="1000" b="0" i="0" u="none" strike="noStrike" kern="1200" cap="none" spc="0" normalizeH="0" baseline="0" noProof="0" dirty="0">
                <a:ln>
                  <a:noFill/>
                </a:ln>
                <a:solidFill>
                  <a:prstClr val="white"/>
                </a:solidFill>
                <a:effectLst/>
                <a:uLnTx/>
                <a:uFillTx/>
                <a:latin typeface="Aptos" panose="02110004020202020204"/>
                <a:ea typeface="+mn-ea"/>
                <a:cs typeface="+mn-cs"/>
              </a:rPr>
              <a:t>* Taux de rendement interne</a:t>
            </a:r>
          </a:p>
        </p:txBody>
      </p:sp>
    </p:spTree>
    <p:extLst>
      <p:ext uri="{BB962C8B-B14F-4D97-AF65-F5344CB8AC3E}">
        <p14:creationId xmlns:p14="http://schemas.microsoft.com/office/powerpoint/2010/main" val="31629870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a:extLst>
            <a:ext uri="{FF2B5EF4-FFF2-40B4-BE49-F238E27FC236}">
              <a16:creationId xmlns:a16="http://schemas.microsoft.com/office/drawing/2014/main" id="{D76D6FDE-97D3-74DD-F724-E295B5685B20}"/>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1DCA99CB-0AD9-4A6A-5363-BF9B105D9CDE}"/>
              </a:ext>
            </a:extLst>
          </p:cNvPr>
          <p:cNvSpPr txBox="1">
            <a:spLocks/>
          </p:cNvSpPr>
          <p:nvPr/>
        </p:nvSpPr>
        <p:spPr>
          <a:xfrm>
            <a:off x="780673" y="410425"/>
            <a:ext cx="7261157" cy="717279"/>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Aptos Display" panose="02110004020202020204"/>
                <a:ea typeface="+mj-ea"/>
                <a:cs typeface="+mj-cs"/>
              </a:rPr>
              <a:t>PRÉSENTATION DU PROJET</a:t>
            </a:r>
            <a:endParaRPr kumimoji="0" lang="en-US" sz="4400" b="0" i="0" u="none" strike="noStrike" kern="1200" cap="none" spc="0" normalizeH="0" baseline="0" noProof="0" dirty="0">
              <a:ln>
                <a:noFill/>
              </a:ln>
              <a:solidFill>
                <a:prstClr val="black"/>
              </a:solidFill>
              <a:effectLst/>
              <a:uLnTx/>
              <a:uFillTx/>
              <a:latin typeface="Aptos Display" panose="02110004020202020204"/>
              <a:ea typeface="+mj-ea"/>
              <a:cs typeface="+mj-cs"/>
            </a:endParaRPr>
          </a:p>
        </p:txBody>
      </p:sp>
      <p:sp>
        <p:nvSpPr>
          <p:cNvPr id="8" name="TextBox 7">
            <a:extLst>
              <a:ext uri="{FF2B5EF4-FFF2-40B4-BE49-F238E27FC236}">
                <a16:creationId xmlns:a16="http://schemas.microsoft.com/office/drawing/2014/main" id="{8DB62953-C573-8146-9525-645CA4DEC26A}"/>
              </a:ext>
            </a:extLst>
          </p:cNvPr>
          <p:cNvSpPr txBox="1"/>
          <p:nvPr/>
        </p:nvSpPr>
        <p:spPr>
          <a:xfrm>
            <a:off x="184326" y="6476025"/>
            <a:ext cx="596347"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CA" sz="1200" b="0" i="0" u="none" strike="noStrike" kern="1200" cap="none" spc="0" normalizeH="0" baseline="0" noProof="0" dirty="0">
                <a:ln>
                  <a:noFill/>
                </a:ln>
                <a:solidFill>
                  <a:prstClr val="white"/>
                </a:solidFill>
                <a:effectLst/>
                <a:uLnTx/>
                <a:uFillTx/>
                <a:latin typeface="Aptos" panose="02110004020202020204"/>
                <a:ea typeface="+mn-ea"/>
                <a:cs typeface="+mn-cs"/>
              </a:rPr>
              <a:t>3</a:t>
            </a:r>
            <a:endParaRPr kumimoji="0" lang="en-CA" sz="12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4" name="Rectangle 23">
            <a:extLst>
              <a:ext uri="{FF2B5EF4-FFF2-40B4-BE49-F238E27FC236}">
                <a16:creationId xmlns:a16="http://schemas.microsoft.com/office/drawing/2014/main" id="{37928F26-33FA-4A1C-C557-89A9A47411A6}"/>
              </a:ext>
            </a:extLst>
          </p:cNvPr>
          <p:cNvSpPr/>
          <p:nvPr/>
        </p:nvSpPr>
        <p:spPr>
          <a:xfrm>
            <a:off x="895060" y="971550"/>
            <a:ext cx="1929109" cy="85725"/>
          </a:xfrm>
          <a:prstGeom prst="rect">
            <a:avLst/>
          </a:prstGeom>
          <a:solidFill>
            <a:srgbClr val="F8D95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noFill/>
              <a:effectLst/>
              <a:uLnTx/>
              <a:uFillTx/>
              <a:latin typeface="Aptos" panose="02110004020202020204"/>
              <a:ea typeface="+mn-ea"/>
              <a:cs typeface="+mn-cs"/>
            </a:endParaRPr>
          </a:p>
        </p:txBody>
      </p:sp>
      <p:pic>
        <p:nvPicPr>
          <p:cNvPr id="3" name="Picture 2">
            <a:extLst>
              <a:ext uri="{FF2B5EF4-FFF2-40B4-BE49-F238E27FC236}">
                <a16:creationId xmlns:a16="http://schemas.microsoft.com/office/drawing/2014/main" id="{86BCD510-A206-A5D1-37F4-8BFA9A7FAD7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188861" y="6031860"/>
            <a:ext cx="998416" cy="998416"/>
          </a:xfrm>
          <a:prstGeom prst="rect">
            <a:avLst/>
          </a:prstGeom>
        </p:spPr>
      </p:pic>
      <p:pic>
        <p:nvPicPr>
          <p:cNvPr id="6" name="Picture 5">
            <a:extLst>
              <a:ext uri="{FF2B5EF4-FFF2-40B4-BE49-F238E27FC236}">
                <a16:creationId xmlns:a16="http://schemas.microsoft.com/office/drawing/2014/main" id="{7E721095-8AAB-BDBE-AA2C-1E260F583111}"/>
              </a:ext>
            </a:extLst>
          </p:cNvPr>
          <p:cNvPicPr>
            <a:picLocks noChangeAspect="1"/>
          </p:cNvPicPr>
          <p:nvPr/>
        </p:nvPicPr>
        <p:blipFill>
          <a:blip r:embed="rId6">
            <a:extLst>
              <a:ext uri="{28A0092B-C50C-407E-A947-70E740481C1C}">
                <a14:useLocalDpi xmlns:a14="http://schemas.microsoft.com/office/drawing/2010/main" val="0"/>
              </a:ext>
            </a:extLst>
          </a:blip>
          <a:stretch/>
        </p:blipFill>
        <p:spPr>
          <a:xfrm>
            <a:off x="683855" y="2074109"/>
            <a:ext cx="4459529" cy="2381474"/>
          </a:xfrm>
          <a:prstGeom prst="rect">
            <a:avLst/>
          </a:prstGeom>
        </p:spPr>
      </p:pic>
      <p:graphicFrame>
        <p:nvGraphicFramePr>
          <p:cNvPr id="12" name="Table 11">
            <a:extLst>
              <a:ext uri="{FF2B5EF4-FFF2-40B4-BE49-F238E27FC236}">
                <a16:creationId xmlns:a16="http://schemas.microsoft.com/office/drawing/2014/main" id="{08E4DE4C-31EB-AEDF-E708-AAD60A42B2FF}"/>
              </a:ext>
            </a:extLst>
          </p:cNvPr>
          <p:cNvGraphicFramePr>
            <a:graphicFrameLocks noGrp="1"/>
          </p:cNvGraphicFramePr>
          <p:nvPr>
            <p:extLst>
              <p:ext uri="{D42A27DB-BD31-4B8C-83A1-F6EECF244321}">
                <p14:modId xmlns:p14="http://schemas.microsoft.com/office/powerpoint/2010/main" val="2384548800"/>
              </p:ext>
            </p:extLst>
          </p:nvPr>
        </p:nvGraphicFramePr>
        <p:xfrm>
          <a:off x="6920076" y="1444191"/>
          <a:ext cx="4767992" cy="1259840"/>
        </p:xfrm>
        <a:graphic>
          <a:graphicData uri="http://schemas.openxmlformats.org/drawingml/2006/table">
            <a:tbl>
              <a:tblPr firstRow="1" bandRow="1">
                <a:tableStyleId>{5C22544A-7EE6-4342-B048-85BDC9FD1C3A}</a:tableStyleId>
              </a:tblPr>
              <a:tblGrid>
                <a:gridCol w="2383996">
                  <a:extLst>
                    <a:ext uri="{9D8B030D-6E8A-4147-A177-3AD203B41FA5}">
                      <a16:colId xmlns:a16="http://schemas.microsoft.com/office/drawing/2014/main" val="4212165967"/>
                    </a:ext>
                  </a:extLst>
                </a:gridCol>
                <a:gridCol w="2383996">
                  <a:extLst>
                    <a:ext uri="{9D8B030D-6E8A-4147-A177-3AD203B41FA5}">
                      <a16:colId xmlns:a16="http://schemas.microsoft.com/office/drawing/2014/main" val="200245831"/>
                    </a:ext>
                  </a:extLst>
                </a:gridCol>
              </a:tblGrid>
              <a:tr h="370840">
                <a:tc>
                  <a:txBody>
                    <a:bodyPr/>
                    <a:lstStyle/>
                    <a:p>
                      <a:r>
                        <a:rPr kumimoji="0" lang="fr-FR" sz="1400" b="0" i="0" u="none" strike="noStrike" kern="1200" cap="none" spc="0" normalizeH="0" baseline="0" noProof="0" dirty="0">
                          <a:ln>
                            <a:noFill/>
                          </a:ln>
                          <a:solidFill>
                            <a:prstClr val="white"/>
                          </a:solidFill>
                          <a:effectLst/>
                          <a:uLnTx/>
                          <a:uFillTx/>
                          <a:latin typeface="+mn-lt"/>
                          <a:ea typeface="+mn-ea"/>
                          <a:cs typeface="+mn-cs"/>
                        </a:rPr>
                        <a:t>💰 Prix d’acquisition </a:t>
                      </a:r>
                      <a:endParaRPr lang="en-CA" sz="1400" dirty="0"/>
                    </a:p>
                  </a:txBody>
                  <a:tcPr>
                    <a:lnL w="12700" cap="flat" cmpd="sng" algn="ctr">
                      <a:solidFill>
                        <a:srgbClr val="F8D956"/>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8D956"/>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r>
                        <a:rPr kumimoji="0" lang="fr-FR" sz="1400" b="0" i="0" u="none" strike="noStrike" kern="1200" cap="none" spc="0" normalizeH="0" baseline="0" noProof="0" dirty="0">
                          <a:ln>
                            <a:noFill/>
                          </a:ln>
                          <a:solidFill>
                            <a:prstClr val="white"/>
                          </a:solidFill>
                          <a:effectLst/>
                          <a:uLnTx/>
                          <a:uFillTx/>
                          <a:latin typeface="+mn-lt"/>
                          <a:ea typeface="+mn-ea"/>
                          <a:cs typeface="+mn-cs"/>
                        </a:rPr>
                        <a:t>1,8 M$</a:t>
                      </a:r>
                      <a:endParaRPr lang="en-CA" sz="1400" dirty="0"/>
                    </a:p>
                  </a:txBody>
                  <a:tcPr>
                    <a:lnL w="12700" cap="flat" cmpd="sng" algn="ctr">
                      <a:noFill/>
                      <a:prstDash val="solid"/>
                      <a:round/>
                      <a:headEnd type="none" w="med" len="med"/>
                      <a:tailEnd type="none" w="med" len="med"/>
                    </a:lnL>
                    <a:lnR w="12700" cap="flat" cmpd="sng" algn="ctr">
                      <a:solidFill>
                        <a:srgbClr val="F8D956"/>
                      </a:solidFill>
                      <a:prstDash val="solid"/>
                      <a:round/>
                      <a:headEnd type="none" w="med" len="med"/>
                      <a:tailEnd type="none" w="med" len="med"/>
                    </a:lnR>
                    <a:lnT w="12700" cap="flat" cmpd="sng" algn="ctr">
                      <a:solidFill>
                        <a:srgbClr val="F8D956"/>
                      </a:solidFill>
                      <a:prstDash val="solid"/>
                      <a:round/>
                      <a:headEnd type="none" w="med" len="med"/>
                      <a:tailEnd type="none" w="med" len="med"/>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39242969"/>
                  </a:ext>
                </a:extLst>
              </a:tr>
              <a:tr h="370840">
                <a:tc>
                  <a:txBody>
                    <a:bodyPr/>
                    <a:lstStyle/>
                    <a:p>
                      <a:r>
                        <a:rPr kumimoji="0" lang="fr-FR" sz="1400" b="0" i="0" u="none" strike="noStrike" kern="1200" cap="none" spc="0" normalizeH="0" baseline="0" noProof="0" dirty="0">
                          <a:ln>
                            <a:noFill/>
                          </a:ln>
                          <a:solidFill>
                            <a:prstClr val="white"/>
                          </a:solidFill>
                          <a:effectLst/>
                          <a:uLnTx/>
                          <a:uFillTx/>
                          <a:latin typeface="+mn-lt"/>
                          <a:ea typeface="+mn-ea"/>
                          <a:cs typeface="+mn-cs"/>
                        </a:rPr>
                        <a:t>📉 Revenus actuels </a:t>
                      </a:r>
                      <a:endParaRPr lang="en-CA" sz="1400" dirty="0"/>
                    </a:p>
                  </a:txBody>
                  <a:tcPr>
                    <a:lnL w="12700" cap="flat" cmpd="sng" algn="ctr">
                      <a:solidFill>
                        <a:srgbClr val="F8D956"/>
                      </a:solidFill>
                      <a:prstDash val="solid"/>
                      <a:round/>
                      <a:headEnd type="none" w="med" len="med"/>
                      <a:tailEnd type="none" w="med" len="med"/>
                    </a:lnL>
                    <a:lnR w="12700" cap="flat" cmpd="sng" algn="ctr">
                      <a:no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r>
                        <a:rPr kumimoji="0" lang="fr-FR" sz="1400" b="0" i="0" u="none" strike="noStrike" kern="1200" cap="none" spc="0" normalizeH="0" baseline="0" noProof="0" dirty="0">
                          <a:ln>
                            <a:noFill/>
                          </a:ln>
                          <a:solidFill>
                            <a:prstClr val="white"/>
                          </a:solidFill>
                          <a:effectLst/>
                          <a:uLnTx/>
                          <a:uFillTx/>
                          <a:latin typeface="+mn-lt"/>
                          <a:ea typeface="+mn-ea"/>
                          <a:cs typeface="+mn-cs"/>
                        </a:rPr>
                        <a:t>130 824 $/an</a:t>
                      </a:r>
                      <a:endParaRPr lang="en-CA" sz="1400" dirty="0"/>
                    </a:p>
                  </a:txBody>
                  <a:tcPr>
                    <a:lnL w="12700" cap="flat" cmpd="sng" algn="ctr">
                      <a:noFill/>
                      <a:prstDash val="solid"/>
                      <a:round/>
                      <a:headEnd type="none" w="med" len="med"/>
                      <a:tailEnd type="none" w="med" len="med"/>
                    </a:lnL>
                    <a:lnR w="12700" cap="flat" cmpd="sng" algn="ctr">
                      <a:solidFill>
                        <a:srgbClr val="F8D956"/>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03354046"/>
                  </a:ext>
                </a:extLst>
              </a:tr>
              <a:tr h="370840">
                <a:tc>
                  <a:txBody>
                    <a:bodyPr/>
                    <a:lstStyle/>
                    <a:p>
                      <a:r>
                        <a:rPr kumimoji="0" lang="fr-FR" sz="1400" b="0" i="0" u="none" strike="noStrike" kern="1200" cap="none" spc="0" normalizeH="0" baseline="0" noProof="0" dirty="0">
                          <a:ln>
                            <a:noFill/>
                          </a:ln>
                          <a:solidFill>
                            <a:prstClr val="white"/>
                          </a:solidFill>
                          <a:effectLst/>
                          <a:uLnTx/>
                          <a:uFillTx/>
                          <a:latin typeface="+mn-lt"/>
                          <a:ea typeface="+mn-ea"/>
                          <a:cs typeface="+mn-cs"/>
                        </a:rPr>
                        <a:t>📈 Revenus potentiels   </a:t>
                      </a:r>
                    </a:p>
                    <a:p>
                      <a:r>
                        <a:rPr kumimoji="0" lang="fr-FR" sz="1400" b="0" i="0" u="none" strike="noStrike" kern="1200" cap="none" spc="0" normalizeH="0" baseline="0" noProof="0" dirty="0">
                          <a:ln>
                            <a:noFill/>
                          </a:ln>
                          <a:solidFill>
                            <a:prstClr val="white"/>
                          </a:solidFill>
                          <a:effectLst/>
                          <a:uLnTx/>
                          <a:uFillTx/>
                          <a:latin typeface="+mn-lt"/>
                          <a:ea typeface="+mn-ea"/>
                          <a:cs typeface="+mn-cs"/>
                        </a:rPr>
                        <a:t>        après </a:t>
                      </a:r>
                      <a:r>
                        <a:rPr kumimoji="0" lang="fr-FR" sz="1400" b="0" i="0" u="none" strike="noStrike" kern="1200" cap="none" spc="0" normalizeH="0" baseline="0" noProof="0" dirty="0" err="1">
                          <a:ln>
                            <a:noFill/>
                          </a:ln>
                          <a:solidFill>
                            <a:prstClr val="white"/>
                          </a:solidFill>
                          <a:effectLst/>
                          <a:uLnTx/>
                          <a:uFillTx/>
                          <a:latin typeface="+mn-lt"/>
                          <a:ea typeface="+mn-ea"/>
                          <a:cs typeface="+mn-cs"/>
                        </a:rPr>
                        <a:t>rénos</a:t>
                      </a:r>
                      <a:r>
                        <a:rPr kumimoji="0" lang="fr-FR" sz="1400" b="0" i="0" u="none" strike="noStrike" kern="1200" cap="none" spc="0" normalizeH="0" baseline="0" noProof="0" dirty="0">
                          <a:ln>
                            <a:noFill/>
                          </a:ln>
                          <a:solidFill>
                            <a:prstClr val="white"/>
                          </a:solidFill>
                          <a:effectLst/>
                          <a:uLnTx/>
                          <a:uFillTx/>
                          <a:latin typeface="+mn-lt"/>
                          <a:ea typeface="+mn-ea"/>
                          <a:cs typeface="+mn-cs"/>
                        </a:rPr>
                        <a:t> </a:t>
                      </a:r>
                      <a:endParaRPr lang="en-CA" sz="1400" dirty="0"/>
                    </a:p>
                  </a:txBody>
                  <a:tcPr>
                    <a:lnL w="12700" cap="flat" cmpd="sng" algn="ctr">
                      <a:solidFill>
                        <a:srgbClr val="F8D956"/>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rgbClr val="F8D95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prstClr val="white"/>
                          </a:solidFill>
                          <a:effectLst/>
                          <a:uLnTx/>
                          <a:uFillTx/>
                          <a:latin typeface="+mn-lt"/>
                          <a:ea typeface="+mn-ea"/>
                          <a:cs typeface="+mn-cs"/>
                        </a:rPr>
                        <a:t>211 200 $/an</a:t>
                      </a:r>
                    </a:p>
                  </a:txBody>
                  <a:tcPr anchor="ctr">
                    <a:lnL w="12700" cap="flat" cmpd="sng" algn="ctr">
                      <a:noFill/>
                      <a:prstDash val="solid"/>
                      <a:round/>
                      <a:headEnd type="none" w="med" len="med"/>
                      <a:tailEnd type="none" w="med" len="med"/>
                    </a:lnL>
                    <a:lnR w="12700" cap="flat" cmpd="sng" algn="ctr">
                      <a:solidFill>
                        <a:srgbClr val="F8D956"/>
                      </a:solidFill>
                      <a:prstDash val="solid"/>
                      <a:round/>
                      <a:headEnd type="none" w="med" len="med"/>
                      <a:tailEnd type="none" w="med" len="med"/>
                    </a:lnR>
                    <a:lnT w="12700" cmpd="sng">
                      <a:noFill/>
                    </a:lnT>
                    <a:lnB w="12700" cap="flat" cmpd="sng" algn="ctr">
                      <a:solidFill>
                        <a:srgbClr val="F8D95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7328244"/>
                  </a:ext>
                </a:extLst>
              </a:tr>
            </a:tbl>
          </a:graphicData>
        </a:graphic>
      </p:graphicFrame>
      <p:graphicFrame>
        <p:nvGraphicFramePr>
          <p:cNvPr id="13" name="Table 12">
            <a:extLst>
              <a:ext uri="{FF2B5EF4-FFF2-40B4-BE49-F238E27FC236}">
                <a16:creationId xmlns:a16="http://schemas.microsoft.com/office/drawing/2014/main" id="{34C974B2-88A6-E1C1-6998-F90CD9197C6C}"/>
              </a:ext>
            </a:extLst>
          </p:cNvPr>
          <p:cNvGraphicFramePr>
            <a:graphicFrameLocks noGrp="1"/>
          </p:cNvGraphicFramePr>
          <p:nvPr>
            <p:extLst>
              <p:ext uri="{D42A27DB-BD31-4B8C-83A1-F6EECF244321}">
                <p14:modId xmlns:p14="http://schemas.microsoft.com/office/powerpoint/2010/main" val="268199420"/>
              </p:ext>
            </p:extLst>
          </p:nvPr>
        </p:nvGraphicFramePr>
        <p:xfrm>
          <a:off x="6920077" y="3162870"/>
          <a:ext cx="4767992" cy="2585720"/>
        </p:xfrm>
        <a:graphic>
          <a:graphicData uri="http://schemas.openxmlformats.org/drawingml/2006/table">
            <a:tbl>
              <a:tblPr firstRow="1" bandRow="1">
                <a:tableStyleId>{5C22544A-7EE6-4342-B048-85BDC9FD1C3A}</a:tableStyleId>
              </a:tblPr>
              <a:tblGrid>
                <a:gridCol w="2383996">
                  <a:extLst>
                    <a:ext uri="{9D8B030D-6E8A-4147-A177-3AD203B41FA5}">
                      <a16:colId xmlns:a16="http://schemas.microsoft.com/office/drawing/2014/main" val="4212165967"/>
                    </a:ext>
                  </a:extLst>
                </a:gridCol>
                <a:gridCol w="2383996">
                  <a:extLst>
                    <a:ext uri="{9D8B030D-6E8A-4147-A177-3AD203B41FA5}">
                      <a16:colId xmlns:a16="http://schemas.microsoft.com/office/drawing/2014/main" val="200245831"/>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prstClr val="white"/>
                          </a:solidFill>
                          <a:effectLst/>
                          <a:uLnTx/>
                          <a:uFillTx/>
                          <a:latin typeface="+mn-lt"/>
                          <a:ea typeface="+mn-ea"/>
                          <a:cs typeface="+mn-cs"/>
                        </a:rPr>
                        <a:t>🏘️ Nombre d'unités </a:t>
                      </a:r>
                      <a:endParaRPr kumimoji="0" lang="en-CA" sz="1400" b="0"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12700" cap="flat" cmpd="sng" algn="ctr">
                      <a:solidFill>
                        <a:srgbClr val="F8D956"/>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8D956"/>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prstClr val="white"/>
                          </a:solidFill>
                          <a:effectLst/>
                          <a:uLnTx/>
                          <a:uFillTx/>
                          <a:latin typeface="Aptos" panose="02110004020202020204"/>
                          <a:ea typeface="+mn-ea"/>
                          <a:cs typeface="+mn-cs"/>
                        </a:rPr>
                        <a:t>8 logements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prstClr val="white"/>
                          </a:solidFill>
                          <a:effectLst/>
                          <a:uLnTx/>
                          <a:uFillTx/>
                          <a:latin typeface="Aptos" panose="02110004020202020204"/>
                          <a:ea typeface="+mn-ea"/>
                          <a:cs typeface="+mn-cs"/>
                        </a:rPr>
                        <a:t> 2 x 5 ½ </a:t>
                      </a:r>
                      <a:r>
                        <a:rPr kumimoji="0" lang="fr-FR" sz="1400" b="0" i="0" u="none" strike="noStrike" kern="1200" cap="none" spc="0" normalizeH="0" baseline="0" noProof="0" dirty="0">
                          <a:ln>
                            <a:noFill/>
                          </a:ln>
                          <a:solidFill>
                            <a:prstClr val="white"/>
                          </a:solidFill>
                          <a:effectLst/>
                          <a:uLnTx/>
                          <a:uFillTx/>
                          <a:latin typeface="+mn-lt"/>
                          <a:ea typeface="+mn-ea"/>
                          <a:cs typeface="+mn-cs"/>
                        </a:rPr>
                        <a:t>+ 6 x 6 ½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chemeClr val="bg1"/>
                          </a:solidFill>
                          <a:effectLst/>
                          <a:uLnTx/>
                          <a:uFillTx/>
                          <a:latin typeface="Aptos" panose="02110004020202020204"/>
                          <a:ea typeface="+mn-ea"/>
                          <a:cs typeface="+mn-cs"/>
                        </a:rPr>
                        <a:t>6 garages</a:t>
                      </a:r>
                    </a:p>
                  </a:txBody>
                  <a:tcPr>
                    <a:lnL w="12700" cap="flat" cmpd="sng" algn="ctr">
                      <a:noFill/>
                      <a:prstDash val="solid"/>
                      <a:round/>
                      <a:headEnd type="none" w="med" len="med"/>
                      <a:tailEnd type="none" w="med" len="med"/>
                    </a:lnL>
                    <a:lnR w="12700" cap="flat" cmpd="sng" algn="ctr">
                      <a:solidFill>
                        <a:srgbClr val="F8D956"/>
                      </a:solidFill>
                      <a:prstDash val="solid"/>
                      <a:round/>
                      <a:headEnd type="none" w="med" len="med"/>
                      <a:tailEnd type="none" w="med" len="med"/>
                    </a:lnR>
                    <a:lnT w="12700" cap="flat" cmpd="sng" algn="ctr">
                      <a:solidFill>
                        <a:srgbClr val="F8D956"/>
                      </a:solidFill>
                      <a:prstDash val="solid"/>
                      <a:round/>
                      <a:headEnd type="none" w="med" len="med"/>
                      <a:tailEnd type="none" w="med" len="med"/>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39242969"/>
                  </a:ext>
                </a:extLst>
              </a:tr>
              <a:tr h="370840">
                <a:tc>
                  <a:txBody>
                    <a:bodyPr/>
                    <a:lstStyle/>
                    <a:p>
                      <a:r>
                        <a:rPr kumimoji="0" lang="fr-FR" sz="1400" b="0" i="0" u="none" strike="noStrike" kern="1200" cap="none" spc="0" normalizeH="0" baseline="0" noProof="0" dirty="0">
                          <a:ln>
                            <a:noFill/>
                          </a:ln>
                          <a:solidFill>
                            <a:prstClr val="white"/>
                          </a:solidFill>
                          <a:effectLst/>
                          <a:uLnTx/>
                          <a:uFillTx/>
                          <a:latin typeface="+mn-lt"/>
                          <a:ea typeface="+mn-ea"/>
                          <a:cs typeface="+mn-cs"/>
                        </a:rPr>
                        <a:t>🏢 Nombre d'étages </a:t>
                      </a:r>
                      <a:endParaRPr lang="en-CA" sz="1400" dirty="0"/>
                    </a:p>
                  </a:txBody>
                  <a:tcPr>
                    <a:lnL w="12700" cap="flat" cmpd="sng" algn="ctr">
                      <a:solidFill>
                        <a:srgbClr val="F8D956"/>
                      </a:solidFill>
                      <a:prstDash val="solid"/>
                      <a:round/>
                      <a:headEnd type="none" w="med" len="med"/>
                      <a:tailEnd type="none" w="med" len="med"/>
                    </a:lnL>
                    <a:lnR w="12700" cap="flat" cmpd="sng" algn="ctr">
                      <a:no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r>
                        <a:rPr kumimoji="0" lang="fr-FR" sz="1400" b="0" i="0" u="none" strike="noStrike" kern="1200" cap="none" spc="0" normalizeH="0" baseline="0" noProof="0" dirty="0">
                          <a:ln>
                            <a:noFill/>
                          </a:ln>
                          <a:solidFill>
                            <a:prstClr val="white"/>
                          </a:solidFill>
                          <a:effectLst/>
                          <a:uLnTx/>
                          <a:uFillTx/>
                          <a:latin typeface="+mn-lt"/>
                          <a:ea typeface="+mn-ea"/>
                          <a:cs typeface="+mn-cs"/>
                        </a:rPr>
                        <a:t>4</a:t>
                      </a:r>
                      <a:endParaRPr lang="en-CA" sz="1400" dirty="0"/>
                    </a:p>
                  </a:txBody>
                  <a:tcPr>
                    <a:lnL w="12700" cap="flat" cmpd="sng" algn="ctr">
                      <a:noFill/>
                      <a:prstDash val="solid"/>
                      <a:round/>
                      <a:headEnd type="none" w="med" len="med"/>
                      <a:tailEnd type="none" w="med" len="med"/>
                    </a:lnL>
                    <a:lnR w="12700" cap="flat" cmpd="sng" algn="ctr">
                      <a:solidFill>
                        <a:srgbClr val="F8D956"/>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03354046"/>
                  </a:ext>
                </a:extLst>
              </a:tr>
              <a:tr h="370840">
                <a:tc>
                  <a:txBody>
                    <a:bodyPr/>
                    <a:lstStyle/>
                    <a:p>
                      <a:r>
                        <a:rPr kumimoji="0" lang="fr-FR" sz="1400" b="0" i="0" u="none" strike="noStrike" kern="1200" cap="none" spc="0" normalizeH="0" baseline="0" noProof="0" dirty="0">
                          <a:ln>
                            <a:noFill/>
                          </a:ln>
                          <a:solidFill>
                            <a:prstClr val="white"/>
                          </a:solidFill>
                          <a:effectLst/>
                          <a:uLnTx/>
                          <a:uFillTx/>
                          <a:latin typeface="+mn-lt"/>
                          <a:ea typeface="+mn-ea"/>
                          <a:cs typeface="+mn-cs"/>
                        </a:rPr>
                        <a:t>📐 Superficie habitable </a:t>
                      </a:r>
                      <a:endParaRPr lang="en-CA" sz="1400" dirty="0"/>
                    </a:p>
                  </a:txBody>
                  <a:tcPr>
                    <a:lnL w="12700" cap="flat" cmpd="sng" algn="ctr">
                      <a:solidFill>
                        <a:srgbClr val="F8D956"/>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CA" sz="1400" dirty="0">
                          <a:solidFill>
                            <a:schemeClr val="bg1"/>
                          </a:solidFill>
                        </a:rPr>
                        <a:t>À confirmer</a:t>
                      </a:r>
                      <a:endParaRPr lang="en-CA" sz="1400" dirty="0">
                        <a:solidFill>
                          <a:schemeClr val="bg1"/>
                        </a:solidFill>
                      </a:endParaRPr>
                    </a:p>
                  </a:txBody>
                  <a:tcPr>
                    <a:lnL w="12700" cap="flat" cmpd="sng" algn="ctr">
                      <a:noFill/>
                      <a:prstDash val="solid"/>
                      <a:round/>
                      <a:headEnd type="none" w="med" len="med"/>
                      <a:tailEnd type="none" w="med" len="med"/>
                    </a:lnL>
                    <a:lnR w="12700" cap="flat" cmpd="sng" algn="ctr">
                      <a:solidFill>
                        <a:srgbClr val="F8D956"/>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7328244"/>
                  </a:ext>
                </a:extLst>
              </a:tr>
              <a:tr h="370840">
                <a:tc>
                  <a:txBody>
                    <a:bodyPr/>
                    <a:lstStyle/>
                    <a:p>
                      <a:r>
                        <a:rPr kumimoji="0" lang="fr-FR" sz="1400" b="0" i="0" u="none" strike="noStrike" kern="1200" cap="none" spc="0" normalizeH="0" baseline="0" noProof="0" dirty="0">
                          <a:ln>
                            <a:noFill/>
                          </a:ln>
                          <a:solidFill>
                            <a:prstClr val="white"/>
                          </a:solidFill>
                          <a:effectLst/>
                          <a:uLnTx/>
                          <a:uFillTx/>
                          <a:latin typeface="+mn-lt"/>
                          <a:ea typeface="+mn-ea"/>
                          <a:cs typeface="+mn-cs"/>
                        </a:rPr>
                        <a:t>🏗️ Année de construction </a:t>
                      </a:r>
                      <a:endParaRPr lang="en-CA" sz="1400" dirty="0"/>
                    </a:p>
                  </a:txBody>
                  <a:tcPr>
                    <a:lnL w="12700" cap="flat" cmpd="sng" algn="ctr">
                      <a:solidFill>
                        <a:srgbClr val="F8D956"/>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prstClr val="white"/>
                          </a:solidFill>
                          <a:effectLst/>
                          <a:uLnTx/>
                          <a:uFillTx/>
                          <a:latin typeface="+mn-lt"/>
                          <a:ea typeface="+mn-ea"/>
                          <a:cs typeface="+mn-cs"/>
                        </a:rPr>
                        <a:t>1920</a:t>
                      </a:r>
                      <a:endParaRPr lang="en-CA" sz="1400" dirty="0"/>
                    </a:p>
                  </a:txBody>
                  <a:tcPr>
                    <a:lnL w="12700" cap="flat" cmpd="sng" algn="ctr">
                      <a:noFill/>
                      <a:prstDash val="solid"/>
                      <a:round/>
                      <a:headEnd type="none" w="med" len="med"/>
                      <a:tailEnd type="none" w="med" len="med"/>
                    </a:lnL>
                    <a:lnR w="12700" cap="flat" cmpd="sng" algn="ctr">
                      <a:solidFill>
                        <a:srgbClr val="F8D956"/>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5619713"/>
                  </a:ext>
                </a:extLst>
              </a:tr>
              <a:tr h="370840">
                <a:tc>
                  <a:txBody>
                    <a:bodyPr/>
                    <a:lstStyle/>
                    <a:p>
                      <a:r>
                        <a:rPr lang="en-CA" sz="1400" dirty="0"/>
                        <a:t>⚡</a:t>
                      </a:r>
                      <a:r>
                        <a:rPr lang="en-CA" sz="1400" dirty="0">
                          <a:solidFill>
                            <a:schemeClr val="bg1"/>
                          </a:solidFill>
                        </a:rPr>
                        <a:t>Frais </a:t>
                      </a:r>
                      <a:r>
                        <a:rPr lang="fr-CA" sz="1400" noProof="0" dirty="0">
                          <a:solidFill>
                            <a:schemeClr val="bg1"/>
                          </a:solidFill>
                        </a:rPr>
                        <a:t>énergétiques</a:t>
                      </a:r>
                      <a:endParaRPr lang="en-CA" sz="1400" dirty="0">
                        <a:solidFill>
                          <a:schemeClr val="bg1"/>
                        </a:solidFill>
                      </a:endParaRPr>
                    </a:p>
                  </a:txBody>
                  <a:tcPr>
                    <a:lnL w="12700" cap="flat" cmpd="sng" algn="ctr">
                      <a:solidFill>
                        <a:srgbClr val="F8D956"/>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400" dirty="0">
                          <a:solidFill>
                            <a:schemeClr val="bg1"/>
                          </a:solidFill>
                        </a:rPr>
                        <a:t>Propriétaire</a:t>
                      </a:r>
                      <a:endParaRPr lang="en-CA" sz="1400" dirty="0">
                        <a:solidFill>
                          <a:schemeClr val="bg1"/>
                        </a:solidFill>
                      </a:endParaRPr>
                    </a:p>
                  </a:txBody>
                  <a:tcPr>
                    <a:lnL w="12700" cap="flat" cmpd="sng" algn="ctr">
                      <a:noFill/>
                      <a:prstDash val="solid"/>
                      <a:round/>
                      <a:headEnd type="none" w="med" len="med"/>
                      <a:tailEnd type="none" w="med" len="med"/>
                    </a:lnL>
                    <a:lnR w="12700" cap="flat" cmpd="sng" algn="ctr">
                      <a:solidFill>
                        <a:srgbClr val="F8D956"/>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53687180"/>
                  </a:ext>
                </a:extLst>
              </a:tr>
              <a:tr h="370840">
                <a:tc>
                  <a:txBody>
                    <a:bodyPr/>
                    <a:lstStyle/>
                    <a:p>
                      <a:r>
                        <a:rPr kumimoji="0" lang="fr-FR" sz="1400" b="0" i="0" u="none" strike="noStrike" kern="1200" cap="none" spc="0" normalizeH="0" baseline="0" noProof="0" dirty="0">
                          <a:ln>
                            <a:noFill/>
                          </a:ln>
                          <a:solidFill>
                            <a:prstClr val="white"/>
                          </a:solidFill>
                          <a:effectLst/>
                          <a:uLnTx/>
                          <a:uFillTx/>
                          <a:latin typeface="+mn-lt"/>
                          <a:ea typeface="+mn-ea"/>
                          <a:cs typeface="+mn-cs"/>
                        </a:rPr>
                        <a:t>🚗 Stationnements </a:t>
                      </a:r>
                      <a:endParaRPr lang="en-CA" sz="1400" dirty="0"/>
                    </a:p>
                  </a:txBody>
                  <a:tcPr>
                    <a:lnL w="12700" cap="flat" cmpd="sng" algn="ctr">
                      <a:solidFill>
                        <a:srgbClr val="F8D956"/>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rgbClr val="F8D95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prstClr val="white"/>
                          </a:solidFill>
                          <a:effectLst/>
                          <a:uLnTx/>
                          <a:uFillTx/>
                          <a:latin typeface="+mn-lt"/>
                          <a:ea typeface="+mn-ea"/>
                          <a:cs typeface="+mn-cs"/>
                        </a:rPr>
                        <a:t>6  garages</a:t>
                      </a:r>
                      <a:endParaRPr lang="en-CA" sz="1400" dirty="0"/>
                    </a:p>
                  </a:txBody>
                  <a:tcPr>
                    <a:lnL w="12700" cap="flat" cmpd="sng" algn="ctr">
                      <a:noFill/>
                      <a:prstDash val="solid"/>
                      <a:round/>
                      <a:headEnd type="none" w="med" len="med"/>
                      <a:tailEnd type="none" w="med" len="med"/>
                    </a:lnL>
                    <a:lnR w="12700" cap="flat" cmpd="sng" algn="ctr">
                      <a:solidFill>
                        <a:srgbClr val="F8D956"/>
                      </a:solidFill>
                      <a:prstDash val="solid"/>
                      <a:round/>
                      <a:headEnd type="none" w="med" len="med"/>
                      <a:tailEnd type="none" w="med" len="med"/>
                    </a:lnR>
                    <a:lnT w="12700" cmpd="sng">
                      <a:noFill/>
                    </a:lnT>
                    <a:lnB w="12700" cap="flat" cmpd="sng" algn="ctr">
                      <a:solidFill>
                        <a:srgbClr val="F8D95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3169221"/>
                  </a:ext>
                </a:extLst>
              </a:tr>
            </a:tbl>
          </a:graphicData>
        </a:graphic>
      </p:graphicFrame>
      <p:sp>
        <p:nvSpPr>
          <p:cNvPr id="14" name="Oval 13">
            <a:extLst>
              <a:ext uri="{FF2B5EF4-FFF2-40B4-BE49-F238E27FC236}">
                <a16:creationId xmlns:a16="http://schemas.microsoft.com/office/drawing/2014/main" id="{7610488E-A4DA-E2B8-F18F-345B0D133BEA}"/>
              </a:ext>
            </a:extLst>
          </p:cNvPr>
          <p:cNvSpPr/>
          <p:nvPr/>
        </p:nvSpPr>
        <p:spPr>
          <a:xfrm>
            <a:off x="5646000" y="1624109"/>
            <a:ext cx="900000" cy="900000"/>
          </a:xfrm>
          <a:prstGeom prst="ellipse">
            <a:avLst/>
          </a:prstGeom>
          <a:noFill/>
          <a:ln>
            <a:solidFill>
              <a:srgbClr val="F8D95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Oval 14">
            <a:extLst>
              <a:ext uri="{FF2B5EF4-FFF2-40B4-BE49-F238E27FC236}">
                <a16:creationId xmlns:a16="http://schemas.microsoft.com/office/drawing/2014/main" id="{68887EAA-4B4C-A0F8-583A-FC848D90BE86}"/>
              </a:ext>
            </a:extLst>
          </p:cNvPr>
          <p:cNvSpPr/>
          <p:nvPr/>
        </p:nvSpPr>
        <p:spPr>
          <a:xfrm>
            <a:off x="5646000" y="4005583"/>
            <a:ext cx="900000" cy="900000"/>
          </a:xfrm>
          <a:prstGeom prst="ellipse">
            <a:avLst/>
          </a:prstGeom>
          <a:noFill/>
          <a:ln>
            <a:solidFill>
              <a:srgbClr val="F8D95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17" name="Straight Connector 16">
            <a:extLst>
              <a:ext uri="{FF2B5EF4-FFF2-40B4-BE49-F238E27FC236}">
                <a16:creationId xmlns:a16="http://schemas.microsoft.com/office/drawing/2014/main" id="{373649D1-7A2D-1BD3-2D7C-1AF15ECE59AA}"/>
              </a:ext>
            </a:extLst>
          </p:cNvPr>
          <p:cNvCxnSpPr>
            <a:stCxn id="14" idx="6"/>
            <a:endCxn id="12" idx="1"/>
          </p:cNvCxnSpPr>
          <p:nvPr/>
        </p:nvCxnSpPr>
        <p:spPr>
          <a:xfrm>
            <a:off x="6546000" y="2074109"/>
            <a:ext cx="374076" cy="2"/>
          </a:xfrm>
          <a:prstGeom prst="line">
            <a:avLst/>
          </a:prstGeom>
          <a:ln>
            <a:solidFill>
              <a:schemeClr val="bg1"/>
            </a:solidFill>
            <a:prstDash val="sysDash"/>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BEF9366A-4DC5-3463-6444-28073415511C}"/>
              </a:ext>
            </a:extLst>
          </p:cNvPr>
          <p:cNvCxnSpPr>
            <a:cxnSpLocks/>
            <a:stCxn id="15" idx="6"/>
            <a:endCxn id="13" idx="1"/>
          </p:cNvCxnSpPr>
          <p:nvPr/>
        </p:nvCxnSpPr>
        <p:spPr>
          <a:xfrm>
            <a:off x="6546000" y="4455583"/>
            <a:ext cx="374077" cy="147"/>
          </a:xfrm>
          <a:prstGeom prst="line">
            <a:avLst/>
          </a:prstGeom>
          <a:ln>
            <a:solidFill>
              <a:schemeClr val="bg1"/>
            </a:solidFill>
            <a:prstDash val="sysDash"/>
          </a:ln>
        </p:spPr>
        <p:style>
          <a:lnRef idx="2">
            <a:schemeClr val="accent1"/>
          </a:lnRef>
          <a:fillRef idx="0">
            <a:schemeClr val="accent1"/>
          </a:fillRef>
          <a:effectRef idx="1">
            <a:schemeClr val="accent1"/>
          </a:effectRef>
          <a:fontRef idx="minor">
            <a:schemeClr val="tx1"/>
          </a:fontRef>
        </p:style>
      </p:cxnSp>
      <p:pic>
        <p:nvPicPr>
          <p:cNvPr id="25" name="Graphic 24" descr="Coins outline">
            <a:extLst>
              <a:ext uri="{FF2B5EF4-FFF2-40B4-BE49-F238E27FC236}">
                <a16:creationId xmlns:a16="http://schemas.microsoft.com/office/drawing/2014/main" id="{63215241-9172-63CC-DA1B-BE02B1C24A9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81000" y="1759109"/>
            <a:ext cx="630000" cy="630000"/>
          </a:xfrm>
          <a:prstGeom prst="rect">
            <a:avLst/>
          </a:prstGeom>
        </p:spPr>
      </p:pic>
      <p:pic>
        <p:nvPicPr>
          <p:cNvPr id="27" name="Graphic 26" descr="Hammer outline">
            <a:extLst>
              <a:ext uri="{FF2B5EF4-FFF2-40B4-BE49-F238E27FC236}">
                <a16:creationId xmlns:a16="http://schemas.microsoft.com/office/drawing/2014/main" id="{E0C50832-904D-E877-F4A7-F11EA423125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781000" y="4140583"/>
            <a:ext cx="630000" cy="630000"/>
          </a:xfrm>
          <a:prstGeom prst="rect">
            <a:avLst/>
          </a:prstGeom>
        </p:spPr>
      </p:pic>
    </p:spTree>
    <p:extLst>
      <p:ext uri="{BB962C8B-B14F-4D97-AF65-F5344CB8AC3E}">
        <p14:creationId xmlns:p14="http://schemas.microsoft.com/office/powerpoint/2010/main" val="27462270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a:extLst>
            <a:ext uri="{FF2B5EF4-FFF2-40B4-BE49-F238E27FC236}">
              <a16:creationId xmlns:a16="http://schemas.microsoft.com/office/drawing/2014/main" id="{FE0A639B-DF08-2A46-956B-40A8907A64C6}"/>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2D2764B6-D1BC-D0C4-A627-9443845E9A8C}"/>
              </a:ext>
            </a:extLst>
          </p:cNvPr>
          <p:cNvSpPr txBox="1">
            <a:spLocks/>
          </p:cNvSpPr>
          <p:nvPr/>
        </p:nvSpPr>
        <p:spPr>
          <a:xfrm>
            <a:off x="780673" y="410425"/>
            <a:ext cx="7261157" cy="717279"/>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Aptos Display" panose="02110004020202020204"/>
                <a:ea typeface="+mj-ea"/>
                <a:cs typeface="+mj-cs"/>
              </a:rPr>
              <a:t>OPPORTUNITÉ UNIQUE</a:t>
            </a:r>
            <a:endParaRPr kumimoji="0" lang="en-US" sz="4400" b="0" i="0" u="none" strike="noStrike" kern="1200" cap="none" spc="0" normalizeH="0" baseline="0" noProof="0" dirty="0">
              <a:ln>
                <a:noFill/>
              </a:ln>
              <a:solidFill>
                <a:prstClr val="black"/>
              </a:solidFill>
              <a:effectLst/>
              <a:uLnTx/>
              <a:uFillTx/>
              <a:latin typeface="Aptos Display" panose="02110004020202020204"/>
              <a:ea typeface="+mj-ea"/>
              <a:cs typeface="+mj-cs"/>
            </a:endParaRPr>
          </a:p>
        </p:txBody>
      </p:sp>
      <p:sp>
        <p:nvSpPr>
          <p:cNvPr id="8" name="TextBox 7">
            <a:extLst>
              <a:ext uri="{FF2B5EF4-FFF2-40B4-BE49-F238E27FC236}">
                <a16:creationId xmlns:a16="http://schemas.microsoft.com/office/drawing/2014/main" id="{E48B1D43-1C1C-39F6-63BF-18FAC9B93833}"/>
              </a:ext>
            </a:extLst>
          </p:cNvPr>
          <p:cNvSpPr txBox="1"/>
          <p:nvPr/>
        </p:nvSpPr>
        <p:spPr>
          <a:xfrm>
            <a:off x="184326" y="6476025"/>
            <a:ext cx="596347"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200" dirty="0">
                <a:solidFill>
                  <a:prstClr val="white"/>
                </a:solidFill>
                <a:latin typeface="Aptos" panose="02110004020202020204"/>
              </a:rPr>
              <a:t>4</a:t>
            </a:r>
            <a:endParaRPr kumimoji="0" lang="en-CA" sz="12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4" name="Rectangle 23">
            <a:extLst>
              <a:ext uri="{FF2B5EF4-FFF2-40B4-BE49-F238E27FC236}">
                <a16:creationId xmlns:a16="http://schemas.microsoft.com/office/drawing/2014/main" id="{078DBEC9-D829-3304-78CC-698984B34319}"/>
              </a:ext>
            </a:extLst>
          </p:cNvPr>
          <p:cNvSpPr/>
          <p:nvPr/>
        </p:nvSpPr>
        <p:spPr>
          <a:xfrm>
            <a:off x="895060" y="971550"/>
            <a:ext cx="1929109" cy="85725"/>
          </a:xfrm>
          <a:prstGeom prst="rect">
            <a:avLst/>
          </a:prstGeom>
          <a:solidFill>
            <a:srgbClr val="F8D95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noFill/>
              <a:effectLst/>
              <a:uLnTx/>
              <a:uFillTx/>
              <a:latin typeface="Aptos" panose="02110004020202020204"/>
              <a:ea typeface="+mn-ea"/>
              <a:cs typeface="+mn-cs"/>
            </a:endParaRPr>
          </a:p>
        </p:txBody>
      </p:sp>
      <p:pic>
        <p:nvPicPr>
          <p:cNvPr id="3" name="Picture 2">
            <a:extLst>
              <a:ext uri="{FF2B5EF4-FFF2-40B4-BE49-F238E27FC236}">
                <a16:creationId xmlns:a16="http://schemas.microsoft.com/office/drawing/2014/main" id="{ABE12A91-7B95-7996-C8AA-F0B9AF6C15E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188861" y="6031860"/>
            <a:ext cx="998416" cy="998416"/>
          </a:xfrm>
          <a:prstGeom prst="rect">
            <a:avLst/>
          </a:prstGeom>
        </p:spPr>
      </p:pic>
      <p:sp>
        <p:nvSpPr>
          <p:cNvPr id="31" name="TextBox 30">
            <a:extLst>
              <a:ext uri="{FF2B5EF4-FFF2-40B4-BE49-F238E27FC236}">
                <a16:creationId xmlns:a16="http://schemas.microsoft.com/office/drawing/2014/main" id="{FE0D4FCE-AB0D-EB4D-7342-37E0C0222D97}"/>
              </a:ext>
            </a:extLst>
          </p:cNvPr>
          <p:cNvSpPr txBox="1"/>
          <p:nvPr/>
        </p:nvSpPr>
        <p:spPr>
          <a:xfrm>
            <a:off x="895060" y="1127704"/>
            <a:ext cx="6509761" cy="2369623"/>
          </a:xfrm>
          <a:prstGeom prst="rect">
            <a:avLst/>
          </a:prstGeom>
          <a:noFill/>
        </p:spPr>
        <p:txBody>
          <a:bodyPr wrap="square" rtlCol="0">
            <a:spAutoFit/>
          </a:bodyPr>
          <a:lstStyle/>
          <a:p>
            <a:pPr marL="285750" marR="0" lvl="0" indent="-285750"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fr-CA" sz="1400" dirty="0">
                <a:solidFill>
                  <a:prstClr val="white"/>
                </a:solidFill>
                <a:latin typeface="Aptos" panose="02110004020202020204"/>
              </a:rPr>
              <a:t>Unités énormes à gros potentiel d'optimisation</a:t>
            </a:r>
            <a:endParaRPr kumimoji="0" lang="fr-CA" sz="1400" b="0" i="0" u="none" strike="noStrike" kern="1200" cap="none" spc="0" normalizeH="0" baseline="0" noProof="0" dirty="0">
              <a:ln>
                <a:noFill/>
              </a:ln>
              <a:solidFill>
                <a:prstClr val="white"/>
              </a:solidFill>
              <a:effectLst/>
              <a:uLnTx/>
              <a:uFillTx/>
              <a:latin typeface="Aptos" panose="02110004020202020204"/>
              <a:ea typeface="+mn-ea"/>
              <a:cs typeface="+mn-cs"/>
            </a:endParaRPr>
          </a:p>
          <a:p>
            <a:pPr marL="285750" marR="0" lvl="0" indent="-285750"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CA" sz="1400" b="0" i="0" u="none" strike="noStrike" kern="1200" cap="none" spc="0" normalizeH="0" baseline="0" noProof="0" dirty="0">
                <a:ln>
                  <a:noFill/>
                </a:ln>
                <a:solidFill>
                  <a:prstClr val="white"/>
                </a:solidFill>
                <a:effectLst/>
                <a:uLnTx/>
                <a:uFillTx/>
                <a:latin typeface="Aptos" panose="02110004020202020204"/>
                <a:ea typeface="+mn-ea"/>
                <a:cs typeface="+mn-cs"/>
              </a:rPr>
              <a:t>Loyers moyens actuels sous le marché (6 garages en plus!)</a:t>
            </a:r>
            <a:endParaRPr kumimoji="0" lang="fr-CA" sz="1400" b="1" i="0" u="none" strike="noStrike" kern="1200" cap="none" spc="0" normalizeH="0" baseline="0" noProof="0" dirty="0">
              <a:ln>
                <a:noFill/>
              </a:ln>
              <a:solidFill>
                <a:srgbClr val="F8D956"/>
              </a:solidFill>
              <a:effectLst/>
              <a:uLnTx/>
              <a:uFillTx/>
              <a:latin typeface="Aptos" panose="02110004020202020204"/>
              <a:ea typeface="+mn-ea"/>
              <a:cs typeface="+mn-cs"/>
            </a:endParaRPr>
          </a:p>
          <a:p>
            <a:pPr marL="285750" indent="-285750">
              <a:lnSpc>
                <a:spcPct val="150000"/>
              </a:lnSpc>
              <a:buFont typeface="Arial" panose="020B0604020202020204" pitchFamily="34" charset="0"/>
              <a:buChar char="•"/>
            </a:pPr>
            <a:r>
              <a:rPr lang="fr-FR" sz="1400" b="0" dirty="0">
                <a:solidFill>
                  <a:srgbClr val="FFFFFF"/>
                </a:solidFill>
              </a:rPr>
              <a:t>Potentiel d'augmentation via optimisation et conversion en chambres</a:t>
            </a:r>
            <a:endParaRPr lang="fr-CA" sz="1400" dirty="0">
              <a:solidFill>
                <a:prstClr val="white"/>
              </a:solidFill>
              <a:latin typeface="Aptos" panose="02110004020202020204"/>
            </a:endParaRPr>
          </a:p>
          <a:p>
            <a:pPr marL="285750" marR="0" lvl="0" indent="-285750"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fr-CA" sz="1400" dirty="0">
                <a:solidFill>
                  <a:prstClr val="white"/>
                </a:solidFill>
                <a:latin typeface="Aptos" panose="02110004020202020204"/>
              </a:rPr>
              <a:t>Demande forte | Secteur Montréal | À côté du métro</a:t>
            </a:r>
          </a:p>
          <a:p>
            <a:pPr marL="285750" lvl="0" indent="-285750">
              <a:lnSpc>
                <a:spcPct val="150000"/>
              </a:lnSpc>
              <a:buFont typeface="Arial" panose="020B0604020202020204" pitchFamily="34" charset="0"/>
              <a:buChar char="•"/>
              <a:defRPr/>
            </a:pPr>
            <a:r>
              <a:rPr kumimoji="0" lang="fr-CA" sz="1400" b="0" i="0" u="none" strike="noStrike" kern="1200" cap="none" spc="0" normalizeH="0" baseline="0" noProof="0" dirty="0">
                <a:ln>
                  <a:noFill/>
                </a:ln>
                <a:solidFill>
                  <a:prstClr val="white"/>
                </a:solidFill>
                <a:effectLst/>
                <a:uLnTx/>
                <a:uFillTx/>
                <a:latin typeface="Aptos" panose="02110004020202020204"/>
                <a:ea typeface="+mn-ea"/>
                <a:cs typeface="+mn-cs"/>
              </a:rPr>
              <a:t>Immeuble beaucoup plus petit en vente à 1,9 M$ </a:t>
            </a:r>
            <a:r>
              <a:rPr lang="fr-CA" sz="800" dirty="0">
                <a:solidFill>
                  <a:prstClr val="white"/>
                </a:solidFill>
                <a:hlinkClick r:id="rId3"/>
              </a:rPr>
              <a:t>https://www.centris.ca/fr/multifamilial~a-vendre~montreal-mercier-hochelaga-maisonneuve/25650511</a:t>
            </a:r>
            <a:endParaRPr lang="fr-CA" sz="800" dirty="0">
              <a:solidFill>
                <a:prstClr val="white"/>
              </a:solidFill>
            </a:endParaRPr>
          </a:p>
          <a:p>
            <a:pPr marL="285750" lvl="0" indent="-285750">
              <a:lnSpc>
                <a:spcPct val="150000"/>
              </a:lnSpc>
              <a:buFont typeface="Arial" panose="020B0604020202020204" pitchFamily="34" charset="0"/>
              <a:buChar char="•"/>
              <a:defRPr/>
            </a:pPr>
            <a:endParaRPr kumimoji="0" lang="fr-CA" sz="800" b="0" i="0" u="none" strike="noStrike" kern="1200" cap="none" spc="0" normalizeH="0" baseline="0" noProof="0" dirty="0">
              <a:ln>
                <a:noFill/>
              </a:ln>
              <a:solidFill>
                <a:prstClr val="white"/>
              </a:solidFill>
              <a:effectLst/>
              <a:uLnTx/>
              <a:uFillTx/>
              <a:latin typeface="Aptos" panose="02110004020202020204"/>
              <a:ea typeface="+mn-ea"/>
              <a:cs typeface="+mn-cs"/>
            </a:endParaRPr>
          </a:p>
          <a:p>
            <a:pPr marL="285750" marR="0" lvl="0" indent="-285750"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endParaRPr kumimoji="0" lang="fr-CA" sz="14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pic>
        <p:nvPicPr>
          <p:cNvPr id="77" name="Picture 76">
            <a:extLst>
              <a:ext uri="{FF2B5EF4-FFF2-40B4-BE49-F238E27FC236}">
                <a16:creationId xmlns:a16="http://schemas.microsoft.com/office/drawing/2014/main" id="{0B286614-A61E-658E-67A7-BD52C86E28C7}"/>
              </a:ext>
            </a:extLst>
          </p:cNvPr>
          <p:cNvPicPr>
            <a:picLocks noChangeAspect="1"/>
          </p:cNvPicPr>
          <p:nvPr/>
        </p:nvPicPr>
        <p:blipFill>
          <a:blip r:embed="rId7">
            <a:extLst>
              <a:ext uri="{28A0092B-C50C-407E-A947-70E740481C1C}">
                <a14:useLocalDpi xmlns:a14="http://schemas.microsoft.com/office/drawing/2010/main" val="0"/>
              </a:ext>
            </a:extLst>
          </a:blip>
          <a:stretch/>
        </p:blipFill>
        <p:spPr>
          <a:xfrm>
            <a:off x="1535719" y="3179288"/>
            <a:ext cx="5104368" cy="3268287"/>
          </a:xfrm>
          <a:prstGeom prst="rect">
            <a:avLst/>
          </a:prstGeom>
        </p:spPr>
      </p:pic>
      <p:graphicFrame>
        <p:nvGraphicFramePr>
          <p:cNvPr id="80" name="Chart 79">
            <a:extLst>
              <a:ext uri="{FF2B5EF4-FFF2-40B4-BE49-F238E27FC236}">
                <a16:creationId xmlns:a16="http://schemas.microsoft.com/office/drawing/2014/main" id="{9AFACA9B-1DBF-9874-916A-46E80BDE95F2}"/>
              </a:ext>
            </a:extLst>
          </p:cNvPr>
          <p:cNvGraphicFramePr/>
          <p:nvPr>
            <p:extLst>
              <p:ext uri="{D42A27DB-BD31-4B8C-83A1-F6EECF244321}">
                <p14:modId xmlns:p14="http://schemas.microsoft.com/office/powerpoint/2010/main" val="3173215541"/>
              </p:ext>
            </p:extLst>
          </p:nvPr>
        </p:nvGraphicFramePr>
        <p:xfrm>
          <a:off x="8377234" y="3477799"/>
          <a:ext cx="3202609" cy="2269114"/>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86" name="Chart 85">
            <a:extLst>
              <a:ext uri="{FF2B5EF4-FFF2-40B4-BE49-F238E27FC236}">
                <a16:creationId xmlns:a16="http://schemas.microsoft.com/office/drawing/2014/main" id="{AC9D430D-4DCC-8BD1-1944-25AE81BC5D6C}"/>
              </a:ext>
            </a:extLst>
          </p:cNvPr>
          <p:cNvGraphicFramePr/>
          <p:nvPr>
            <p:extLst>
              <p:ext uri="{D42A27DB-BD31-4B8C-83A1-F6EECF244321}">
                <p14:modId xmlns:p14="http://schemas.microsoft.com/office/powerpoint/2010/main" val="706384424"/>
              </p:ext>
            </p:extLst>
          </p:nvPr>
        </p:nvGraphicFramePr>
        <p:xfrm>
          <a:off x="8377235" y="504967"/>
          <a:ext cx="3202609" cy="2502335"/>
        </p:xfrm>
        <a:graphic>
          <a:graphicData uri="http://schemas.openxmlformats.org/drawingml/2006/chart">
            <c:chart xmlns:c="http://schemas.openxmlformats.org/drawingml/2006/chart" xmlns:r="http://schemas.openxmlformats.org/officeDocument/2006/relationships" r:id="rId6"/>
          </a:graphicData>
        </a:graphic>
      </p:graphicFrame>
      <p:cxnSp>
        <p:nvCxnSpPr>
          <p:cNvPr id="4" name="Straight Arrow Connector 3">
            <a:extLst>
              <a:ext uri="{FF2B5EF4-FFF2-40B4-BE49-F238E27FC236}">
                <a16:creationId xmlns:a16="http://schemas.microsoft.com/office/drawing/2014/main" id="{00298648-51E2-604A-1C2E-C84F491DE75C}"/>
              </a:ext>
            </a:extLst>
          </p:cNvPr>
          <p:cNvCxnSpPr>
            <a:cxnSpLocks/>
          </p:cNvCxnSpPr>
          <p:nvPr/>
        </p:nvCxnSpPr>
        <p:spPr>
          <a:xfrm>
            <a:off x="10181230" y="1214651"/>
            <a:ext cx="0" cy="844394"/>
          </a:xfrm>
          <a:prstGeom prst="straightConnector1">
            <a:avLst/>
          </a:prstGeom>
          <a:ln>
            <a:solidFill>
              <a:srgbClr val="EF3E45"/>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B9F2800D-0CB3-CD23-59B6-071892C1F7AC}"/>
              </a:ext>
            </a:extLst>
          </p:cNvPr>
          <p:cNvSpPr txBox="1"/>
          <p:nvPr/>
        </p:nvSpPr>
        <p:spPr>
          <a:xfrm>
            <a:off x="9717205" y="879946"/>
            <a:ext cx="1525143" cy="384464"/>
          </a:xfrm>
          <a:prstGeom prst="rect">
            <a:avLst/>
          </a:prstGeom>
          <a:noFill/>
        </p:spPr>
        <p:txBody>
          <a:bodyPr wrap="square" rtlCol="0">
            <a:spAutoFit/>
          </a:bodyPr>
          <a:lstStyle/>
          <a:p>
            <a:pPr marR="0" lvl="0" defTabSz="914400" rtl="0" eaLnBrk="1" fontAlgn="auto" latinLnBrk="0" hangingPunct="1">
              <a:lnSpc>
                <a:spcPct val="150000"/>
              </a:lnSpc>
              <a:spcBef>
                <a:spcPts val="0"/>
              </a:spcBef>
              <a:spcAft>
                <a:spcPts val="0"/>
              </a:spcAft>
              <a:buClrTx/>
              <a:buSzTx/>
              <a:tabLst/>
              <a:defRPr/>
            </a:pPr>
            <a:r>
              <a:rPr lang="fr-CA" sz="1400" dirty="0">
                <a:solidFill>
                  <a:srgbClr val="EF3E45"/>
                </a:solidFill>
                <a:latin typeface="Aptos" panose="02110004020202020204"/>
              </a:rPr>
              <a:t>+200 000$</a:t>
            </a:r>
            <a:endParaRPr kumimoji="0" lang="fr-CA" sz="1400" b="0" i="0" u="none" strike="noStrike" kern="1200" cap="none" spc="0" normalizeH="0" baseline="0" noProof="0" dirty="0">
              <a:ln>
                <a:noFill/>
              </a:ln>
              <a:solidFill>
                <a:srgbClr val="EF3E45"/>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55023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a:extLst>
            <a:ext uri="{FF2B5EF4-FFF2-40B4-BE49-F238E27FC236}">
              <a16:creationId xmlns:a16="http://schemas.microsoft.com/office/drawing/2014/main" id="{7B507E65-16CE-3A02-5A37-81F521450537}"/>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94836D52-267C-5061-1DE3-EF2AE644BDF5}"/>
              </a:ext>
            </a:extLst>
          </p:cNvPr>
          <p:cNvSpPr txBox="1">
            <a:spLocks/>
          </p:cNvSpPr>
          <p:nvPr/>
        </p:nvSpPr>
        <p:spPr>
          <a:xfrm>
            <a:off x="780673" y="410425"/>
            <a:ext cx="7261157" cy="717279"/>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Aptos Display" panose="02110004020202020204"/>
                <a:ea typeface="+mj-ea"/>
                <a:cs typeface="+mj-cs"/>
              </a:rPr>
              <a:t>PLAN DE CRÉATION DE VALEUR</a:t>
            </a:r>
            <a:endParaRPr kumimoji="0" lang="en-US" sz="4400" b="0" i="0" u="none" strike="noStrike" kern="1200" cap="none" spc="0" normalizeH="0" baseline="0" noProof="0" dirty="0">
              <a:ln>
                <a:noFill/>
              </a:ln>
              <a:solidFill>
                <a:prstClr val="black"/>
              </a:solidFill>
              <a:effectLst/>
              <a:uLnTx/>
              <a:uFillTx/>
              <a:latin typeface="Aptos Display" panose="02110004020202020204"/>
              <a:ea typeface="+mj-ea"/>
              <a:cs typeface="+mj-cs"/>
            </a:endParaRPr>
          </a:p>
        </p:txBody>
      </p:sp>
      <p:sp>
        <p:nvSpPr>
          <p:cNvPr id="8" name="TextBox 7">
            <a:extLst>
              <a:ext uri="{FF2B5EF4-FFF2-40B4-BE49-F238E27FC236}">
                <a16:creationId xmlns:a16="http://schemas.microsoft.com/office/drawing/2014/main" id="{2823BFA8-45DC-0265-F1CD-DA56736C0B81}"/>
              </a:ext>
            </a:extLst>
          </p:cNvPr>
          <p:cNvSpPr txBox="1"/>
          <p:nvPr/>
        </p:nvSpPr>
        <p:spPr>
          <a:xfrm>
            <a:off x="184326" y="6476025"/>
            <a:ext cx="596347"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CA" sz="1200" b="0" i="0" u="none" strike="noStrike" kern="1200" cap="none" spc="0" normalizeH="0" baseline="0" noProof="0" dirty="0">
                <a:ln>
                  <a:noFill/>
                </a:ln>
                <a:solidFill>
                  <a:prstClr val="white"/>
                </a:solidFill>
                <a:effectLst/>
                <a:uLnTx/>
                <a:uFillTx/>
                <a:latin typeface="Aptos" panose="02110004020202020204"/>
                <a:ea typeface="+mn-ea"/>
                <a:cs typeface="+mn-cs"/>
              </a:rPr>
              <a:t>5</a:t>
            </a:r>
            <a:endParaRPr kumimoji="0" lang="en-CA" sz="12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4" name="Rectangle 23">
            <a:extLst>
              <a:ext uri="{FF2B5EF4-FFF2-40B4-BE49-F238E27FC236}">
                <a16:creationId xmlns:a16="http://schemas.microsoft.com/office/drawing/2014/main" id="{928778E0-6136-9BBF-65B4-DC816BAA754D}"/>
              </a:ext>
            </a:extLst>
          </p:cNvPr>
          <p:cNvSpPr/>
          <p:nvPr/>
        </p:nvSpPr>
        <p:spPr>
          <a:xfrm>
            <a:off x="895060" y="971550"/>
            <a:ext cx="1929109" cy="85725"/>
          </a:xfrm>
          <a:prstGeom prst="rect">
            <a:avLst/>
          </a:prstGeom>
          <a:solidFill>
            <a:srgbClr val="F8D95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noFill/>
              <a:effectLst/>
              <a:uLnTx/>
              <a:uFillTx/>
              <a:latin typeface="Aptos" panose="02110004020202020204"/>
              <a:ea typeface="+mn-ea"/>
              <a:cs typeface="+mn-cs"/>
            </a:endParaRPr>
          </a:p>
        </p:txBody>
      </p:sp>
      <p:pic>
        <p:nvPicPr>
          <p:cNvPr id="3" name="Picture 2">
            <a:extLst>
              <a:ext uri="{FF2B5EF4-FFF2-40B4-BE49-F238E27FC236}">
                <a16:creationId xmlns:a16="http://schemas.microsoft.com/office/drawing/2014/main" id="{F141F98E-1F02-5804-35B0-0A6ED7B943B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188861" y="6031860"/>
            <a:ext cx="998416" cy="998416"/>
          </a:xfrm>
          <a:prstGeom prst="rect">
            <a:avLst/>
          </a:prstGeom>
        </p:spPr>
      </p:pic>
      <p:graphicFrame>
        <p:nvGraphicFramePr>
          <p:cNvPr id="13" name="Table 12">
            <a:extLst>
              <a:ext uri="{FF2B5EF4-FFF2-40B4-BE49-F238E27FC236}">
                <a16:creationId xmlns:a16="http://schemas.microsoft.com/office/drawing/2014/main" id="{FFFC4B53-8B08-D79A-5AA8-D8C7F3CD7F0E}"/>
              </a:ext>
            </a:extLst>
          </p:cNvPr>
          <p:cNvGraphicFramePr>
            <a:graphicFrameLocks noGrp="1"/>
          </p:cNvGraphicFramePr>
          <p:nvPr>
            <p:extLst>
              <p:ext uri="{D42A27DB-BD31-4B8C-83A1-F6EECF244321}">
                <p14:modId xmlns:p14="http://schemas.microsoft.com/office/powerpoint/2010/main" val="3014268453"/>
              </p:ext>
            </p:extLst>
          </p:nvPr>
        </p:nvGraphicFramePr>
        <p:xfrm>
          <a:off x="6789358" y="1378425"/>
          <a:ext cx="3877550" cy="1506936"/>
        </p:xfrm>
        <a:graphic>
          <a:graphicData uri="http://schemas.openxmlformats.org/drawingml/2006/table">
            <a:tbl>
              <a:tblPr firstRow="1" bandRow="1">
                <a:tableStyleId>{5C22544A-7EE6-4342-B048-85BDC9FD1C3A}</a:tableStyleId>
              </a:tblPr>
              <a:tblGrid>
                <a:gridCol w="1938775">
                  <a:extLst>
                    <a:ext uri="{9D8B030D-6E8A-4147-A177-3AD203B41FA5}">
                      <a16:colId xmlns:a16="http://schemas.microsoft.com/office/drawing/2014/main" val="4212165967"/>
                    </a:ext>
                  </a:extLst>
                </a:gridCol>
                <a:gridCol w="1938775">
                  <a:extLst>
                    <a:ext uri="{9D8B030D-6E8A-4147-A177-3AD203B41FA5}">
                      <a16:colId xmlns:a16="http://schemas.microsoft.com/office/drawing/2014/main" val="200245831"/>
                    </a:ext>
                  </a:extLst>
                </a:gridCol>
              </a:tblGrid>
              <a:tr h="286571">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dirty="0">
                          <a:ln>
                            <a:noFill/>
                          </a:ln>
                          <a:solidFill>
                            <a:prstClr val="white"/>
                          </a:solidFill>
                          <a:effectLst/>
                          <a:uLnTx/>
                          <a:uFillTx/>
                          <a:latin typeface="+mn-lt"/>
                          <a:ea typeface="+mn-ea"/>
                          <a:cs typeface="+mn-cs"/>
                        </a:rPr>
                        <a:t>Après</a:t>
                      </a:r>
                      <a:endParaRPr kumimoji="0" lang="en-CA" sz="14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12700" cap="flat" cmpd="sng" algn="ctr">
                      <a:solidFill>
                        <a:srgbClr val="F8D956"/>
                      </a:solidFill>
                      <a:prstDash val="solid"/>
                      <a:round/>
                      <a:headEnd type="none" w="med" len="med"/>
                      <a:tailEnd type="none" w="med" len="med"/>
                    </a:lnL>
                    <a:lnR w="12700" cap="flat" cmpd="sng" algn="ctr">
                      <a:solidFill>
                        <a:srgbClr val="F8D956"/>
                      </a:solidFill>
                      <a:prstDash val="solid"/>
                      <a:round/>
                      <a:headEnd type="none" w="med" len="med"/>
                      <a:tailEnd type="none" w="med" len="med"/>
                    </a:lnR>
                    <a:lnT w="12700" cap="flat" cmpd="sng" algn="ctr">
                      <a:solidFill>
                        <a:srgbClr val="F8D956"/>
                      </a:solidFill>
                      <a:prstDash val="solid"/>
                      <a:round/>
                      <a:headEnd type="none" w="med" len="med"/>
                      <a:tailEnd type="none" w="med" len="med"/>
                    </a:lnT>
                    <a:lnB w="38100" cmpd="sng">
                      <a:noFill/>
                    </a:lnB>
                    <a:lnTlToBr w="12700" cmpd="sng">
                      <a:noFill/>
                      <a:prstDash val="solid"/>
                    </a:lnTlToBr>
                    <a:lnBlToTr w="12700" cmpd="sng">
                      <a:noFill/>
                      <a:prstDash val="solid"/>
                    </a:lnBlToTr>
                    <a:solidFill>
                      <a:srgbClr val="F8D956">
                        <a:alpha val="10000"/>
                      </a:srgbClr>
                    </a:solidFill>
                  </a:tcPr>
                </a:tc>
                <a:tc hMerge="1">
                  <a:txBody>
                    <a:bodyPr/>
                    <a:lstStyle/>
                    <a:p>
                      <a:endParaRPr dirty="0"/>
                    </a:p>
                  </a:txBody>
                  <a:tcPr>
                    <a:lnL w="12700" cap="flat" cmpd="sng" algn="ctr">
                      <a:noFill/>
                      <a:prstDash val="solid"/>
                      <a:round/>
                      <a:headEnd type="none" w="med" len="med"/>
                      <a:tailEnd type="none" w="med" len="med"/>
                    </a:lnL>
                    <a:lnR w="12700" cap="flat" cmpd="sng" algn="ctr">
                      <a:solidFill>
                        <a:srgbClr val="F8D956"/>
                      </a:solidFill>
                      <a:prstDash val="solid"/>
                      <a:round/>
                      <a:headEnd type="none" w="med" len="med"/>
                      <a:tailEnd type="none" w="med" len="med"/>
                    </a:lnR>
                    <a:lnT w="12700" cap="flat" cmpd="sng" algn="ctr">
                      <a:solidFill>
                        <a:srgbClr val="F8D956"/>
                      </a:solidFill>
                      <a:prstDash val="solid"/>
                      <a:round/>
                      <a:headEnd type="none" w="med" len="med"/>
                      <a:tailEnd type="none" w="med" len="med"/>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39242969"/>
                  </a:ext>
                </a:extLst>
              </a:tr>
              <a:tr h="300534">
                <a:tc>
                  <a:txBody>
                    <a:bodyPr/>
                    <a:lstStyle/>
                    <a:p>
                      <a:r>
                        <a:rPr kumimoji="0" lang="fr-FR" sz="1200" b="0" i="0" u="none" strike="noStrike" kern="1200" cap="none" spc="0" normalizeH="0" baseline="0" noProof="0" dirty="0">
                          <a:ln>
                            <a:noFill/>
                          </a:ln>
                          <a:solidFill>
                            <a:prstClr val="white"/>
                          </a:solidFill>
                          <a:effectLst/>
                          <a:uLnTx/>
                          <a:uFillTx/>
                          <a:latin typeface="+mn-lt"/>
                          <a:ea typeface="+mn-ea"/>
                          <a:cs typeface="+mn-cs"/>
                        </a:rPr>
                        <a:t>Moyenne locative</a:t>
                      </a:r>
                      <a:endParaRPr lang="en-CA" sz="1200" dirty="0"/>
                    </a:p>
                  </a:txBody>
                  <a:tcPr>
                    <a:lnL w="12700" cap="flat" cmpd="sng" algn="ctr">
                      <a:solidFill>
                        <a:srgbClr val="F8D956"/>
                      </a:solidFill>
                      <a:prstDash val="solid"/>
                      <a:round/>
                      <a:headEnd type="none" w="med" len="med"/>
                      <a:tailEnd type="none" w="med" len="med"/>
                    </a:lnL>
                    <a:lnR w="12700" cap="flat" cmpd="sng" algn="ctr">
                      <a:no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rgbClr val="F8D956">
                        <a:alpha val="10000"/>
                      </a:srgbClr>
                    </a:solidFill>
                  </a:tcPr>
                </a:tc>
                <a:tc>
                  <a:txBody>
                    <a:bodyPr/>
                    <a:lstStyle/>
                    <a:p>
                      <a:r>
                        <a:rPr kumimoji="0" lang="fr-FR" sz="1200" b="0" i="0" u="none" strike="noStrike" kern="1200" cap="none" spc="0" normalizeH="0" baseline="0" noProof="0" dirty="0">
                          <a:ln>
                            <a:noFill/>
                          </a:ln>
                          <a:solidFill>
                            <a:prstClr val="white"/>
                          </a:solidFill>
                          <a:effectLst/>
                          <a:uLnTx/>
                          <a:uFillTx/>
                          <a:latin typeface="+mn-lt"/>
                          <a:ea typeface="+mn-ea"/>
                          <a:cs typeface="+mn-cs"/>
                        </a:rPr>
                        <a:t>2200$</a:t>
                      </a:r>
                      <a:endParaRPr lang="en-CA" sz="1200" dirty="0"/>
                    </a:p>
                  </a:txBody>
                  <a:tcPr>
                    <a:lnL w="12700" cap="flat" cmpd="sng" algn="ctr">
                      <a:noFill/>
                      <a:prstDash val="solid"/>
                      <a:round/>
                      <a:headEnd type="none" w="med" len="med"/>
                      <a:tailEnd type="none" w="med" len="med"/>
                    </a:lnL>
                    <a:lnR w="12700" cap="flat" cmpd="sng" algn="ctr">
                      <a:solidFill>
                        <a:srgbClr val="F8D956"/>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rgbClr val="F8D956">
                        <a:alpha val="10000"/>
                      </a:srgbClr>
                    </a:solidFill>
                  </a:tcPr>
                </a:tc>
                <a:extLst>
                  <a:ext uri="{0D108BD9-81ED-4DB2-BD59-A6C34878D82A}">
                    <a16:rowId xmlns:a16="http://schemas.microsoft.com/office/drawing/2014/main" val="4103354046"/>
                  </a:ext>
                </a:extLst>
              </a:tr>
              <a:tr h="300534">
                <a:tc>
                  <a:txBody>
                    <a:bodyPr/>
                    <a:lstStyle/>
                    <a:p>
                      <a:r>
                        <a:rPr kumimoji="0" lang="fr-FR" sz="1200" b="0" i="0" u="none" strike="noStrike" kern="1200" cap="none" spc="0" normalizeH="0" baseline="0" noProof="0" dirty="0">
                          <a:ln>
                            <a:noFill/>
                          </a:ln>
                          <a:solidFill>
                            <a:prstClr val="white"/>
                          </a:solidFill>
                          <a:effectLst/>
                          <a:uLnTx/>
                          <a:uFillTx/>
                          <a:latin typeface="+mn-lt"/>
                          <a:ea typeface="+mn-ea"/>
                          <a:cs typeface="+mn-cs"/>
                        </a:rPr>
                        <a:t>Revenus locatifs</a:t>
                      </a:r>
                      <a:endParaRPr lang="en-CA" sz="1200" dirty="0"/>
                    </a:p>
                  </a:txBody>
                  <a:tcPr>
                    <a:lnL w="12700" cap="flat" cmpd="sng" algn="ctr">
                      <a:solidFill>
                        <a:srgbClr val="F8D956"/>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D956">
                        <a:alpha val="10000"/>
                      </a:srgbClr>
                    </a:solidFill>
                  </a:tcPr>
                </a:tc>
                <a:tc>
                  <a:txBody>
                    <a:bodyPr/>
                    <a:lstStyle/>
                    <a:p>
                      <a:r>
                        <a:rPr kumimoji="0" lang="fr-FR" sz="1200" b="0" i="0" u="none" strike="noStrike" kern="1200" cap="none" spc="0" normalizeH="0" baseline="0" noProof="0" dirty="0">
                          <a:ln>
                            <a:noFill/>
                          </a:ln>
                          <a:solidFill>
                            <a:prstClr val="white"/>
                          </a:solidFill>
                          <a:effectLst/>
                          <a:uLnTx/>
                          <a:uFillTx/>
                          <a:latin typeface="+mn-lt"/>
                          <a:ea typeface="+mn-ea"/>
                          <a:cs typeface="+mn-cs"/>
                        </a:rPr>
                        <a:t>211 200$</a:t>
                      </a:r>
                      <a:endParaRPr lang="en-CA" sz="1200" dirty="0"/>
                    </a:p>
                  </a:txBody>
                  <a:tcPr>
                    <a:lnL w="12700" cap="flat" cmpd="sng" algn="ctr">
                      <a:noFill/>
                      <a:prstDash val="solid"/>
                      <a:round/>
                      <a:headEnd type="none" w="med" len="med"/>
                      <a:tailEnd type="none" w="med" len="med"/>
                    </a:lnL>
                    <a:lnR w="12700" cap="flat" cmpd="sng" algn="ctr">
                      <a:solidFill>
                        <a:srgbClr val="F8D956"/>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D956">
                        <a:alpha val="10000"/>
                      </a:srgbClr>
                    </a:solidFill>
                  </a:tcPr>
                </a:tc>
                <a:extLst>
                  <a:ext uri="{0D108BD9-81ED-4DB2-BD59-A6C34878D82A}">
                    <a16:rowId xmlns:a16="http://schemas.microsoft.com/office/drawing/2014/main" val="87328244"/>
                  </a:ext>
                </a:extLst>
              </a:tr>
              <a:tr h="300534">
                <a:tc>
                  <a:txBody>
                    <a:bodyPr/>
                    <a:lstStyle/>
                    <a:p>
                      <a:r>
                        <a:rPr kumimoji="0" lang="fr-FR" sz="1200" b="0" i="0" u="none" strike="noStrike" kern="1200" cap="none" spc="0" normalizeH="0" baseline="0" noProof="0" dirty="0">
                          <a:ln>
                            <a:noFill/>
                          </a:ln>
                          <a:solidFill>
                            <a:prstClr val="white"/>
                          </a:solidFill>
                          <a:effectLst/>
                          <a:uLnTx/>
                          <a:uFillTx/>
                          <a:latin typeface="+mn-lt"/>
                          <a:ea typeface="+mn-ea"/>
                          <a:cs typeface="+mn-cs"/>
                        </a:rPr>
                        <a:t>Valeur marchande</a:t>
                      </a:r>
                      <a:endParaRPr lang="en-CA" sz="1200" dirty="0"/>
                    </a:p>
                  </a:txBody>
                  <a:tcPr>
                    <a:lnL w="12700" cap="flat" cmpd="sng" algn="ctr">
                      <a:solidFill>
                        <a:srgbClr val="F8D956"/>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D956">
                        <a:alpha val="10000"/>
                      </a:srgbClr>
                    </a:solidFill>
                  </a:tcPr>
                </a:tc>
                <a:tc>
                  <a:txBody>
                    <a:bodyPr/>
                    <a:lstStyle/>
                    <a:p>
                      <a:r>
                        <a:rPr kumimoji="0" lang="fr-FR" sz="1200" b="0" i="0" u="none" strike="noStrike" kern="1200" cap="none" spc="0" normalizeH="0" baseline="0" noProof="0" dirty="0">
                          <a:ln>
                            <a:noFill/>
                          </a:ln>
                          <a:solidFill>
                            <a:prstClr val="white"/>
                          </a:solidFill>
                          <a:effectLst/>
                          <a:uLnTx/>
                          <a:uFillTx/>
                          <a:latin typeface="+mn-lt"/>
                          <a:ea typeface="+mn-ea"/>
                          <a:cs typeface="+mn-cs"/>
                        </a:rPr>
                        <a:t>3 334 723$  </a:t>
                      </a:r>
                      <a:r>
                        <a:rPr kumimoji="0" lang="fr-FR" sz="1000" b="1" i="0" u="none" strike="noStrike" kern="1200" cap="none" spc="0" normalizeH="0" baseline="0" noProof="0" dirty="0">
                          <a:ln>
                            <a:noFill/>
                          </a:ln>
                          <a:solidFill>
                            <a:srgbClr val="F8D956"/>
                          </a:solidFill>
                          <a:effectLst/>
                          <a:uLnTx/>
                          <a:uFillTx/>
                          <a:latin typeface="+mn-lt"/>
                          <a:ea typeface="+mn-ea"/>
                          <a:cs typeface="+mn-cs"/>
                        </a:rPr>
                        <a:t>(+1 334 723$)</a:t>
                      </a:r>
                      <a:endParaRPr lang="en-CA" sz="1200" b="1" dirty="0">
                        <a:solidFill>
                          <a:srgbClr val="F8D956"/>
                        </a:solidFill>
                      </a:endParaRPr>
                    </a:p>
                  </a:txBody>
                  <a:tcPr>
                    <a:lnL w="12700" cap="flat" cmpd="sng" algn="ctr">
                      <a:noFill/>
                      <a:prstDash val="solid"/>
                      <a:round/>
                      <a:headEnd type="none" w="med" len="med"/>
                      <a:tailEnd type="none" w="med" len="med"/>
                    </a:lnL>
                    <a:lnR w="12700" cap="flat" cmpd="sng" algn="ctr">
                      <a:solidFill>
                        <a:srgbClr val="F8D956"/>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D956">
                        <a:alpha val="10000"/>
                      </a:srgbClr>
                    </a:solidFill>
                  </a:tcPr>
                </a:tc>
                <a:extLst>
                  <a:ext uri="{0D108BD9-81ED-4DB2-BD59-A6C34878D82A}">
                    <a16:rowId xmlns:a16="http://schemas.microsoft.com/office/drawing/2014/main" val="685619713"/>
                  </a:ext>
                </a:extLst>
              </a:tr>
              <a:tr h="300534">
                <a:tc>
                  <a:txBody>
                    <a:bodyPr/>
                    <a:lstStyle/>
                    <a:p>
                      <a:r>
                        <a:rPr kumimoji="0" lang="fr-FR" sz="1200" b="0" i="0" u="none" strike="noStrike" kern="1200" cap="none" spc="0" normalizeH="0" baseline="0" noProof="0" dirty="0">
                          <a:ln>
                            <a:noFill/>
                          </a:ln>
                          <a:solidFill>
                            <a:prstClr val="white"/>
                          </a:solidFill>
                          <a:effectLst/>
                          <a:uLnTx/>
                          <a:uFillTx/>
                          <a:latin typeface="+mn-lt"/>
                          <a:ea typeface="+mn-ea"/>
                          <a:cs typeface="+mn-cs"/>
                        </a:rPr>
                        <a:t>Coût énergétique</a:t>
                      </a:r>
                      <a:endParaRPr lang="en-CA" sz="1200" dirty="0"/>
                    </a:p>
                  </a:txBody>
                  <a:tcPr>
                    <a:lnL w="12700" cap="flat" cmpd="sng" algn="ctr">
                      <a:solidFill>
                        <a:srgbClr val="F8D956"/>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rgbClr val="F8D956"/>
                      </a:solidFill>
                      <a:prstDash val="solid"/>
                      <a:round/>
                      <a:headEnd type="none" w="med" len="med"/>
                      <a:tailEnd type="none" w="med" len="med"/>
                    </a:lnB>
                    <a:lnTlToBr w="12700" cmpd="sng">
                      <a:noFill/>
                      <a:prstDash val="solid"/>
                    </a:lnTlToBr>
                    <a:lnBlToTr w="12700" cmpd="sng">
                      <a:noFill/>
                      <a:prstDash val="solid"/>
                    </a:lnBlToTr>
                    <a:solidFill>
                      <a:srgbClr val="F8D956">
                        <a:alpha val="10000"/>
                      </a:srgbClr>
                    </a:solidFill>
                  </a:tcPr>
                </a:tc>
                <a:tc>
                  <a:txBody>
                    <a:bodyPr/>
                    <a:lstStyle/>
                    <a:p>
                      <a:r>
                        <a:rPr kumimoji="0" lang="fr-FR" sz="1200" b="0" i="0" u="none" strike="noStrike" kern="1200" cap="none" spc="0" normalizeH="0" baseline="0" noProof="0" dirty="0">
                          <a:ln>
                            <a:noFill/>
                          </a:ln>
                          <a:solidFill>
                            <a:prstClr val="white"/>
                          </a:solidFill>
                          <a:effectLst/>
                          <a:uLnTx/>
                          <a:uFillTx/>
                          <a:latin typeface="+mn-lt"/>
                          <a:ea typeface="+mn-ea"/>
                          <a:cs typeface="+mn-cs"/>
                        </a:rPr>
                        <a:t>10 062$</a:t>
                      </a:r>
                      <a:endParaRPr lang="en-CA" sz="1200" dirty="0"/>
                    </a:p>
                  </a:txBody>
                  <a:tcPr>
                    <a:lnL w="12700" cap="flat" cmpd="sng" algn="ctr">
                      <a:noFill/>
                      <a:prstDash val="solid"/>
                      <a:round/>
                      <a:headEnd type="none" w="med" len="med"/>
                      <a:tailEnd type="none" w="med" len="med"/>
                    </a:lnL>
                    <a:lnR w="12700" cap="flat" cmpd="sng" algn="ctr">
                      <a:solidFill>
                        <a:srgbClr val="F8D956"/>
                      </a:solidFill>
                      <a:prstDash val="solid"/>
                      <a:round/>
                      <a:headEnd type="none" w="med" len="med"/>
                      <a:tailEnd type="none" w="med" len="med"/>
                    </a:lnR>
                    <a:lnT w="12700" cmpd="sng">
                      <a:noFill/>
                    </a:lnT>
                    <a:lnB w="12700" cap="flat" cmpd="sng" algn="ctr">
                      <a:solidFill>
                        <a:srgbClr val="F8D956"/>
                      </a:solidFill>
                      <a:prstDash val="solid"/>
                      <a:round/>
                      <a:headEnd type="none" w="med" len="med"/>
                      <a:tailEnd type="none" w="med" len="med"/>
                    </a:lnB>
                    <a:lnTlToBr w="12700" cmpd="sng">
                      <a:noFill/>
                      <a:prstDash val="solid"/>
                    </a:lnTlToBr>
                    <a:lnBlToTr w="12700" cmpd="sng">
                      <a:noFill/>
                      <a:prstDash val="solid"/>
                    </a:lnBlToTr>
                    <a:solidFill>
                      <a:srgbClr val="F8D956">
                        <a:alpha val="10000"/>
                      </a:srgbClr>
                    </a:solidFill>
                  </a:tcPr>
                </a:tc>
                <a:extLst>
                  <a:ext uri="{0D108BD9-81ED-4DB2-BD59-A6C34878D82A}">
                    <a16:rowId xmlns:a16="http://schemas.microsoft.com/office/drawing/2014/main" val="1820373073"/>
                  </a:ext>
                </a:extLst>
              </a:tr>
            </a:tbl>
          </a:graphicData>
        </a:graphic>
      </p:graphicFrame>
      <p:graphicFrame>
        <p:nvGraphicFramePr>
          <p:cNvPr id="9" name="Table 8">
            <a:extLst>
              <a:ext uri="{FF2B5EF4-FFF2-40B4-BE49-F238E27FC236}">
                <a16:creationId xmlns:a16="http://schemas.microsoft.com/office/drawing/2014/main" id="{8FF33625-40DC-ADCA-9E80-A7A433B0D19F}"/>
              </a:ext>
            </a:extLst>
          </p:cNvPr>
          <p:cNvGraphicFramePr>
            <a:graphicFrameLocks noGrp="1"/>
          </p:cNvGraphicFramePr>
          <p:nvPr>
            <p:extLst>
              <p:ext uri="{D42A27DB-BD31-4B8C-83A1-F6EECF244321}">
                <p14:modId xmlns:p14="http://schemas.microsoft.com/office/powerpoint/2010/main" val="905045616"/>
              </p:ext>
            </p:extLst>
          </p:nvPr>
        </p:nvGraphicFramePr>
        <p:xfrm>
          <a:off x="1525092" y="1378427"/>
          <a:ext cx="3877550" cy="1488704"/>
        </p:xfrm>
        <a:graphic>
          <a:graphicData uri="http://schemas.openxmlformats.org/drawingml/2006/table">
            <a:tbl>
              <a:tblPr firstRow="1" bandRow="1">
                <a:tableStyleId>{5C22544A-7EE6-4342-B048-85BDC9FD1C3A}</a:tableStyleId>
              </a:tblPr>
              <a:tblGrid>
                <a:gridCol w="1938775">
                  <a:extLst>
                    <a:ext uri="{9D8B030D-6E8A-4147-A177-3AD203B41FA5}">
                      <a16:colId xmlns:a16="http://schemas.microsoft.com/office/drawing/2014/main" val="4212165967"/>
                    </a:ext>
                  </a:extLst>
                </a:gridCol>
                <a:gridCol w="1938775">
                  <a:extLst>
                    <a:ext uri="{9D8B030D-6E8A-4147-A177-3AD203B41FA5}">
                      <a16:colId xmlns:a16="http://schemas.microsoft.com/office/drawing/2014/main" val="200245831"/>
                    </a:ext>
                  </a:extLst>
                </a:gridCol>
              </a:tblGrid>
              <a:tr h="282225">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dirty="0">
                          <a:ln>
                            <a:noFill/>
                          </a:ln>
                          <a:solidFill>
                            <a:prstClr val="white"/>
                          </a:solidFill>
                          <a:effectLst/>
                          <a:uLnTx/>
                          <a:uFillTx/>
                          <a:latin typeface="+mn-lt"/>
                          <a:ea typeface="+mn-ea"/>
                          <a:cs typeface="+mn-cs"/>
                        </a:rPr>
                        <a:t>Avant</a:t>
                      </a:r>
                      <a:endParaRPr kumimoji="0" lang="en-CA" sz="14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12700" cap="flat" cmpd="sng" algn="ctr">
                      <a:solidFill>
                        <a:srgbClr val="F8D956"/>
                      </a:solidFill>
                      <a:prstDash val="solid"/>
                      <a:round/>
                      <a:headEnd type="none" w="med" len="med"/>
                      <a:tailEnd type="none" w="med" len="med"/>
                    </a:lnL>
                    <a:lnR w="12700" cap="flat" cmpd="sng" algn="ctr">
                      <a:solidFill>
                        <a:srgbClr val="F8D956"/>
                      </a:solidFill>
                      <a:prstDash val="solid"/>
                      <a:round/>
                      <a:headEnd type="none" w="med" len="med"/>
                      <a:tailEnd type="none" w="med" len="med"/>
                    </a:lnR>
                    <a:lnT w="12700" cap="flat" cmpd="sng" algn="ctr">
                      <a:solidFill>
                        <a:srgbClr val="F8D956"/>
                      </a:solidFill>
                      <a:prstDash val="solid"/>
                      <a:round/>
                      <a:headEnd type="none" w="med" len="med"/>
                      <a:tailEnd type="none" w="med" len="med"/>
                    </a:lnT>
                    <a:lnB w="38100" cmpd="sng">
                      <a:noFill/>
                    </a:lnB>
                    <a:lnTlToBr w="12700" cmpd="sng">
                      <a:noFill/>
                      <a:prstDash val="solid"/>
                    </a:lnTlToBr>
                    <a:lnBlToTr w="12700" cmpd="sng">
                      <a:noFill/>
                      <a:prstDash val="solid"/>
                    </a:lnBlToTr>
                    <a:solidFill>
                      <a:srgbClr val="F8D956">
                        <a:alpha val="10000"/>
                      </a:srgbClr>
                    </a:solidFill>
                  </a:tcPr>
                </a:tc>
                <a:tc hMerge="1">
                  <a:txBody>
                    <a:bodyPr/>
                    <a:lstStyle/>
                    <a:p>
                      <a:endParaRPr dirty="0"/>
                    </a:p>
                  </a:txBody>
                  <a:tcPr>
                    <a:lnL w="12700" cap="flat" cmpd="sng" algn="ctr">
                      <a:noFill/>
                      <a:prstDash val="solid"/>
                      <a:round/>
                      <a:headEnd type="none" w="med" len="med"/>
                      <a:tailEnd type="none" w="med" len="med"/>
                    </a:lnL>
                    <a:lnR w="12700" cap="flat" cmpd="sng" algn="ctr">
                      <a:solidFill>
                        <a:srgbClr val="F8D956"/>
                      </a:solidFill>
                      <a:prstDash val="solid"/>
                      <a:round/>
                      <a:headEnd type="none" w="med" len="med"/>
                      <a:tailEnd type="none" w="med" len="med"/>
                    </a:lnR>
                    <a:lnT w="12700" cap="flat" cmpd="sng" algn="ctr">
                      <a:solidFill>
                        <a:srgbClr val="F8D956"/>
                      </a:solidFill>
                      <a:prstDash val="solid"/>
                      <a:round/>
                      <a:headEnd type="none" w="med" len="med"/>
                      <a:tailEnd type="none" w="med" len="med"/>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39242969"/>
                  </a:ext>
                </a:extLst>
              </a:tr>
              <a:tr h="295976">
                <a:tc>
                  <a:txBody>
                    <a:bodyPr/>
                    <a:lstStyle/>
                    <a:p>
                      <a:r>
                        <a:rPr kumimoji="0" lang="fr-FR" sz="1200" b="0" i="0" u="none" strike="noStrike" kern="1200" cap="none" spc="0" normalizeH="0" baseline="0" noProof="0" dirty="0">
                          <a:ln>
                            <a:noFill/>
                          </a:ln>
                          <a:solidFill>
                            <a:prstClr val="white"/>
                          </a:solidFill>
                          <a:effectLst/>
                          <a:uLnTx/>
                          <a:uFillTx/>
                          <a:latin typeface="+mn-lt"/>
                          <a:ea typeface="+mn-ea"/>
                          <a:cs typeface="+mn-cs"/>
                        </a:rPr>
                        <a:t>Moyenne locative</a:t>
                      </a:r>
                      <a:endParaRPr lang="en-CA" sz="1200" dirty="0"/>
                    </a:p>
                  </a:txBody>
                  <a:tcPr>
                    <a:lnL w="12700" cap="flat" cmpd="sng" algn="ctr">
                      <a:solidFill>
                        <a:srgbClr val="F8D956"/>
                      </a:solidFill>
                      <a:prstDash val="solid"/>
                      <a:round/>
                      <a:headEnd type="none" w="med" len="med"/>
                      <a:tailEnd type="none" w="med" len="med"/>
                    </a:lnL>
                    <a:lnR w="12700" cap="flat" cmpd="sng" algn="ctr">
                      <a:no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rgbClr val="F8D956">
                        <a:alpha val="10000"/>
                      </a:srgbClr>
                    </a:solidFill>
                  </a:tcPr>
                </a:tc>
                <a:tc>
                  <a:txBody>
                    <a:bodyPr/>
                    <a:lstStyle/>
                    <a:p>
                      <a:r>
                        <a:rPr kumimoji="0" lang="fr-FR" sz="1200" b="0" i="0" u="none" strike="noStrike" kern="1200" cap="none" spc="0" normalizeH="0" baseline="0" noProof="0" dirty="0">
                          <a:ln>
                            <a:noFill/>
                          </a:ln>
                          <a:solidFill>
                            <a:prstClr val="white"/>
                          </a:solidFill>
                          <a:effectLst/>
                          <a:uLnTx/>
                          <a:uFillTx/>
                          <a:latin typeface="+mn-lt"/>
                          <a:ea typeface="+mn-ea"/>
                          <a:cs typeface="+mn-cs"/>
                        </a:rPr>
                        <a:t>1363$</a:t>
                      </a:r>
                      <a:endParaRPr lang="en-CA" sz="1200" dirty="0"/>
                    </a:p>
                  </a:txBody>
                  <a:tcPr>
                    <a:lnL w="12700" cap="flat" cmpd="sng" algn="ctr">
                      <a:noFill/>
                      <a:prstDash val="solid"/>
                      <a:round/>
                      <a:headEnd type="none" w="med" len="med"/>
                      <a:tailEnd type="none" w="med" len="med"/>
                    </a:lnL>
                    <a:lnR w="12700" cap="flat" cmpd="sng" algn="ctr">
                      <a:solidFill>
                        <a:srgbClr val="F8D956"/>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rgbClr val="F8D956">
                        <a:alpha val="10000"/>
                      </a:srgbClr>
                    </a:solidFill>
                  </a:tcPr>
                </a:tc>
                <a:extLst>
                  <a:ext uri="{0D108BD9-81ED-4DB2-BD59-A6C34878D82A}">
                    <a16:rowId xmlns:a16="http://schemas.microsoft.com/office/drawing/2014/main" val="4103354046"/>
                  </a:ext>
                </a:extLst>
              </a:tr>
              <a:tr h="295976">
                <a:tc>
                  <a:txBody>
                    <a:bodyPr/>
                    <a:lstStyle/>
                    <a:p>
                      <a:r>
                        <a:rPr kumimoji="0" lang="fr-FR" sz="1200" b="0" i="0" u="none" strike="noStrike" kern="1200" cap="none" spc="0" normalizeH="0" baseline="0" noProof="0" dirty="0">
                          <a:ln>
                            <a:noFill/>
                          </a:ln>
                          <a:solidFill>
                            <a:prstClr val="white"/>
                          </a:solidFill>
                          <a:effectLst/>
                          <a:uLnTx/>
                          <a:uFillTx/>
                          <a:latin typeface="+mn-lt"/>
                          <a:ea typeface="+mn-ea"/>
                          <a:cs typeface="+mn-cs"/>
                        </a:rPr>
                        <a:t>Revenus locatifs</a:t>
                      </a:r>
                      <a:endParaRPr lang="en-CA" sz="1200" dirty="0"/>
                    </a:p>
                  </a:txBody>
                  <a:tcPr>
                    <a:lnL w="12700" cap="flat" cmpd="sng" algn="ctr">
                      <a:solidFill>
                        <a:srgbClr val="F8D956"/>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D956">
                        <a:alpha val="10000"/>
                      </a:srgbClr>
                    </a:solidFill>
                  </a:tcPr>
                </a:tc>
                <a:tc>
                  <a:txBody>
                    <a:bodyPr/>
                    <a:lstStyle/>
                    <a:p>
                      <a:r>
                        <a:rPr kumimoji="0" lang="fr-FR" sz="1200" b="0" i="0" u="none" strike="noStrike" kern="1200" cap="none" spc="0" normalizeH="0" baseline="0" noProof="0" dirty="0">
                          <a:ln>
                            <a:noFill/>
                          </a:ln>
                          <a:solidFill>
                            <a:prstClr val="white"/>
                          </a:solidFill>
                          <a:effectLst/>
                          <a:uLnTx/>
                          <a:uFillTx/>
                          <a:latin typeface="+mn-lt"/>
                          <a:ea typeface="+mn-ea"/>
                          <a:cs typeface="+mn-cs"/>
                        </a:rPr>
                        <a:t>130 824$</a:t>
                      </a:r>
                      <a:endParaRPr lang="en-CA" sz="1200" dirty="0"/>
                    </a:p>
                  </a:txBody>
                  <a:tcPr>
                    <a:lnL w="12700" cap="flat" cmpd="sng" algn="ctr">
                      <a:noFill/>
                      <a:prstDash val="solid"/>
                      <a:round/>
                      <a:headEnd type="none" w="med" len="med"/>
                      <a:tailEnd type="none" w="med" len="med"/>
                    </a:lnL>
                    <a:lnR w="12700" cap="flat" cmpd="sng" algn="ctr">
                      <a:solidFill>
                        <a:srgbClr val="F8D956"/>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D956">
                        <a:alpha val="10000"/>
                      </a:srgbClr>
                    </a:solidFill>
                  </a:tcPr>
                </a:tc>
                <a:extLst>
                  <a:ext uri="{0D108BD9-81ED-4DB2-BD59-A6C34878D82A}">
                    <a16:rowId xmlns:a16="http://schemas.microsoft.com/office/drawing/2014/main" val="87328244"/>
                  </a:ext>
                </a:extLst>
              </a:tr>
              <a:tr h="295976">
                <a:tc>
                  <a:txBody>
                    <a:bodyPr/>
                    <a:lstStyle/>
                    <a:p>
                      <a:r>
                        <a:rPr kumimoji="0" lang="fr-FR" sz="1200" b="0" i="0" u="none" strike="noStrike" kern="1200" cap="none" spc="0" normalizeH="0" baseline="0" noProof="0" dirty="0">
                          <a:ln>
                            <a:noFill/>
                          </a:ln>
                          <a:solidFill>
                            <a:prstClr val="white"/>
                          </a:solidFill>
                          <a:effectLst/>
                          <a:uLnTx/>
                          <a:uFillTx/>
                          <a:latin typeface="+mn-lt"/>
                          <a:ea typeface="+mn-ea"/>
                          <a:cs typeface="+mn-cs"/>
                        </a:rPr>
                        <a:t>Valeur marchande</a:t>
                      </a:r>
                      <a:endParaRPr lang="en-CA" sz="1200" dirty="0"/>
                    </a:p>
                  </a:txBody>
                  <a:tcPr>
                    <a:lnL w="12700" cap="flat" cmpd="sng" algn="ctr">
                      <a:solidFill>
                        <a:srgbClr val="F8D956"/>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D956">
                        <a:alpha val="10000"/>
                      </a:srgbClr>
                    </a:solidFill>
                  </a:tcPr>
                </a:tc>
                <a:tc>
                  <a:txBody>
                    <a:bodyPr/>
                    <a:lstStyle/>
                    <a:p>
                      <a:r>
                        <a:rPr kumimoji="0" lang="fr-FR" sz="1200" b="0" i="0" u="none" strike="noStrike" kern="1200" cap="none" spc="0" normalizeH="0" baseline="0" noProof="0" dirty="0">
                          <a:ln>
                            <a:noFill/>
                          </a:ln>
                          <a:solidFill>
                            <a:prstClr val="white"/>
                          </a:solidFill>
                          <a:effectLst/>
                          <a:uLnTx/>
                          <a:uFillTx/>
                          <a:latin typeface="+mn-lt"/>
                          <a:ea typeface="+mn-ea"/>
                          <a:cs typeface="+mn-cs"/>
                        </a:rPr>
                        <a:t>2 000 000$ (payé 1.8M)</a:t>
                      </a:r>
                      <a:endParaRPr lang="en-CA" sz="1200" dirty="0"/>
                    </a:p>
                  </a:txBody>
                  <a:tcPr>
                    <a:lnL w="12700" cap="flat" cmpd="sng" algn="ctr">
                      <a:noFill/>
                      <a:prstDash val="solid"/>
                      <a:round/>
                      <a:headEnd type="none" w="med" len="med"/>
                      <a:tailEnd type="none" w="med" len="med"/>
                    </a:lnL>
                    <a:lnR w="12700" cap="flat" cmpd="sng" algn="ctr">
                      <a:solidFill>
                        <a:srgbClr val="F8D956"/>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D956">
                        <a:alpha val="10000"/>
                      </a:srgbClr>
                    </a:solidFill>
                  </a:tcPr>
                </a:tc>
                <a:extLst>
                  <a:ext uri="{0D108BD9-81ED-4DB2-BD59-A6C34878D82A}">
                    <a16:rowId xmlns:a16="http://schemas.microsoft.com/office/drawing/2014/main" val="685619713"/>
                  </a:ext>
                </a:extLst>
              </a:tr>
              <a:tr h="295976">
                <a:tc>
                  <a:txBody>
                    <a:bodyPr/>
                    <a:lstStyle/>
                    <a:p>
                      <a:r>
                        <a:rPr kumimoji="0" lang="fr-FR" sz="1200" b="0" i="0" u="none" strike="noStrike" kern="1200" cap="none" spc="0" normalizeH="0" baseline="0" noProof="0" dirty="0">
                          <a:ln>
                            <a:noFill/>
                          </a:ln>
                          <a:solidFill>
                            <a:prstClr val="white"/>
                          </a:solidFill>
                          <a:effectLst/>
                          <a:uLnTx/>
                          <a:uFillTx/>
                          <a:latin typeface="+mn-lt"/>
                          <a:ea typeface="+mn-ea"/>
                          <a:cs typeface="+mn-cs"/>
                        </a:rPr>
                        <a:t>Coût énergétique</a:t>
                      </a:r>
                      <a:endParaRPr lang="en-CA" sz="1200" dirty="0"/>
                    </a:p>
                  </a:txBody>
                  <a:tcPr>
                    <a:lnL w="12700" cap="flat" cmpd="sng" algn="ctr">
                      <a:solidFill>
                        <a:srgbClr val="F8D956"/>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rgbClr val="F8D956"/>
                      </a:solidFill>
                      <a:prstDash val="solid"/>
                      <a:round/>
                      <a:headEnd type="none" w="med" len="med"/>
                      <a:tailEnd type="none" w="med" len="med"/>
                    </a:lnB>
                    <a:lnTlToBr w="12700" cmpd="sng">
                      <a:noFill/>
                      <a:prstDash val="solid"/>
                    </a:lnTlToBr>
                    <a:lnBlToTr w="12700" cmpd="sng">
                      <a:noFill/>
                      <a:prstDash val="solid"/>
                    </a:lnBlToTr>
                    <a:solidFill>
                      <a:srgbClr val="F8D956">
                        <a:alpha val="10000"/>
                      </a:srgbClr>
                    </a:solidFill>
                  </a:tcPr>
                </a:tc>
                <a:tc>
                  <a:txBody>
                    <a:bodyPr/>
                    <a:lstStyle/>
                    <a:p>
                      <a:r>
                        <a:rPr kumimoji="0" lang="fr-FR" sz="1200" b="0" i="0" u="none" strike="noStrike" kern="1200" cap="none" spc="0" normalizeH="0" baseline="0" noProof="0" dirty="0">
                          <a:ln>
                            <a:noFill/>
                          </a:ln>
                          <a:solidFill>
                            <a:prstClr val="white"/>
                          </a:solidFill>
                          <a:effectLst/>
                          <a:uLnTx/>
                          <a:uFillTx/>
                          <a:latin typeface="+mn-lt"/>
                          <a:ea typeface="+mn-ea"/>
                          <a:cs typeface="+mn-cs"/>
                        </a:rPr>
                        <a:t>10 062$</a:t>
                      </a:r>
                      <a:endParaRPr lang="en-CA" sz="1200" dirty="0"/>
                    </a:p>
                  </a:txBody>
                  <a:tcPr>
                    <a:lnL w="12700" cap="flat" cmpd="sng" algn="ctr">
                      <a:noFill/>
                      <a:prstDash val="solid"/>
                      <a:round/>
                      <a:headEnd type="none" w="med" len="med"/>
                      <a:tailEnd type="none" w="med" len="med"/>
                    </a:lnL>
                    <a:lnR w="12700" cap="flat" cmpd="sng" algn="ctr">
                      <a:solidFill>
                        <a:srgbClr val="F8D956"/>
                      </a:solidFill>
                      <a:prstDash val="solid"/>
                      <a:round/>
                      <a:headEnd type="none" w="med" len="med"/>
                      <a:tailEnd type="none" w="med" len="med"/>
                    </a:lnR>
                    <a:lnT w="12700" cmpd="sng">
                      <a:noFill/>
                    </a:lnT>
                    <a:lnB w="12700" cap="flat" cmpd="sng" algn="ctr">
                      <a:solidFill>
                        <a:srgbClr val="F8D956"/>
                      </a:solidFill>
                      <a:prstDash val="solid"/>
                      <a:round/>
                      <a:headEnd type="none" w="med" len="med"/>
                      <a:tailEnd type="none" w="med" len="med"/>
                    </a:lnB>
                    <a:lnTlToBr w="12700" cmpd="sng">
                      <a:noFill/>
                      <a:prstDash val="solid"/>
                    </a:lnTlToBr>
                    <a:lnBlToTr w="12700" cmpd="sng">
                      <a:noFill/>
                      <a:prstDash val="solid"/>
                    </a:lnBlToTr>
                    <a:solidFill>
                      <a:srgbClr val="F8D956">
                        <a:alpha val="10000"/>
                      </a:srgbClr>
                    </a:solidFill>
                  </a:tcPr>
                </a:tc>
                <a:extLst>
                  <a:ext uri="{0D108BD9-81ED-4DB2-BD59-A6C34878D82A}">
                    <a16:rowId xmlns:a16="http://schemas.microsoft.com/office/drawing/2014/main" val="1152474323"/>
                  </a:ext>
                </a:extLst>
              </a:tr>
            </a:tbl>
          </a:graphicData>
        </a:graphic>
      </p:graphicFrame>
      <p:pic>
        <p:nvPicPr>
          <p:cNvPr id="11" name="Picture 10">
            <a:extLst>
              <a:ext uri="{FF2B5EF4-FFF2-40B4-BE49-F238E27FC236}">
                <a16:creationId xmlns:a16="http://schemas.microsoft.com/office/drawing/2014/main" id="{F6D0DC64-D83A-A30C-3034-E678948C5891}"/>
              </a:ext>
            </a:extLst>
          </p:cNvPr>
          <p:cNvPicPr>
            <a:picLocks noChangeAspect="1"/>
          </p:cNvPicPr>
          <p:nvPr/>
        </p:nvPicPr>
        <p:blipFill>
          <a:blip r:embed="rId5"/>
          <a:stretch>
            <a:fillRect/>
          </a:stretch>
        </p:blipFill>
        <p:spPr>
          <a:xfrm>
            <a:off x="1525093" y="2986095"/>
            <a:ext cx="3877549" cy="2418165"/>
          </a:xfrm>
          <a:prstGeom prst="rect">
            <a:avLst/>
          </a:prstGeom>
        </p:spPr>
      </p:pic>
      <p:pic>
        <p:nvPicPr>
          <p:cNvPr id="16" name="Picture 15">
            <a:extLst>
              <a:ext uri="{FF2B5EF4-FFF2-40B4-BE49-F238E27FC236}">
                <a16:creationId xmlns:a16="http://schemas.microsoft.com/office/drawing/2014/main" id="{A70A2639-E959-5C41-E53E-CDA9146F9A72}"/>
              </a:ext>
            </a:extLst>
          </p:cNvPr>
          <p:cNvPicPr>
            <a:picLocks noChangeAspect="1"/>
          </p:cNvPicPr>
          <p:nvPr/>
        </p:nvPicPr>
        <p:blipFill>
          <a:blip r:embed="rId3"/>
          <a:stretch>
            <a:fillRect/>
          </a:stretch>
        </p:blipFill>
        <p:spPr>
          <a:xfrm>
            <a:off x="6789358" y="2986095"/>
            <a:ext cx="3877549" cy="2418165"/>
          </a:xfrm>
          <a:prstGeom prst="rect">
            <a:avLst/>
          </a:prstGeom>
        </p:spPr>
      </p:pic>
      <p:graphicFrame>
        <p:nvGraphicFramePr>
          <p:cNvPr id="19" name="Table 18">
            <a:extLst>
              <a:ext uri="{FF2B5EF4-FFF2-40B4-BE49-F238E27FC236}">
                <a16:creationId xmlns:a16="http://schemas.microsoft.com/office/drawing/2014/main" id="{84C2389B-24EB-0767-AA8E-1DC3CD326B97}"/>
              </a:ext>
            </a:extLst>
          </p:cNvPr>
          <p:cNvGraphicFramePr>
            <a:graphicFrameLocks noGrp="1"/>
          </p:cNvGraphicFramePr>
          <p:nvPr>
            <p:extLst>
              <p:ext uri="{D42A27DB-BD31-4B8C-83A1-F6EECF244321}">
                <p14:modId xmlns:p14="http://schemas.microsoft.com/office/powerpoint/2010/main" val="360184707"/>
              </p:ext>
            </p:extLst>
          </p:nvPr>
        </p:nvGraphicFramePr>
        <p:xfrm>
          <a:off x="3595320" y="5574660"/>
          <a:ext cx="5001360" cy="914400"/>
        </p:xfrm>
        <a:graphic>
          <a:graphicData uri="http://schemas.openxmlformats.org/drawingml/2006/table">
            <a:tbl>
              <a:tblPr firstRow="1" bandRow="1">
                <a:tableStyleId>{5C22544A-7EE6-4342-B048-85BDC9FD1C3A}</a:tableStyleId>
              </a:tblPr>
              <a:tblGrid>
                <a:gridCol w="2500680">
                  <a:extLst>
                    <a:ext uri="{9D8B030D-6E8A-4147-A177-3AD203B41FA5}">
                      <a16:colId xmlns:a16="http://schemas.microsoft.com/office/drawing/2014/main" val="4212165967"/>
                    </a:ext>
                  </a:extLst>
                </a:gridCol>
                <a:gridCol w="2500680">
                  <a:extLst>
                    <a:ext uri="{9D8B030D-6E8A-4147-A177-3AD203B41FA5}">
                      <a16:colId xmlns:a16="http://schemas.microsoft.com/office/drawing/2014/main" val="200245831"/>
                    </a:ext>
                  </a:extLst>
                </a:gridCol>
              </a:tblGrid>
              <a:tr h="295976">
                <a:tc gridSpan="2">
                  <a:txBody>
                    <a:bodyPr/>
                    <a:lstStyle/>
                    <a:p>
                      <a:pPr algn="ctr"/>
                      <a:r>
                        <a:rPr lang="fr-CA" sz="1400" dirty="0">
                          <a:solidFill>
                            <a:srgbClr val="F8D956"/>
                          </a:solidFill>
                        </a:rPr>
                        <a:t>Levier de création de valeur</a:t>
                      </a:r>
                      <a:endParaRPr lang="en-CA" sz="1400" dirty="0">
                        <a:solidFill>
                          <a:srgbClr val="F8D956"/>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hMerge="1">
                  <a:txBody>
                    <a:bodyPr/>
                    <a:lstStyle/>
                    <a:p>
                      <a:endParaRPr lang="en-CA" sz="12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15190954"/>
                  </a:ext>
                </a:extLst>
              </a:tr>
              <a:tr h="295976">
                <a:tc>
                  <a:txBody>
                    <a:bodyPr/>
                    <a:lstStyle/>
                    <a:p>
                      <a:pPr algn="l"/>
                      <a:r>
                        <a:rPr lang="en-CA" sz="1400" dirty="0">
                          <a:solidFill>
                            <a:schemeClr val="bg1"/>
                          </a:solidFill>
                        </a:rPr>
                        <a:t>📈 Optimisation des </a:t>
                      </a:r>
                      <a:r>
                        <a:rPr lang="en-CA" sz="1400" dirty="0" err="1">
                          <a:solidFill>
                            <a:schemeClr val="bg1"/>
                          </a:solidFill>
                        </a:rPr>
                        <a:t>loyers</a:t>
                      </a:r>
                      <a:endParaRPr lang="en-CA" sz="1400" dirty="0">
                        <a:solidFill>
                          <a:schemeClr val="bg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l"/>
                      <a:r>
                        <a:rPr lang="en-CA" sz="1400" dirty="0">
                          <a:solidFill>
                            <a:schemeClr val="bg1"/>
                          </a:solidFill>
                        </a:rPr>
                        <a:t>🛠️ </a:t>
                      </a:r>
                      <a:r>
                        <a:rPr lang="en-CA" sz="1400" dirty="0" err="1">
                          <a:solidFill>
                            <a:schemeClr val="bg1"/>
                          </a:solidFill>
                        </a:rPr>
                        <a:t>Rénovations</a:t>
                      </a:r>
                      <a:r>
                        <a:rPr lang="en-CA" sz="1400" dirty="0">
                          <a:solidFill>
                            <a:schemeClr val="bg1"/>
                          </a:solidFill>
                        </a:rPr>
                        <a:t> </a:t>
                      </a:r>
                      <a:r>
                        <a:rPr lang="en-CA" sz="1400" dirty="0" err="1">
                          <a:solidFill>
                            <a:schemeClr val="bg1"/>
                          </a:solidFill>
                        </a:rPr>
                        <a:t>ciblées</a:t>
                      </a:r>
                      <a:endParaRPr lang="en-CA" sz="1400" dirty="0">
                        <a:solidFill>
                          <a:schemeClr val="bg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03354046"/>
                  </a:ext>
                </a:extLst>
              </a:tr>
              <a:tr h="295976">
                <a:tc>
                  <a:txBody>
                    <a:bodyPr/>
                    <a:lstStyle/>
                    <a:p>
                      <a:pPr algn="l"/>
                      <a:r>
                        <a:rPr lang="en-CA" sz="1400" dirty="0">
                          <a:solidFill>
                            <a:schemeClr val="bg1"/>
                          </a:solidFill>
                        </a:rPr>
                        <a:t>💡 </a:t>
                      </a:r>
                      <a:r>
                        <a:rPr lang="en-CA" sz="1400" dirty="0" err="1">
                          <a:solidFill>
                            <a:schemeClr val="bg1"/>
                          </a:solidFill>
                        </a:rPr>
                        <a:t>Réduction</a:t>
                      </a:r>
                      <a:r>
                        <a:rPr lang="en-CA" sz="1400" dirty="0">
                          <a:solidFill>
                            <a:schemeClr val="bg1"/>
                          </a:solidFill>
                        </a:rPr>
                        <a:t> des </a:t>
                      </a:r>
                      <a:r>
                        <a:rPr lang="en-CA" sz="1400" dirty="0" err="1">
                          <a:solidFill>
                            <a:schemeClr val="bg1"/>
                          </a:solidFill>
                        </a:rPr>
                        <a:t>dépenses</a:t>
                      </a:r>
                      <a:endParaRPr lang="en-CA" sz="1400" dirty="0">
                        <a:solidFill>
                          <a:schemeClr val="bg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CA" sz="1400" dirty="0">
                          <a:solidFill>
                            <a:schemeClr val="bg1"/>
                          </a:solidFill>
                        </a:rPr>
                        <a:t>🏅 </a:t>
                      </a:r>
                      <a:r>
                        <a:rPr lang="en-CA" sz="1400" dirty="0" err="1">
                          <a:solidFill>
                            <a:schemeClr val="bg1"/>
                          </a:solidFill>
                        </a:rPr>
                        <a:t>Ajout</a:t>
                      </a:r>
                      <a:r>
                        <a:rPr lang="en-CA" sz="1400" dirty="0">
                          <a:solidFill>
                            <a:schemeClr val="bg1"/>
                          </a:solidFill>
                        </a:rPr>
                        <a:t> de services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7328244"/>
                  </a:ext>
                </a:extLst>
              </a:tr>
            </a:tbl>
          </a:graphicData>
        </a:graphic>
      </p:graphicFrame>
    </p:spTree>
    <p:extLst>
      <p:ext uri="{BB962C8B-B14F-4D97-AF65-F5344CB8AC3E}">
        <p14:creationId xmlns:p14="http://schemas.microsoft.com/office/powerpoint/2010/main" val="23886174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a:extLst>
            <a:ext uri="{FF2B5EF4-FFF2-40B4-BE49-F238E27FC236}">
              <a16:creationId xmlns:a16="http://schemas.microsoft.com/office/drawing/2014/main" id="{DFE0EEE4-3409-E5FD-3563-D9E1F4299F44}"/>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A8617745-9F77-C913-1A0F-674CC5F6B25F}"/>
              </a:ext>
            </a:extLst>
          </p:cNvPr>
          <p:cNvSpPr txBox="1">
            <a:spLocks/>
          </p:cNvSpPr>
          <p:nvPr/>
        </p:nvSpPr>
        <p:spPr>
          <a:xfrm>
            <a:off x="780673" y="416577"/>
            <a:ext cx="7261157" cy="717279"/>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b="1">
                <a:solidFill>
                  <a:schemeClr val="bg1"/>
                </a:solidFill>
              </a:rPr>
              <a:t>ÉCHÉANCIER</a:t>
            </a:r>
            <a:endParaRPr lang="en-US"/>
          </a:p>
        </p:txBody>
      </p:sp>
      <p:sp>
        <p:nvSpPr>
          <p:cNvPr id="8" name="TextBox 7">
            <a:extLst>
              <a:ext uri="{FF2B5EF4-FFF2-40B4-BE49-F238E27FC236}">
                <a16:creationId xmlns:a16="http://schemas.microsoft.com/office/drawing/2014/main" id="{CCD105C5-73F4-78A1-F789-2CD82189B3D0}"/>
              </a:ext>
            </a:extLst>
          </p:cNvPr>
          <p:cNvSpPr txBox="1"/>
          <p:nvPr/>
        </p:nvSpPr>
        <p:spPr>
          <a:xfrm>
            <a:off x="184326" y="6476025"/>
            <a:ext cx="596347" cy="276999"/>
          </a:xfrm>
          <a:prstGeom prst="rect">
            <a:avLst/>
          </a:prstGeom>
          <a:noFill/>
        </p:spPr>
        <p:txBody>
          <a:bodyPr wrap="square" rtlCol="0">
            <a:spAutoFit/>
          </a:bodyPr>
          <a:lstStyle/>
          <a:p>
            <a:r>
              <a:rPr lang="fr-CA" sz="1200">
                <a:solidFill>
                  <a:schemeClr val="bg1"/>
                </a:solidFill>
              </a:rPr>
              <a:t>6</a:t>
            </a:r>
            <a:endParaRPr lang="en-CA" sz="1200">
              <a:solidFill>
                <a:schemeClr val="bg1"/>
              </a:solidFill>
            </a:endParaRPr>
          </a:p>
        </p:txBody>
      </p:sp>
      <p:sp>
        <p:nvSpPr>
          <p:cNvPr id="24" name="Rectangle 23">
            <a:extLst>
              <a:ext uri="{FF2B5EF4-FFF2-40B4-BE49-F238E27FC236}">
                <a16:creationId xmlns:a16="http://schemas.microsoft.com/office/drawing/2014/main" id="{B80C156C-5B4C-5509-F0CD-9E7F252AFFA5}"/>
              </a:ext>
            </a:extLst>
          </p:cNvPr>
          <p:cNvSpPr/>
          <p:nvPr/>
        </p:nvSpPr>
        <p:spPr>
          <a:xfrm>
            <a:off x="895060" y="971550"/>
            <a:ext cx="1929109" cy="85725"/>
          </a:xfrm>
          <a:prstGeom prst="rect">
            <a:avLst/>
          </a:prstGeom>
          <a:solidFill>
            <a:srgbClr val="F8D95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noFill/>
            </a:endParaRPr>
          </a:p>
        </p:txBody>
      </p:sp>
      <p:graphicFrame>
        <p:nvGraphicFramePr>
          <p:cNvPr id="2" name="Table 1">
            <a:extLst>
              <a:ext uri="{FF2B5EF4-FFF2-40B4-BE49-F238E27FC236}">
                <a16:creationId xmlns:a16="http://schemas.microsoft.com/office/drawing/2014/main" id="{49D1DD19-7BC1-9978-5050-FD61F73B4967}"/>
              </a:ext>
            </a:extLst>
          </p:cNvPr>
          <p:cNvGraphicFramePr>
            <a:graphicFrameLocks noGrp="1"/>
          </p:cNvGraphicFramePr>
          <p:nvPr>
            <p:extLst>
              <p:ext uri="{D42A27DB-BD31-4B8C-83A1-F6EECF244321}">
                <p14:modId xmlns:p14="http://schemas.microsoft.com/office/powerpoint/2010/main" val="2561124610"/>
              </p:ext>
            </p:extLst>
          </p:nvPr>
        </p:nvGraphicFramePr>
        <p:xfrm>
          <a:off x="895060" y="1268095"/>
          <a:ext cx="10668290" cy="3596640"/>
        </p:xfrm>
        <a:graphic>
          <a:graphicData uri="http://schemas.openxmlformats.org/drawingml/2006/table">
            <a:tbl>
              <a:tblPr firstRow="1" bandRow="1">
                <a:tableStyleId>{5C22544A-7EE6-4342-B048-85BDC9FD1C3A}</a:tableStyleId>
              </a:tblPr>
              <a:tblGrid>
                <a:gridCol w="1524041">
                  <a:extLst>
                    <a:ext uri="{9D8B030D-6E8A-4147-A177-3AD203B41FA5}">
                      <a16:colId xmlns:a16="http://schemas.microsoft.com/office/drawing/2014/main" val="2410655052"/>
                    </a:ext>
                  </a:extLst>
                </a:gridCol>
                <a:gridCol w="1524041">
                  <a:extLst>
                    <a:ext uri="{9D8B030D-6E8A-4147-A177-3AD203B41FA5}">
                      <a16:colId xmlns:a16="http://schemas.microsoft.com/office/drawing/2014/main" val="2177952942"/>
                    </a:ext>
                  </a:extLst>
                </a:gridCol>
                <a:gridCol w="762021">
                  <a:extLst>
                    <a:ext uri="{9D8B030D-6E8A-4147-A177-3AD203B41FA5}">
                      <a16:colId xmlns:a16="http://schemas.microsoft.com/office/drawing/2014/main" val="2071479613"/>
                    </a:ext>
                  </a:extLst>
                </a:gridCol>
                <a:gridCol w="762021">
                  <a:extLst>
                    <a:ext uri="{9D8B030D-6E8A-4147-A177-3AD203B41FA5}">
                      <a16:colId xmlns:a16="http://schemas.microsoft.com/office/drawing/2014/main" val="3271388638"/>
                    </a:ext>
                  </a:extLst>
                </a:gridCol>
                <a:gridCol w="762021">
                  <a:extLst>
                    <a:ext uri="{9D8B030D-6E8A-4147-A177-3AD203B41FA5}">
                      <a16:colId xmlns:a16="http://schemas.microsoft.com/office/drawing/2014/main" val="2066856757"/>
                    </a:ext>
                  </a:extLst>
                </a:gridCol>
                <a:gridCol w="743094">
                  <a:extLst>
                    <a:ext uri="{9D8B030D-6E8A-4147-A177-3AD203B41FA5}">
                      <a16:colId xmlns:a16="http://schemas.microsoft.com/office/drawing/2014/main" val="4024487734"/>
                    </a:ext>
                  </a:extLst>
                </a:gridCol>
                <a:gridCol w="603168">
                  <a:extLst>
                    <a:ext uri="{9D8B030D-6E8A-4147-A177-3AD203B41FA5}">
                      <a16:colId xmlns:a16="http://schemas.microsoft.com/office/drawing/2014/main" val="1940820949"/>
                    </a:ext>
                  </a:extLst>
                </a:gridCol>
                <a:gridCol w="584241">
                  <a:extLst>
                    <a:ext uri="{9D8B030D-6E8A-4147-A177-3AD203B41FA5}">
                      <a16:colId xmlns:a16="http://schemas.microsoft.com/office/drawing/2014/main" val="1864204697"/>
                    </a:ext>
                  </a:extLst>
                </a:gridCol>
                <a:gridCol w="584241">
                  <a:extLst>
                    <a:ext uri="{9D8B030D-6E8A-4147-A177-3AD203B41FA5}">
                      <a16:colId xmlns:a16="http://schemas.microsoft.com/office/drawing/2014/main" val="3787923293"/>
                    </a:ext>
                  </a:extLst>
                </a:gridCol>
                <a:gridCol w="1295359">
                  <a:extLst>
                    <a:ext uri="{9D8B030D-6E8A-4147-A177-3AD203B41FA5}">
                      <a16:colId xmlns:a16="http://schemas.microsoft.com/office/drawing/2014/main" val="2638043724"/>
                    </a:ext>
                  </a:extLst>
                </a:gridCol>
                <a:gridCol w="647741">
                  <a:extLst>
                    <a:ext uri="{9D8B030D-6E8A-4147-A177-3AD203B41FA5}">
                      <a16:colId xmlns:a16="http://schemas.microsoft.com/office/drawing/2014/main" val="178332085"/>
                    </a:ext>
                  </a:extLst>
                </a:gridCol>
                <a:gridCol w="876301">
                  <a:extLst>
                    <a:ext uri="{9D8B030D-6E8A-4147-A177-3AD203B41FA5}">
                      <a16:colId xmlns:a16="http://schemas.microsoft.com/office/drawing/2014/main" val="2361732886"/>
                    </a:ext>
                  </a:extLst>
                </a:gridCol>
              </a:tblGrid>
              <a:tr h="370840">
                <a:tc>
                  <a:txBody>
                    <a:bodyPr/>
                    <a:lstStyle/>
                    <a:p>
                      <a:pPr algn="ctr"/>
                      <a:endParaRPr lang="en-CA" sz="12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CA" sz="1200" b="0"/>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1200" b="0" dirty="0">
                          <a:solidFill>
                            <a:schemeClr val="tx1"/>
                          </a:solidFill>
                        </a:rPr>
                        <a:t>Septembre-Octobre 2026</a:t>
                      </a:r>
                      <a:endParaRPr lang="en-CA" sz="1200" b="0" dirty="0">
                        <a:solidFill>
                          <a:schemeClr val="tx1"/>
                        </a:solidFill>
                      </a:endParaRPr>
                    </a:p>
                  </a:txBody>
                  <a:tcPr anchor="ct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8D956"/>
                    </a:solidFill>
                  </a:tcPr>
                </a:tc>
                <a:tc hMerge="1">
                  <a:txBody>
                    <a:bodyPr/>
                    <a:lstStyle/>
                    <a:p>
                      <a:endParaRPr lang="en-CA"/>
                    </a:p>
                  </a:txBody>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1200" b="0" dirty="0">
                          <a:solidFill>
                            <a:schemeClr val="tx1"/>
                          </a:solidFill>
                        </a:rPr>
                        <a:t>Novembre-Décembre 2026</a:t>
                      </a:r>
                      <a:endParaRPr lang="en-CA" sz="12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8D956"/>
                    </a:solidFill>
                  </a:tcPr>
                </a:tc>
                <a:tc hMerge="1">
                  <a:txBody>
                    <a:bodyPr/>
                    <a:lstStyle/>
                    <a:p>
                      <a:endParaRPr lang="en-CA"/>
                    </a:p>
                  </a:txBody>
                  <a:tcPr/>
                </a:tc>
                <a:tc gridSpan="3">
                  <a:txBody>
                    <a:bodyPr/>
                    <a:lstStyle/>
                    <a:p>
                      <a:pPr algn="ctr"/>
                      <a:r>
                        <a:rPr lang="fr-CA" sz="1200" b="0" dirty="0">
                          <a:solidFill>
                            <a:schemeClr val="tx1"/>
                          </a:solidFill>
                        </a:rPr>
                        <a:t>Janvier 2027 – </a:t>
                      </a:r>
                    </a:p>
                    <a:p>
                      <a:pPr algn="ctr"/>
                      <a:r>
                        <a:rPr lang="fr-CA" sz="1200" b="0" dirty="0">
                          <a:solidFill>
                            <a:schemeClr val="tx1"/>
                          </a:solidFill>
                        </a:rPr>
                        <a:t>Mars 2027</a:t>
                      </a:r>
                      <a:endParaRPr lang="en-CA" sz="12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8D956"/>
                    </a:solidFill>
                  </a:tcPr>
                </a:tc>
                <a:tc hMerge="1">
                  <a:txBody>
                    <a:bodyPr/>
                    <a:lstStyle/>
                    <a:p>
                      <a:endParaRPr lang="en-CA"/>
                    </a:p>
                  </a:txBody>
                  <a:tcPr/>
                </a:tc>
                <a:tc hMerge="1">
                  <a:txBody>
                    <a:bodyPr/>
                    <a:lstStyle/>
                    <a:p>
                      <a:endParaRPr lang="en-CA"/>
                    </a:p>
                  </a:txBody>
                  <a:tcPr/>
                </a:tc>
                <a:tc>
                  <a:txBody>
                    <a:bodyPr/>
                    <a:lstStyle/>
                    <a:p>
                      <a:pPr algn="ctr"/>
                      <a:r>
                        <a:rPr lang="fr-CA" sz="1200" b="0" dirty="0">
                          <a:solidFill>
                            <a:schemeClr val="tx1"/>
                          </a:solidFill>
                        </a:rPr>
                        <a:t>Avril 2027 – Août 2027</a:t>
                      </a:r>
                      <a:endParaRPr lang="en-CA" sz="12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8D956"/>
                    </a:solidFill>
                  </a:tcPr>
                </a:tc>
                <a:tc gridSpan="2">
                  <a:txBody>
                    <a:bodyPr/>
                    <a:lstStyle/>
                    <a:p>
                      <a:pPr algn="ctr"/>
                      <a:r>
                        <a:rPr lang="fr-CA" sz="1200" b="0" dirty="0">
                          <a:solidFill>
                            <a:schemeClr val="tx1"/>
                          </a:solidFill>
                        </a:rPr>
                        <a:t>Septembre 2027 – Décembre 2028</a:t>
                      </a:r>
                    </a:p>
                  </a:txBody>
                  <a:tcPr anchor="ctr">
                    <a:lnL w="12700" cap="flat" cmpd="sng" algn="ctr">
                      <a:solidFill>
                        <a:schemeClr val="tx1"/>
                      </a:solidFill>
                      <a:prstDash val="solid"/>
                      <a:round/>
                      <a:headEnd type="none" w="med" len="med"/>
                      <a:tailEnd type="none" w="med" len="med"/>
                    </a:lnL>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8D956"/>
                    </a:solidFill>
                  </a:tcPr>
                </a:tc>
                <a:tc hMerge="1">
                  <a:txBody>
                    <a:bodyPr/>
                    <a:lstStyle/>
                    <a:p>
                      <a:endParaRPr lang="en-CA"/>
                    </a:p>
                  </a:txBody>
                  <a:tcPr/>
                </a:tc>
                <a:extLst>
                  <a:ext uri="{0D108BD9-81ED-4DB2-BD59-A6C34878D82A}">
                    <a16:rowId xmlns:a16="http://schemas.microsoft.com/office/drawing/2014/main" val="1894308734"/>
                  </a:ext>
                </a:extLst>
              </a:tr>
              <a:tr h="370840">
                <a:tc>
                  <a:txBody>
                    <a:bodyPr/>
                    <a:lstStyle/>
                    <a:p>
                      <a:pPr algn="ctr"/>
                      <a:r>
                        <a:rPr lang="fr-CA" sz="1200" b="0">
                          <a:solidFill>
                            <a:schemeClr val="bg1"/>
                          </a:solidFill>
                        </a:rPr>
                        <a:t>PHASE</a:t>
                      </a:r>
                      <a:endParaRPr lang="en-CA" sz="1200" b="0">
                        <a:solidFill>
                          <a:schemeClr val="bg1"/>
                        </a:solidFill>
                      </a:endParaRP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8D956">
                        <a:alpha val="20000"/>
                      </a:srgbClr>
                    </a:solidFill>
                  </a:tcPr>
                </a:tc>
                <a:tc>
                  <a:txBody>
                    <a:bodyPr/>
                    <a:lstStyle/>
                    <a:p>
                      <a:pPr algn="ctr"/>
                      <a:r>
                        <a:rPr lang="fr-CA" sz="1200" b="0">
                          <a:solidFill>
                            <a:schemeClr val="bg1"/>
                          </a:solidFill>
                        </a:rPr>
                        <a:t>ACTIVITÉ</a:t>
                      </a:r>
                      <a:endParaRPr lang="en-CA" sz="1200" b="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8D956">
                        <a:alpha val="20000"/>
                      </a:srgbClr>
                    </a:solidFill>
                  </a:tcPr>
                </a:tc>
                <a:tc>
                  <a:txBody>
                    <a:bodyPr/>
                    <a:lstStyle/>
                    <a:p>
                      <a:pPr algn="ctr"/>
                      <a:r>
                        <a:rPr lang="fr-CA" sz="1200" b="0" dirty="0">
                          <a:solidFill>
                            <a:schemeClr val="bg1"/>
                          </a:solidFill>
                        </a:rPr>
                        <a:t>Sept</a:t>
                      </a:r>
                      <a:endParaRPr lang="en-CA" sz="1200" b="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8D956">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1200" b="0" dirty="0">
                          <a:solidFill>
                            <a:schemeClr val="bg1"/>
                          </a:solidFill>
                        </a:rPr>
                        <a:t>Octobre</a:t>
                      </a:r>
                      <a:endParaRPr lang="en-CA" sz="1200" b="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8D956">
                        <a:alpha val="20000"/>
                      </a:srgbClr>
                    </a:solidFill>
                  </a:tcPr>
                </a:tc>
                <a:tc>
                  <a:txBody>
                    <a:bodyPr/>
                    <a:lstStyle/>
                    <a:p>
                      <a:pPr algn="ctr"/>
                      <a:r>
                        <a:rPr lang="fr-CA" sz="1200" b="0" dirty="0">
                          <a:solidFill>
                            <a:schemeClr val="bg1"/>
                          </a:solidFill>
                        </a:rPr>
                        <a:t>Nov</a:t>
                      </a:r>
                      <a:endParaRPr lang="en-CA" sz="1200" b="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8D956">
                        <a:alpha val="20000"/>
                      </a:srgbClr>
                    </a:solidFill>
                  </a:tcPr>
                </a:tc>
                <a:tc>
                  <a:txBody>
                    <a:bodyPr/>
                    <a:lstStyle/>
                    <a:p>
                      <a:pPr algn="ctr"/>
                      <a:r>
                        <a:rPr lang="fr-CA" sz="1200" b="0" dirty="0">
                          <a:solidFill>
                            <a:schemeClr val="bg1"/>
                          </a:solidFill>
                        </a:rPr>
                        <a:t>Déc</a:t>
                      </a:r>
                      <a:endParaRPr lang="en-CA" sz="1200" b="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8D956">
                        <a:alpha val="20000"/>
                      </a:srgbClr>
                    </a:solidFill>
                  </a:tcPr>
                </a:tc>
                <a:tc>
                  <a:txBody>
                    <a:bodyPr/>
                    <a:lstStyle/>
                    <a:p>
                      <a:pPr algn="ctr"/>
                      <a:r>
                        <a:rPr lang="fr-CA" sz="1200" b="0" dirty="0">
                          <a:solidFill>
                            <a:schemeClr val="bg1"/>
                          </a:solidFill>
                        </a:rPr>
                        <a:t>Janv</a:t>
                      </a:r>
                      <a:endParaRPr lang="en-CA" sz="1200" b="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8D956">
                        <a:alpha val="20000"/>
                      </a:srgbClr>
                    </a:solidFill>
                  </a:tcPr>
                </a:tc>
                <a:tc>
                  <a:txBody>
                    <a:bodyPr/>
                    <a:lstStyle/>
                    <a:p>
                      <a:pPr algn="ctr"/>
                      <a:r>
                        <a:rPr lang="fr-CA" sz="1200" b="0" dirty="0" err="1">
                          <a:solidFill>
                            <a:schemeClr val="bg1"/>
                          </a:solidFill>
                        </a:rPr>
                        <a:t>Fév</a:t>
                      </a:r>
                      <a:endParaRPr lang="en-CA" sz="1200" b="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8D956">
                        <a:alpha val="20000"/>
                      </a:srgbClr>
                    </a:solidFill>
                  </a:tcPr>
                </a:tc>
                <a:tc>
                  <a:txBody>
                    <a:bodyPr/>
                    <a:lstStyle/>
                    <a:p>
                      <a:pPr algn="ctr"/>
                      <a:r>
                        <a:rPr lang="fr-CA" sz="1200" b="0" dirty="0">
                          <a:solidFill>
                            <a:schemeClr val="bg1"/>
                          </a:solidFill>
                        </a:rPr>
                        <a:t>Mars</a:t>
                      </a:r>
                      <a:endParaRPr lang="en-CA" sz="1200" b="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8D956">
                        <a:alpha val="20000"/>
                      </a:srgbClr>
                    </a:solidFill>
                  </a:tcPr>
                </a:tc>
                <a:tc>
                  <a:txBody>
                    <a:bodyPr/>
                    <a:lstStyle/>
                    <a:p>
                      <a:pPr algn="ctr"/>
                      <a:r>
                        <a:rPr lang="fr-CA" sz="1200" b="0" dirty="0">
                          <a:solidFill>
                            <a:schemeClr val="bg1"/>
                          </a:solidFill>
                        </a:rPr>
                        <a:t>Avril - Août</a:t>
                      </a:r>
                      <a:endParaRPr lang="en-CA" sz="1200" b="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8D956">
                        <a:alpha val="20000"/>
                      </a:srgbClr>
                    </a:solidFill>
                  </a:tcPr>
                </a:tc>
                <a:tc>
                  <a:txBody>
                    <a:bodyPr/>
                    <a:lstStyle/>
                    <a:p>
                      <a:pPr algn="ctr"/>
                      <a:r>
                        <a:rPr lang="fr-CA" sz="1200" b="0" dirty="0">
                          <a:solidFill>
                            <a:schemeClr val="bg1"/>
                          </a:solidFill>
                        </a:rPr>
                        <a:t>Sept-Oct</a:t>
                      </a:r>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8D956">
                        <a:alpha val="20000"/>
                      </a:srgbClr>
                    </a:solidFill>
                  </a:tcPr>
                </a:tc>
                <a:tc>
                  <a:txBody>
                    <a:bodyPr/>
                    <a:lstStyle/>
                    <a:p>
                      <a:pPr algn="ctr"/>
                      <a:r>
                        <a:rPr lang="fr-CA" sz="1200" b="0" dirty="0">
                          <a:solidFill>
                            <a:schemeClr val="bg1"/>
                          </a:solidFill>
                        </a:rPr>
                        <a:t>Décembre</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8D956">
                        <a:alpha val="20000"/>
                      </a:srgbClr>
                    </a:solidFill>
                  </a:tcPr>
                </a:tc>
                <a:extLst>
                  <a:ext uri="{0D108BD9-81ED-4DB2-BD59-A6C34878D82A}">
                    <a16:rowId xmlns:a16="http://schemas.microsoft.com/office/drawing/2014/main" val="115466427"/>
                  </a:ext>
                </a:extLst>
              </a:tr>
              <a:tr h="370840">
                <a:tc rowSpan="2">
                  <a:txBody>
                    <a:bodyPr/>
                    <a:lstStyle/>
                    <a:p>
                      <a:pPr algn="ctr"/>
                      <a:r>
                        <a:rPr lang="fr-CA" sz="1200" b="1">
                          <a:solidFill>
                            <a:schemeClr val="bg1"/>
                          </a:solidFill>
                        </a:rPr>
                        <a:t>ACHAT</a:t>
                      </a:r>
                      <a:endParaRPr lang="en-CA" sz="1200" b="1">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fr-CA" sz="1200">
                          <a:solidFill>
                            <a:schemeClr val="bg1"/>
                          </a:solidFill>
                        </a:rPr>
                        <a:t>Financement</a:t>
                      </a:r>
                      <a:endParaRPr lang="en-CA" sz="1200">
                        <a:solidFill>
                          <a:schemeClr val="bg1"/>
                        </a:solidFill>
                      </a:endParaRP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CA"/>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9999"/>
                    </a:solidFill>
                  </a:tcPr>
                </a:tc>
                <a:tc>
                  <a:txBody>
                    <a:bodyPr/>
                    <a:lstStyle/>
                    <a:p>
                      <a:endParaRPr lang="en-CA"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9999"/>
                    </a:solidFill>
                  </a:tcPr>
                </a:tc>
                <a:tc>
                  <a:txBody>
                    <a:bodyPr/>
                    <a:lstStyle/>
                    <a:p>
                      <a:endParaRPr lang="en-CA"/>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9999"/>
                    </a:solidFill>
                  </a:tcPr>
                </a:tc>
                <a:tc>
                  <a:txBody>
                    <a:bodyPr/>
                    <a:lstStyle/>
                    <a:p>
                      <a:endParaRPr lang="en-CA"/>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9999"/>
                    </a:solidFill>
                  </a:tcPr>
                </a:tc>
                <a:tc>
                  <a:txBody>
                    <a:bodyPr/>
                    <a:lstStyle/>
                    <a:p>
                      <a:endParaRPr lang="en-CA"/>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CA"/>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CA"/>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CA"/>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CA"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CA"/>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278871847"/>
                  </a:ext>
                </a:extLst>
              </a:tr>
              <a:tr h="370840">
                <a:tc vMerge="1">
                  <a:txBody>
                    <a:bodyPr/>
                    <a:lstStyle/>
                    <a:p>
                      <a:pPr algn="ctr"/>
                      <a:endParaRPr lang="en-CA" sz="1200" b="1">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fr-CA" sz="1200">
                          <a:solidFill>
                            <a:schemeClr val="bg1"/>
                          </a:solidFill>
                        </a:rPr>
                        <a:t>Notaire</a:t>
                      </a:r>
                      <a:endParaRPr lang="en-CA" sz="1200">
                        <a:solidFill>
                          <a:schemeClr val="bg1"/>
                        </a:solidFill>
                      </a:endParaRP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CA"/>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CA"/>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CA"/>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CA"/>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9999"/>
                    </a:solidFill>
                  </a:tcPr>
                </a:tc>
                <a:tc>
                  <a:txBody>
                    <a:bodyPr/>
                    <a:lstStyle/>
                    <a:p>
                      <a:endParaRPr lang="en-CA"/>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CA"/>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CA"/>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CA"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CA"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CA"/>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96405407"/>
                  </a:ext>
                </a:extLst>
              </a:tr>
              <a:tr h="370840">
                <a:tc rowSpan="4">
                  <a:txBody>
                    <a:bodyPr/>
                    <a:lstStyle/>
                    <a:p>
                      <a:pPr algn="ctr"/>
                      <a:r>
                        <a:rPr lang="fr-CA" sz="1200" b="1">
                          <a:solidFill>
                            <a:schemeClr val="bg1"/>
                          </a:solidFill>
                        </a:rPr>
                        <a:t>OPTIMISATION</a:t>
                      </a:r>
                      <a:endParaRPr lang="en-CA" sz="1200" b="1">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200" dirty="0">
                          <a:solidFill>
                            <a:schemeClr val="bg1"/>
                          </a:solidFill>
                        </a:rPr>
                        <a:t>Rencontres</a:t>
                      </a:r>
                      <a:endParaRPr lang="en-CA" sz="1200" dirty="0">
                        <a:solidFill>
                          <a:schemeClr val="bg1"/>
                        </a:solidFill>
                      </a:endParaRP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CA"/>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CA"/>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CA"/>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CA"/>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CA"/>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9999"/>
                    </a:solidFill>
                  </a:tcPr>
                </a:tc>
                <a:tc>
                  <a:txBody>
                    <a:bodyPr/>
                    <a:lstStyle/>
                    <a:p>
                      <a:endParaRPr lang="en-CA"/>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9999"/>
                    </a:solidFill>
                  </a:tcPr>
                </a:tc>
                <a:tc>
                  <a:txBody>
                    <a:bodyPr/>
                    <a:lstStyle/>
                    <a:p>
                      <a:endParaRPr lang="en-CA"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9999"/>
                    </a:solidFill>
                  </a:tcPr>
                </a:tc>
                <a:tc>
                  <a:txBody>
                    <a:bodyPr/>
                    <a:lstStyle/>
                    <a:p>
                      <a:endParaRPr lang="en-CA"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CA"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CA"/>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31202989"/>
                  </a:ext>
                </a:extLst>
              </a:tr>
              <a:tr h="370840">
                <a:tc vMerge="1">
                  <a:txBody>
                    <a:bodyPr/>
                    <a:lstStyle/>
                    <a:p>
                      <a:endParaRPr lang="en-CA"/>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200" dirty="0">
                          <a:solidFill>
                            <a:schemeClr val="bg1"/>
                          </a:solidFill>
                        </a:rPr>
                        <a:t>Négociation</a:t>
                      </a: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CA"/>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CA"/>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CA"/>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CA"/>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CA"/>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CA"/>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9999"/>
                    </a:solidFill>
                  </a:tcPr>
                </a:tc>
                <a:tc>
                  <a:txBody>
                    <a:bodyPr/>
                    <a:lstStyle/>
                    <a:p>
                      <a:endParaRPr lang="en-CA"/>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9999"/>
                    </a:solidFill>
                  </a:tcPr>
                </a:tc>
                <a:tc>
                  <a:txBody>
                    <a:bodyPr/>
                    <a:lstStyle/>
                    <a:p>
                      <a:endParaRPr lang="en-CA"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9999"/>
                    </a:solidFill>
                  </a:tcPr>
                </a:tc>
                <a:tc>
                  <a:txBody>
                    <a:bodyPr/>
                    <a:lstStyle/>
                    <a:p>
                      <a:endParaRPr lang="en-CA"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CA"/>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169636325"/>
                  </a:ext>
                </a:extLst>
              </a:tr>
              <a:tr h="370840">
                <a:tc vMerge="1">
                  <a:txBody>
                    <a:bodyPr/>
                    <a:lstStyle/>
                    <a:p>
                      <a:pPr algn="ctr"/>
                      <a:endParaRPr lang="en-CA" sz="1200" b="1">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200" dirty="0">
                          <a:solidFill>
                            <a:schemeClr val="bg1"/>
                          </a:solidFill>
                        </a:rPr>
                        <a:t>Travaux</a:t>
                      </a:r>
                      <a:endParaRPr lang="en-CA" sz="1200" dirty="0">
                        <a:solidFill>
                          <a:schemeClr val="bg1"/>
                        </a:solidFill>
                      </a:endParaRP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CA"/>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CA"/>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CA"/>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CA"/>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CA"/>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CA"/>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9999"/>
                    </a:solidFill>
                  </a:tcPr>
                </a:tc>
                <a:tc>
                  <a:txBody>
                    <a:bodyPr/>
                    <a:lstStyle/>
                    <a:p>
                      <a:endParaRPr lang="en-CA"/>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9999"/>
                    </a:solidFill>
                  </a:tcPr>
                </a:tc>
                <a:tc>
                  <a:txBody>
                    <a:bodyPr/>
                    <a:lstStyle/>
                    <a:p>
                      <a:endParaRPr lang="en-CA"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9999"/>
                    </a:solidFill>
                  </a:tcPr>
                </a:tc>
                <a:tc>
                  <a:txBody>
                    <a:bodyPr/>
                    <a:lstStyle/>
                    <a:p>
                      <a:endParaRPr lang="en-CA"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CA"/>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079338661"/>
                  </a:ext>
                </a:extLst>
              </a:tr>
              <a:tr h="370840">
                <a:tc vMerge="1">
                  <a:txBody>
                    <a:bodyPr/>
                    <a:lstStyle/>
                    <a:p>
                      <a:pPr algn="ctr"/>
                      <a:endParaRPr lang="en-CA" sz="1200" b="1">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200">
                          <a:solidFill>
                            <a:schemeClr val="bg1"/>
                          </a:solidFill>
                        </a:rPr>
                        <a:t>Locations</a:t>
                      </a:r>
                      <a:endParaRPr lang="en-CA" sz="1200">
                        <a:solidFill>
                          <a:schemeClr val="bg1"/>
                        </a:solidFill>
                      </a:endParaRP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CA"/>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CA"/>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CA"/>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CA"/>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CA"/>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CA"/>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9999"/>
                    </a:solidFill>
                  </a:tcPr>
                </a:tc>
                <a:tc>
                  <a:txBody>
                    <a:bodyPr/>
                    <a:lstStyle/>
                    <a:p>
                      <a:endParaRPr lang="en-CA"/>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9999"/>
                    </a:solidFill>
                  </a:tcPr>
                </a:tc>
                <a:tc>
                  <a:txBody>
                    <a:bodyPr/>
                    <a:lstStyle/>
                    <a:p>
                      <a:endParaRPr lang="en-CA"/>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9999"/>
                    </a:solidFill>
                  </a:tcPr>
                </a:tc>
                <a:tc>
                  <a:txBody>
                    <a:bodyPr/>
                    <a:lstStyle/>
                    <a:p>
                      <a:endParaRPr lang="en-CA"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9999"/>
                    </a:solidFill>
                  </a:tcPr>
                </a:tc>
                <a:tc>
                  <a:txBody>
                    <a:bodyPr/>
                    <a:lstStyle/>
                    <a:p>
                      <a:endParaRPr lang="en-CA"/>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9999"/>
                    </a:solidFill>
                  </a:tcPr>
                </a:tc>
                <a:extLst>
                  <a:ext uri="{0D108BD9-81ED-4DB2-BD59-A6C34878D82A}">
                    <a16:rowId xmlns:a16="http://schemas.microsoft.com/office/drawing/2014/main" val="2016296505"/>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A" sz="1200" b="1" i="0" u="none" strike="noStrike" kern="1200" cap="none" spc="0" normalizeH="0" baseline="0" noProof="0">
                          <a:ln>
                            <a:noFill/>
                          </a:ln>
                          <a:solidFill>
                            <a:prstClr val="white"/>
                          </a:solidFill>
                          <a:effectLst/>
                          <a:uLnTx/>
                          <a:uFillTx/>
                          <a:latin typeface="+mn-lt"/>
                          <a:ea typeface="+mn-ea"/>
                          <a:cs typeface="+mn-cs"/>
                        </a:rPr>
                        <a:t>REFINANCEMENT</a:t>
                      </a:r>
                      <a:endParaRPr kumimoji="0" lang="en-CA" sz="1200" b="1" i="0" u="none" strike="noStrike" kern="1200" cap="none" spc="0" normalizeH="0" baseline="0" noProof="0">
                        <a:ln>
                          <a:noFill/>
                        </a:ln>
                        <a:solidFill>
                          <a:prstClr val="white"/>
                        </a:solidFill>
                        <a:effectLst/>
                        <a:uLnTx/>
                        <a:uFillTx/>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fr-CA" sz="1200" dirty="0">
                          <a:solidFill>
                            <a:schemeClr val="bg1"/>
                          </a:solidFill>
                        </a:rPr>
                        <a:t>Remboursement des partenaires</a:t>
                      </a:r>
                      <a:endParaRPr lang="en-CA" sz="1200" dirty="0">
                        <a:solidFill>
                          <a:schemeClr val="bg1"/>
                        </a:solidFill>
                      </a:endParaRP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CA"/>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CA"/>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CA"/>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CA"/>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CA"/>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CA"/>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CA"/>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CA"/>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CA"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CA"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9999"/>
                    </a:solidFill>
                  </a:tcPr>
                </a:tc>
                <a:extLst>
                  <a:ext uri="{0D108BD9-81ED-4DB2-BD59-A6C34878D82A}">
                    <a16:rowId xmlns:a16="http://schemas.microsoft.com/office/drawing/2014/main" val="3767564558"/>
                  </a:ext>
                </a:extLst>
              </a:tr>
            </a:tbl>
          </a:graphicData>
        </a:graphic>
      </p:graphicFrame>
      <p:graphicFrame>
        <p:nvGraphicFramePr>
          <p:cNvPr id="7" name="Table 6">
            <a:extLst>
              <a:ext uri="{FF2B5EF4-FFF2-40B4-BE49-F238E27FC236}">
                <a16:creationId xmlns:a16="http://schemas.microsoft.com/office/drawing/2014/main" id="{C2865E87-C888-0ABA-E61A-C147D0BB5B4F}"/>
              </a:ext>
            </a:extLst>
          </p:cNvPr>
          <p:cNvGraphicFramePr>
            <a:graphicFrameLocks noGrp="1"/>
          </p:cNvGraphicFramePr>
          <p:nvPr>
            <p:extLst>
              <p:ext uri="{D42A27DB-BD31-4B8C-83A1-F6EECF244321}">
                <p14:modId xmlns:p14="http://schemas.microsoft.com/office/powerpoint/2010/main" val="2495427848"/>
              </p:ext>
            </p:extLst>
          </p:nvPr>
        </p:nvGraphicFramePr>
        <p:xfrm>
          <a:off x="895059" y="5033645"/>
          <a:ext cx="3515015" cy="1205230"/>
        </p:xfrm>
        <a:graphic>
          <a:graphicData uri="http://schemas.openxmlformats.org/drawingml/2006/table">
            <a:tbl>
              <a:tblPr firstRow="1" bandRow="1">
                <a:tableStyleId>{5C22544A-7EE6-4342-B048-85BDC9FD1C3A}</a:tableStyleId>
              </a:tblPr>
              <a:tblGrid>
                <a:gridCol w="1499485">
                  <a:extLst>
                    <a:ext uri="{9D8B030D-6E8A-4147-A177-3AD203B41FA5}">
                      <a16:colId xmlns:a16="http://schemas.microsoft.com/office/drawing/2014/main" val="2659617308"/>
                    </a:ext>
                  </a:extLst>
                </a:gridCol>
                <a:gridCol w="2015530">
                  <a:extLst>
                    <a:ext uri="{9D8B030D-6E8A-4147-A177-3AD203B41FA5}">
                      <a16:colId xmlns:a16="http://schemas.microsoft.com/office/drawing/2014/main" val="4106015061"/>
                    </a:ext>
                  </a:extLst>
                </a:gridCol>
              </a:tblGrid>
              <a:tr h="290830">
                <a:tc>
                  <a:txBody>
                    <a:bodyPr/>
                    <a:lstStyle/>
                    <a:p>
                      <a:r>
                        <a:rPr lang="fr-CA" sz="1200" b="0">
                          <a:solidFill>
                            <a:schemeClr val="tx1"/>
                          </a:solidFill>
                        </a:rPr>
                        <a:t>JALONS</a:t>
                      </a:r>
                      <a:endParaRPr lang="en-CA" sz="1200" b="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rgbClr val="F8D956"/>
                    </a:solidFill>
                  </a:tcPr>
                </a:tc>
                <a:tc>
                  <a:txBody>
                    <a:bodyPr/>
                    <a:lstStyle/>
                    <a:p>
                      <a:r>
                        <a:rPr lang="fr-CA" sz="1200" b="0" dirty="0">
                          <a:solidFill>
                            <a:schemeClr val="tx1"/>
                          </a:solidFill>
                        </a:rPr>
                        <a:t>LIVRABLES</a:t>
                      </a:r>
                      <a:endParaRPr lang="en-CA" sz="1200" b="0" dirty="0">
                        <a:solidFill>
                          <a:schemeClr val="tx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8D956"/>
                    </a:solidFill>
                  </a:tcPr>
                </a:tc>
                <a:extLst>
                  <a:ext uri="{0D108BD9-81ED-4DB2-BD59-A6C34878D82A}">
                    <a16:rowId xmlns:a16="http://schemas.microsoft.com/office/drawing/2014/main" val="4216211834"/>
                  </a:ext>
                </a:extLst>
              </a:tr>
              <a:tr h="370840">
                <a:tc>
                  <a:txBody>
                    <a:bodyPr/>
                    <a:lstStyle/>
                    <a:p>
                      <a:r>
                        <a:rPr lang="fr-CA" sz="1200" dirty="0">
                          <a:solidFill>
                            <a:schemeClr val="bg1"/>
                          </a:solidFill>
                        </a:rPr>
                        <a:t>M1.1 – Novembre 2026</a:t>
                      </a:r>
                      <a:endParaRPr lang="en-CA" sz="1200" dirty="0">
                        <a:solidFill>
                          <a:schemeClr val="bg1"/>
                        </a:solidFill>
                      </a:endParaRPr>
                    </a:p>
                  </a:txBody>
                  <a:tcPr anchor="ctr">
                    <a:lnL w="12700" cap="flat" cmpd="sng" algn="ctr">
                      <a:noFill/>
                      <a:prstDash val="solid"/>
                      <a:round/>
                      <a:headEnd type="none" w="med" len="med"/>
                      <a:tailEnd type="none" w="med" len="med"/>
                    </a:lnL>
                    <a:lnR w="12700" cmpd="sng">
                      <a:noFill/>
                    </a:lnR>
                    <a:lnT w="381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CA" sz="1200" dirty="0">
                          <a:solidFill>
                            <a:schemeClr val="bg1"/>
                          </a:solidFill>
                        </a:rPr>
                        <a:t>Lettre de financement</a:t>
                      </a:r>
                      <a:endParaRPr lang="en-CA" sz="1200" dirty="0">
                        <a:solidFill>
                          <a:schemeClr val="bg1"/>
                        </a:solidFill>
                      </a:endParaRPr>
                    </a:p>
                  </a:txBody>
                  <a:tcPr anchor="ctr">
                    <a:lnL w="12700" cmpd="sng">
                      <a:noFill/>
                    </a:lnL>
                    <a:lnR w="12700" cmpd="sng">
                      <a:noFill/>
                    </a:lnR>
                    <a:lnT w="381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37654459"/>
                  </a:ext>
                </a:extLst>
              </a:tr>
              <a:tr h="370840">
                <a:tc>
                  <a:txBody>
                    <a:bodyPr/>
                    <a:lstStyle/>
                    <a:p>
                      <a:r>
                        <a:rPr lang="fr-CA" sz="1200">
                          <a:solidFill>
                            <a:schemeClr val="bg1"/>
                          </a:solidFill>
                        </a:rPr>
                        <a:t>M1.2 – Décembre 2026</a:t>
                      </a:r>
                      <a:endParaRPr lang="en-CA" sz="1200">
                        <a:solidFill>
                          <a:schemeClr val="bg1"/>
                        </a:solidFill>
                      </a:endParaRPr>
                    </a:p>
                  </a:txBody>
                  <a:tcPr anchor="ctr">
                    <a:lnL w="12700"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CA" sz="1200" dirty="0">
                          <a:solidFill>
                            <a:schemeClr val="bg1"/>
                          </a:solidFill>
                        </a:rPr>
                        <a:t>Passage au notaire</a:t>
                      </a:r>
                      <a:endParaRPr lang="en-CA" sz="12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4021745"/>
                  </a:ext>
                </a:extLst>
              </a:tr>
            </a:tbl>
          </a:graphicData>
        </a:graphic>
      </p:graphicFrame>
      <p:graphicFrame>
        <p:nvGraphicFramePr>
          <p:cNvPr id="13" name="Table 12">
            <a:extLst>
              <a:ext uri="{FF2B5EF4-FFF2-40B4-BE49-F238E27FC236}">
                <a16:creationId xmlns:a16="http://schemas.microsoft.com/office/drawing/2014/main" id="{CDF40566-F3ED-0F68-686A-C9B3B9410506}"/>
              </a:ext>
            </a:extLst>
          </p:cNvPr>
          <p:cNvGraphicFramePr>
            <a:graphicFrameLocks noGrp="1"/>
          </p:cNvGraphicFramePr>
          <p:nvPr>
            <p:extLst>
              <p:ext uri="{D42A27DB-BD31-4B8C-83A1-F6EECF244321}">
                <p14:modId xmlns:p14="http://schemas.microsoft.com/office/powerpoint/2010/main" val="2777911756"/>
              </p:ext>
            </p:extLst>
          </p:nvPr>
        </p:nvGraphicFramePr>
        <p:xfrm>
          <a:off x="4471697" y="5033645"/>
          <a:ext cx="3515015" cy="1860550"/>
        </p:xfrm>
        <a:graphic>
          <a:graphicData uri="http://schemas.openxmlformats.org/drawingml/2006/table">
            <a:tbl>
              <a:tblPr firstRow="1" bandRow="1">
                <a:tableStyleId>{5C22544A-7EE6-4342-B048-85BDC9FD1C3A}</a:tableStyleId>
              </a:tblPr>
              <a:tblGrid>
                <a:gridCol w="1383094">
                  <a:extLst>
                    <a:ext uri="{9D8B030D-6E8A-4147-A177-3AD203B41FA5}">
                      <a16:colId xmlns:a16="http://schemas.microsoft.com/office/drawing/2014/main" val="2659617308"/>
                    </a:ext>
                  </a:extLst>
                </a:gridCol>
                <a:gridCol w="2131921">
                  <a:extLst>
                    <a:ext uri="{9D8B030D-6E8A-4147-A177-3AD203B41FA5}">
                      <a16:colId xmlns:a16="http://schemas.microsoft.com/office/drawing/2014/main" val="4106015061"/>
                    </a:ext>
                  </a:extLst>
                </a:gridCol>
              </a:tblGrid>
              <a:tr h="290830">
                <a:tc>
                  <a:txBody>
                    <a:bodyPr/>
                    <a:lstStyle/>
                    <a:p>
                      <a:r>
                        <a:rPr lang="fr-CA" sz="1200" b="0" dirty="0">
                          <a:solidFill>
                            <a:schemeClr val="tx1"/>
                          </a:solidFill>
                        </a:rPr>
                        <a:t>JALONS</a:t>
                      </a:r>
                      <a:endParaRPr lang="en-CA" sz="1200" b="0"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rgbClr val="F8D956"/>
                    </a:solidFill>
                  </a:tcPr>
                </a:tc>
                <a:tc>
                  <a:txBody>
                    <a:bodyPr/>
                    <a:lstStyle/>
                    <a:p>
                      <a:r>
                        <a:rPr lang="fr-CA" sz="1200" b="0">
                          <a:solidFill>
                            <a:schemeClr val="tx1"/>
                          </a:solidFill>
                        </a:rPr>
                        <a:t>LIVRABLES</a:t>
                      </a:r>
                      <a:endParaRPr lang="en-CA" sz="1200" b="0">
                        <a:solidFill>
                          <a:schemeClr val="tx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8D956"/>
                    </a:solidFill>
                  </a:tcPr>
                </a:tc>
                <a:extLst>
                  <a:ext uri="{0D108BD9-81ED-4DB2-BD59-A6C34878D82A}">
                    <a16:rowId xmlns:a16="http://schemas.microsoft.com/office/drawing/2014/main" val="4216211834"/>
                  </a:ext>
                </a:extLst>
              </a:tr>
              <a:tr h="370840">
                <a:tc>
                  <a:txBody>
                    <a:bodyPr/>
                    <a:lstStyle/>
                    <a:p>
                      <a:r>
                        <a:rPr lang="fr-CA" sz="1200" dirty="0">
                          <a:solidFill>
                            <a:schemeClr val="bg1"/>
                          </a:solidFill>
                        </a:rPr>
                        <a:t>M2.1 – Août 2027</a:t>
                      </a:r>
                      <a:endParaRPr lang="en-CA" sz="1200" dirty="0">
                        <a:solidFill>
                          <a:schemeClr val="bg1"/>
                        </a:solidFill>
                      </a:endParaRPr>
                    </a:p>
                  </a:txBody>
                  <a:tcPr anchor="ctr">
                    <a:lnL w="12700" cap="flat" cmpd="sng" algn="ctr">
                      <a:noFill/>
                      <a:prstDash val="solid"/>
                      <a:round/>
                      <a:headEnd type="none" w="med" len="med"/>
                      <a:tailEnd type="none" w="med" len="med"/>
                    </a:lnL>
                    <a:lnR w="12700" cmpd="sng">
                      <a:noFill/>
                    </a:lnR>
                    <a:lnT w="381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200" dirty="0">
                          <a:solidFill>
                            <a:schemeClr val="bg1"/>
                          </a:solidFill>
                        </a:rPr>
                        <a:t>Fin de création des chambres</a:t>
                      </a:r>
                      <a:endParaRPr lang="en-CA" sz="1200" dirty="0">
                        <a:solidFill>
                          <a:schemeClr val="bg1"/>
                        </a:solidFill>
                      </a:endParaRPr>
                    </a:p>
                  </a:txBody>
                  <a:tcPr anchor="ctr">
                    <a:lnL w="12700" cmpd="sng">
                      <a:noFill/>
                    </a:lnL>
                    <a:lnR w="12700" cmpd="sng">
                      <a:noFill/>
                    </a:lnR>
                    <a:lnT w="381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37654459"/>
                  </a:ext>
                </a:extLst>
              </a:tr>
              <a:tr h="370840">
                <a:tc>
                  <a:txBody>
                    <a:bodyPr/>
                    <a:lstStyle/>
                    <a:p>
                      <a:r>
                        <a:rPr lang="fr-CA" sz="1200" dirty="0">
                          <a:solidFill>
                            <a:schemeClr val="bg1"/>
                          </a:solidFill>
                        </a:rPr>
                        <a:t>M2.2 – Mars 2027</a:t>
                      </a:r>
                      <a:endParaRPr lang="en-CA" sz="1200" dirty="0">
                        <a:solidFill>
                          <a:schemeClr val="bg1"/>
                        </a:solidFill>
                      </a:endParaRPr>
                    </a:p>
                  </a:txBody>
                  <a:tcPr anchor="ctr">
                    <a:lnL w="12700"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CA" sz="1200" dirty="0">
                          <a:solidFill>
                            <a:schemeClr val="bg1"/>
                          </a:solidFill>
                        </a:rPr>
                        <a:t>Ententes avec locataires</a:t>
                      </a:r>
                      <a:endParaRPr lang="en-CA" sz="12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4021745"/>
                  </a:ext>
                </a:extLst>
              </a:tr>
              <a:tr h="370840">
                <a:tc>
                  <a:txBody>
                    <a:bodyPr/>
                    <a:lstStyle/>
                    <a:p>
                      <a:r>
                        <a:rPr lang="fr-CA" sz="1200" dirty="0">
                          <a:solidFill>
                            <a:schemeClr val="bg1"/>
                          </a:solidFill>
                        </a:rPr>
                        <a:t>M2.3 – Août 2027</a:t>
                      </a:r>
                      <a:endParaRPr lang="en-CA" sz="1200" dirty="0">
                        <a:solidFill>
                          <a:schemeClr val="bg1"/>
                        </a:solidFill>
                      </a:endParaRPr>
                    </a:p>
                  </a:txBody>
                  <a:tcPr anchor="ctr">
                    <a:lnL w="12700"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200" dirty="0">
                          <a:solidFill>
                            <a:schemeClr val="bg1"/>
                          </a:solidFill>
                        </a:rPr>
                        <a:t>Fin des travaux appartements</a:t>
                      </a:r>
                      <a:endParaRPr lang="en-CA" sz="12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55245491"/>
                  </a:ext>
                </a:extLst>
              </a:tr>
              <a:tr h="370840">
                <a:tc>
                  <a:txBody>
                    <a:bodyPr/>
                    <a:lstStyle/>
                    <a:p>
                      <a:r>
                        <a:rPr lang="fr-CA" sz="1200" dirty="0">
                          <a:solidFill>
                            <a:schemeClr val="bg1"/>
                          </a:solidFill>
                        </a:rPr>
                        <a:t>M2.4 – Septembre 2027</a:t>
                      </a:r>
                      <a:endParaRPr lang="en-CA" sz="1200" dirty="0">
                        <a:solidFill>
                          <a:schemeClr val="bg1"/>
                        </a:solidFill>
                      </a:endParaRPr>
                    </a:p>
                  </a:txBody>
                  <a:tcPr anchor="ctr">
                    <a:lnL w="12700"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CA" sz="1200" dirty="0">
                          <a:solidFill>
                            <a:schemeClr val="bg1"/>
                          </a:solidFill>
                        </a:rPr>
                        <a:t>Locations et stabilisation</a:t>
                      </a:r>
                      <a:endParaRPr lang="en-CA" sz="12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2453220"/>
                  </a:ext>
                </a:extLst>
              </a:tr>
            </a:tbl>
          </a:graphicData>
        </a:graphic>
      </p:graphicFrame>
      <p:graphicFrame>
        <p:nvGraphicFramePr>
          <p:cNvPr id="22" name="Table 21">
            <a:extLst>
              <a:ext uri="{FF2B5EF4-FFF2-40B4-BE49-F238E27FC236}">
                <a16:creationId xmlns:a16="http://schemas.microsoft.com/office/drawing/2014/main" id="{25359662-6991-9203-8CA2-26EA76C0563F}"/>
              </a:ext>
            </a:extLst>
          </p:cNvPr>
          <p:cNvGraphicFramePr>
            <a:graphicFrameLocks noGrp="1"/>
          </p:cNvGraphicFramePr>
          <p:nvPr>
            <p:extLst>
              <p:ext uri="{D42A27DB-BD31-4B8C-83A1-F6EECF244321}">
                <p14:modId xmlns:p14="http://schemas.microsoft.com/office/powerpoint/2010/main" val="2842520233"/>
              </p:ext>
            </p:extLst>
          </p:nvPr>
        </p:nvGraphicFramePr>
        <p:xfrm>
          <a:off x="8048335" y="5033645"/>
          <a:ext cx="3515015" cy="748030"/>
        </p:xfrm>
        <a:graphic>
          <a:graphicData uri="http://schemas.openxmlformats.org/drawingml/2006/table">
            <a:tbl>
              <a:tblPr firstRow="1" bandRow="1">
                <a:tableStyleId>{5C22544A-7EE6-4342-B048-85BDC9FD1C3A}</a:tableStyleId>
              </a:tblPr>
              <a:tblGrid>
                <a:gridCol w="1424586">
                  <a:extLst>
                    <a:ext uri="{9D8B030D-6E8A-4147-A177-3AD203B41FA5}">
                      <a16:colId xmlns:a16="http://schemas.microsoft.com/office/drawing/2014/main" val="2659617308"/>
                    </a:ext>
                  </a:extLst>
                </a:gridCol>
                <a:gridCol w="2090429">
                  <a:extLst>
                    <a:ext uri="{9D8B030D-6E8A-4147-A177-3AD203B41FA5}">
                      <a16:colId xmlns:a16="http://schemas.microsoft.com/office/drawing/2014/main" val="4106015061"/>
                    </a:ext>
                  </a:extLst>
                </a:gridCol>
              </a:tblGrid>
              <a:tr h="290830">
                <a:tc>
                  <a:txBody>
                    <a:bodyPr/>
                    <a:lstStyle/>
                    <a:p>
                      <a:r>
                        <a:rPr lang="fr-CA" sz="1200" b="0">
                          <a:solidFill>
                            <a:schemeClr val="tx1"/>
                          </a:solidFill>
                        </a:rPr>
                        <a:t>JALONS</a:t>
                      </a:r>
                      <a:endParaRPr lang="en-CA" sz="1200" b="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rgbClr val="F8D956"/>
                    </a:solidFill>
                  </a:tcPr>
                </a:tc>
                <a:tc>
                  <a:txBody>
                    <a:bodyPr/>
                    <a:lstStyle/>
                    <a:p>
                      <a:r>
                        <a:rPr lang="fr-CA" sz="1200" b="0">
                          <a:solidFill>
                            <a:schemeClr val="tx1"/>
                          </a:solidFill>
                        </a:rPr>
                        <a:t>LIVRABLES</a:t>
                      </a:r>
                      <a:endParaRPr lang="en-CA" sz="1200" b="0">
                        <a:solidFill>
                          <a:schemeClr val="tx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8D956"/>
                    </a:solidFill>
                  </a:tcPr>
                </a:tc>
                <a:extLst>
                  <a:ext uri="{0D108BD9-81ED-4DB2-BD59-A6C34878D82A}">
                    <a16:rowId xmlns:a16="http://schemas.microsoft.com/office/drawing/2014/main" val="4216211834"/>
                  </a:ext>
                </a:extLst>
              </a:tr>
              <a:tr h="370840">
                <a:tc>
                  <a:txBody>
                    <a:bodyPr/>
                    <a:lstStyle/>
                    <a:p>
                      <a:r>
                        <a:rPr lang="fr-CA" sz="1200" dirty="0">
                          <a:solidFill>
                            <a:schemeClr val="bg1"/>
                          </a:solidFill>
                        </a:rPr>
                        <a:t>M3.1 – Décembre 2028</a:t>
                      </a:r>
                      <a:endParaRPr lang="en-CA" sz="1200" dirty="0">
                        <a:solidFill>
                          <a:schemeClr val="bg1"/>
                        </a:solidFill>
                      </a:endParaRPr>
                    </a:p>
                  </a:txBody>
                  <a:tcPr anchor="ctr">
                    <a:lnL w="12700" cap="flat" cmpd="sng" algn="ctr">
                      <a:noFill/>
                      <a:prstDash val="solid"/>
                      <a:round/>
                      <a:headEnd type="none" w="med" len="med"/>
                      <a:tailEnd type="none" w="med" len="med"/>
                    </a:lnL>
                    <a:lnR w="12700" cmpd="sng">
                      <a:noFill/>
                    </a:lnR>
                    <a:lnT w="381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CA" sz="1200" dirty="0">
                          <a:solidFill>
                            <a:schemeClr val="bg1"/>
                          </a:solidFill>
                        </a:rPr>
                        <a:t>Remboursement partenaires</a:t>
                      </a:r>
                      <a:endParaRPr lang="en-CA" sz="1200" dirty="0">
                        <a:solidFill>
                          <a:schemeClr val="bg1"/>
                        </a:solidFill>
                      </a:endParaRPr>
                    </a:p>
                  </a:txBody>
                  <a:tcPr anchor="ctr">
                    <a:lnL w="12700" cmpd="sng">
                      <a:noFill/>
                    </a:lnL>
                    <a:lnR w="12700" cmpd="sng">
                      <a:noFill/>
                    </a:lnR>
                    <a:lnT w="381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37654459"/>
                  </a:ext>
                </a:extLst>
              </a:tr>
            </a:tbl>
          </a:graphicData>
        </a:graphic>
      </p:graphicFrame>
      <p:sp>
        <p:nvSpPr>
          <p:cNvPr id="29" name="Flowchart: Decision 28">
            <a:extLst>
              <a:ext uri="{FF2B5EF4-FFF2-40B4-BE49-F238E27FC236}">
                <a16:creationId xmlns:a16="http://schemas.microsoft.com/office/drawing/2014/main" id="{E6DAA5B9-D0B5-7B29-4C42-084C4850B15E}"/>
              </a:ext>
            </a:extLst>
          </p:cNvPr>
          <p:cNvSpPr/>
          <p:nvPr/>
        </p:nvSpPr>
        <p:spPr>
          <a:xfrm>
            <a:off x="9567863" y="5788025"/>
            <a:ext cx="233362" cy="325012"/>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ln>
                <a:solidFill>
                  <a:sysClr val="windowText" lastClr="000000"/>
                </a:solidFill>
              </a:ln>
            </a:endParaRPr>
          </a:p>
        </p:txBody>
      </p:sp>
      <p:sp>
        <p:nvSpPr>
          <p:cNvPr id="30" name="Flowchart: Decision 29">
            <a:extLst>
              <a:ext uri="{FF2B5EF4-FFF2-40B4-BE49-F238E27FC236}">
                <a16:creationId xmlns:a16="http://schemas.microsoft.com/office/drawing/2014/main" id="{017E09E5-9358-D481-BF84-736793B2D373}"/>
              </a:ext>
            </a:extLst>
          </p:cNvPr>
          <p:cNvSpPr/>
          <p:nvPr/>
        </p:nvSpPr>
        <p:spPr>
          <a:xfrm>
            <a:off x="9567863" y="6113037"/>
            <a:ext cx="233362" cy="325012"/>
          </a:xfrm>
          <a:prstGeom prst="flowChartDecision">
            <a:avLst/>
          </a:prstGeom>
          <a:solidFill>
            <a:srgbClr val="F8D95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1" name="Rectangle 30">
            <a:extLst>
              <a:ext uri="{FF2B5EF4-FFF2-40B4-BE49-F238E27FC236}">
                <a16:creationId xmlns:a16="http://schemas.microsoft.com/office/drawing/2014/main" id="{0669BBE7-2B57-613A-6DF9-9B0CFC7937CC}"/>
              </a:ext>
            </a:extLst>
          </p:cNvPr>
          <p:cNvSpPr/>
          <p:nvPr/>
        </p:nvSpPr>
        <p:spPr>
          <a:xfrm>
            <a:off x="9567863" y="6447574"/>
            <a:ext cx="233362" cy="243476"/>
          </a:xfrm>
          <a:prstGeom prst="rect">
            <a:avLst/>
          </a:prstGeom>
          <a:solidFill>
            <a:srgbClr val="92D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2" name="TextBox 31">
            <a:extLst>
              <a:ext uri="{FF2B5EF4-FFF2-40B4-BE49-F238E27FC236}">
                <a16:creationId xmlns:a16="http://schemas.microsoft.com/office/drawing/2014/main" id="{E126E16B-C82C-A624-2CFE-BE7AAD84B093}"/>
              </a:ext>
            </a:extLst>
          </p:cNvPr>
          <p:cNvSpPr txBox="1"/>
          <p:nvPr/>
        </p:nvSpPr>
        <p:spPr>
          <a:xfrm>
            <a:off x="9801225" y="5818576"/>
            <a:ext cx="1813815" cy="5539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CA" sz="1200" b="0" i="0" u="none" strike="noStrike" kern="1200" cap="none" spc="0" normalizeH="0" baseline="0" noProof="0">
                <a:ln>
                  <a:noFill/>
                </a:ln>
                <a:solidFill>
                  <a:schemeClr val="bg1"/>
                </a:solidFill>
                <a:effectLst/>
                <a:uLnTx/>
                <a:uFillTx/>
                <a:latin typeface="Aptos" panose="02110004020202020204"/>
                <a:ea typeface="+mn-ea"/>
                <a:cs typeface="+mn-cs"/>
              </a:rPr>
              <a:t>Terminé</a:t>
            </a:r>
            <a:endParaRPr kumimoji="0" lang="en-CA" sz="1200" b="0" i="0" u="none" strike="noStrike" kern="1200" cap="none" spc="0" normalizeH="0" baseline="0" noProof="0">
              <a:ln>
                <a:noFill/>
              </a:ln>
              <a:solidFill>
                <a:schemeClr val="bg1"/>
              </a:solidFill>
              <a:effectLst/>
              <a:uLnTx/>
              <a:uFillTx/>
              <a:latin typeface="Aptos" panose="02110004020202020204"/>
              <a:ea typeface="+mn-ea"/>
              <a:cs typeface="+mn-cs"/>
            </a:endParaRPr>
          </a:p>
          <a:p>
            <a:endParaRPr lang="en-CA"/>
          </a:p>
        </p:txBody>
      </p:sp>
      <p:sp>
        <p:nvSpPr>
          <p:cNvPr id="33" name="TextBox 32">
            <a:extLst>
              <a:ext uri="{FF2B5EF4-FFF2-40B4-BE49-F238E27FC236}">
                <a16:creationId xmlns:a16="http://schemas.microsoft.com/office/drawing/2014/main" id="{A1D1FF02-07D9-B515-DCA7-9158DCA6CC6C}"/>
              </a:ext>
            </a:extLst>
          </p:cNvPr>
          <p:cNvSpPr txBox="1"/>
          <p:nvPr/>
        </p:nvSpPr>
        <p:spPr>
          <a:xfrm>
            <a:off x="9801225" y="6143588"/>
            <a:ext cx="1813815" cy="5539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CA" sz="1200" b="0" i="0" u="none" strike="noStrike" kern="1200" cap="none" spc="0" normalizeH="0" baseline="0" noProof="0">
                <a:ln>
                  <a:noFill/>
                </a:ln>
                <a:solidFill>
                  <a:schemeClr val="bg1"/>
                </a:solidFill>
                <a:effectLst/>
                <a:uLnTx/>
                <a:uFillTx/>
                <a:latin typeface="Aptos" panose="02110004020202020204"/>
                <a:ea typeface="+mn-ea"/>
                <a:cs typeface="+mn-cs"/>
              </a:rPr>
              <a:t>Prévu</a:t>
            </a:r>
            <a:endParaRPr kumimoji="0" lang="en-CA" sz="1200" b="0" i="0" u="none" strike="noStrike" kern="1200" cap="none" spc="0" normalizeH="0" baseline="0" noProof="0">
              <a:ln>
                <a:noFill/>
              </a:ln>
              <a:solidFill>
                <a:schemeClr val="bg1"/>
              </a:solidFill>
              <a:effectLst/>
              <a:uLnTx/>
              <a:uFillTx/>
              <a:latin typeface="Aptos" panose="02110004020202020204"/>
              <a:ea typeface="+mn-ea"/>
              <a:cs typeface="+mn-cs"/>
            </a:endParaRPr>
          </a:p>
          <a:p>
            <a:endParaRPr lang="en-CA"/>
          </a:p>
        </p:txBody>
      </p:sp>
      <p:sp>
        <p:nvSpPr>
          <p:cNvPr id="34" name="TextBox 33">
            <a:extLst>
              <a:ext uri="{FF2B5EF4-FFF2-40B4-BE49-F238E27FC236}">
                <a16:creationId xmlns:a16="http://schemas.microsoft.com/office/drawing/2014/main" id="{259D1206-0998-36F2-E5F6-1E1D1AE79E47}"/>
              </a:ext>
            </a:extLst>
          </p:cNvPr>
          <p:cNvSpPr txBox="1"/>
          <p:nvPr/>
        </p:nvSpPr>
        <p:spPr>
          <a:xfrm>
            <a:off x="9801225" y="6447574"/>
            <a:ext cx="1813815" cy="5539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CA" sz="1200" b="0" i="0" u="none" strike="noStrike" kern="1200" cap="none" spc="0" normalizeH="0" baseline="0" noProof="0">
                <a:ln>
                  <a:noFill/>
                </a:ln>
                <a:solidFill>
                  <a:schemeClr val="bg1"/>
                </a:solidFill>
                <a:effectLst/>
                <a:uLnTx/>
                <a:uFillTx/>
                <a:latin typeface="Aptos" panose="02110004020202020204"/>
                <a:ea typeface="+mn-ea"/>
                <a:cs typeface="+mn-cs"/>
              </a:rPr>
              <a:t>Début</a:t>
            </a:r>
            <a:endParaRPr kumimoji="0" lang="en-CA" sz="1200" b="0" i="0" u="none" strike="noStrike" kern="1200" cap="none" spc="0" normalizeH="0" baseline="0" noProof="0">
              <a:ln>
                <a:noFill/>
              </a:ln>
              <a:solidFill>
                <a:schemeClr val="bg1"/>
              </a:solidFill>
              <a:effectLst/>
              <a:uLnTx/>
              <a:uFillTx/>
              <a:latin typeface="Aptos" panose="02110004020202020204"/>
              <a:ea typeface="+mn-ea"/>
              <a:cs typeface="+mn-cs"/>
            </a:endParaRPr>
          </a:p>
          <a:p>
            <a:endParaRPr lang="en-CA"/>
          </a:p>
        </p:txBody>
      </p:sp>
      <p:sp>
        <p:nvSpPr>
          <p:cNvPr id="35" name="Flowchart: Decision 34">
            <a:extLst>
              <a:ext uri="{FF2B5EF4-FFF2-40B4-BE49-F238E27FC236}">
                <a16:creationId xmlns:a16="http://schemas.microsoft.com/office/drawing/2014/main" id="{B91E28FB-0238-B7DD-8A46-40B63A1008D4}"/>
              </a:ext>
            </a:extLst>
          </p:cNvPr>
          <p:cNvSpPr/>
          <p:nvPr/>
        </p:nvSpPr>
        <p:spPr>
          <a:xfrm>
            <a:off x="6310313" y="2207787"/>
            <a:ext cx="233362" cy="325012"/>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6" name="Flowchart: Decision 35">
            <a:extLst>
              <a:ext uri="{FF2B5EF4-FFF2-40B4-BE49-F238E27FC236}">
                <a16:creationId xmlns:a16="http://schemas.microsoft.com/office/drawing/2014/main" id="{2A510B27-955F-3193-900B-D289A9B79466}"/>
              </a:ext>
            </a:extLst>
          </p:cNvPr>
          <p:cNvSpPr/>
          <p:nvPr/>
        </p:nvSpPr>
        <p:spPr>
          <a:xfrm>
            <a:off x="6310313" y="2560523"/>
            <a:ext cx="233362" cy="325012"/>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7" name="Flowchart: Decision 36">
            <a:extLst>
              <a:ext uri="{FF2B5EF4-FFF2-40B4-BE49-F238E27FC236}">
                <a16:creationId xmlns:a16="http://schemas.microsoft.com/office/drawing/2014/main" id="{3A71FBD5-C4F3-A291-4AB3-731081A081A0}"/>
              </a:ext>
            </a:extLst>
          </p:cNvPr>
          <p:cNvSpPr/>
          <p:nvPr/>
        </p:nvSpPr>
        <p:spPr>
          <a:xfrm>
            <a:off x="8178882" y="2940897"/>
            <a:ext cx="233362" cy="325012"/>
          </a:xfrm>
          <a:prstGeom prst="flowChartDecision">
            <a:avLst/>
          </a:prstGeom>
          <a:solidFill>
            <a:srgbClr val="F8D95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8" name="Flowchart: Decision 37">
            <a:extLst>
              <a:ext uri="{FF2B5EF4-FFF2-40B4-BE49-F238E27FC236}">
                <a16:creationId xmlns:a16="http://schemas.microsoft.com/office/drawing/2014/main" id="{2CDE6F18-BB93-0826-6BFF-88B18CA90E9D}"/>
              </a:ext>
            </a:extLst>
          </p:cNvPr>
          <p:cNvSpPr/>
          <p:nvPr/>
        </p:nvSpPr>
        <p:spPr>
          <a:xfrm>
            <a:off x="9445467" y="3312573"/>
            <a:ext cx="233362" cy="325012"/>
          </a:xfrm>
          <a:prstGeom prst="flowChartDecision">
            <a:avLst/>
          </a:prstGeom>
          <a:solidFill>
            <a:srgbClr val="F8D95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9" name="Flowchart: Decision 38">
            <a:extLst>
              <a:ext uri="{FF2B5EF4-FFF2-40B4-BE49-F238E27FC236}">
                <a16:creationId xmlns:a16="http://schemas.microsoft.com/office/drawing/2014/main" id="{93091D0B-A27E-6AAF-999F-BE8FA005DEEB}"/>
              </a:ext>
            </a:extLst>
          </p:cNvPr>
          <p:cNvSpPr/>
          <p:nvPr/>
        </p:nvSpPr>
        <p:spPr>
          <a:xfrm>
            <a:off x="9445467" y="3675546"/>
            <a:ext cx="233362" cy="325012"/>
          </a:xfrm>
          <a:prstGeom prst="flowChartDecision">
            <a:avLst/>
          </a:prstGeom>
          <a:solidFill>
            <a:srgbClr val="F8D95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0" name="Flowchart: Decision 39">
            <a:extLst>
              <a:ext uri="{FF2B5EF4-FFF2-40B4-BE49-F238E27FC236}">
                <a16:creationId xmlns:a16="http://schemas.microsoft.com/office/drawing/2014/main" id="{012AE454-957F-657C-5E55-3737B155487C}"/>
              </a:ext>
            </a:extLst>
          </p:cNvPr>
          <p:cNvSpPr/>
          <p:nvPr/>
        </p:nvSpPr>
        <p:spPr>
          <a:xfrm>
            <a:off x="10106932" y="4068356"/>
            <a:ext cx="233362" cy="325012"/>
          </a:xfrm>
          <a:prstGeom prst="flowChartDecision">
            <a:avLst/>
          </a:prstGeom>
          <a:solidFill>
            <a:srgbClr val="F8D95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1" name="Flowchart: Decision 40">
            <a:extLst>
              <a:ext uri="{FF2B5EF4-FFF2-40B4-BE49-F238E27FC236}">
                <a16:creationId xmlns:a16="http://schemas.microsoft.com/office/drawing/2014/main" id="{75E35892-1FC6-789E-4591-CBE5CCC4D077}"/>
              </a:ext>
            </a:extLst>
          </p:cNvPr>
          <p:cNvSpPr/>
          <p:nvPr/>
        </p:nvSpPr>
        <p:spPr>
          <a:xfrm>
            <a:off x="10771348" y="4462019"/>
            <a:ext cx="233362" cy="325012"/>
          </a:xfrm>
          <a:prstGeom prst="flowChartDecision">
            <a:avLst/>
          </a:prstGeom>
          <a:solidFill>
            <a:srgbClr val="F8D95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2" name="TextBox 41">
            <a:extLst>
              <a:ext uri="{FF2B5EF4-FFF2-40B4-BE49-F238E27FC236}">
                <a16:creationId xmlns:a16="http://schemas.microsoft.com/office/drawing/2014/main" id="{62B41544-EE20-1630-9576-D18D4F0A4E0B}"/>
              </a:ext>
            </a:extLst>
          </p:cNvPr>
          <p:cNvSpPr txBox="1"/>
          <p:nvPr/>
        </p:nvSpPr>
        <p:spPr>
          <a:xfrm>
            <a:off x="10995185" y="4501001"/>
            <a:ext cx="720565" cy="5539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CA" sz="1200" b="0" i="0" u="none" strike="noStrike" kern="1200" cap="none" spc="0" normalizeH="0" baseline="0" noProof="0" dirty="0">
                <a:ln>
                  <a:noFill/>
                </a:ln>
                <a:solidFill>
                  <a:schemeClr val="bg1"/>
                </a:solidFill>
                <a:effectLst/>
                <a:uLnTx/>
                <a:uFillTx/>
                <a:latin typeface="Aptos" panose="02110004020202020204"/>
                <a:ea typeface="+mn-ea"/>
                <a:cs typeface="+mn-cs"/>
              </a:rPr>
              <a:t>3.1</a:t>
            </a:r>
            <a:endParaRPr kumimoji="0" lang="en-CA" sz="1200" b="0" i="0" u="none" strike="noStrike" kern="1200" cap="none" spc="0" normalizeH="0" baseline="0" noProof="0" dirty="0">
              <a:ln>
                <a:noFill/>
              </a:ln>
              <a:solidFill>
                <a:schemeClr val="bg1"/>
              </a:solidFill>
              <a:effectLst/>
              <a:uLnTx/>
              <a:uFillTx/>
              <a:latin typeface="Aptos" panose="02110004020202020204"/>
              <a:ea typeface="+mn-ea"/>
              <a:cs typeface="+mn-cs"/>
            </a:endParaRPr>
          </a:p>
          <a:p>
            <a:endParaRPr lang="en-CA" dirty="0"/>
          </a:p>
        </p:txBody>
      </p:sp>
      <p:sp>
        <p:nvSpPr>
          <p:cNvPr id="43" name="TextBox 42">
            <a:extLst>
              <a:ext uri="{FF2B5EF4-FFF2-40B4-BE49-F238E27FC236}">
                <a16:creationId xmlns:a16="http://schemas.microsoft.com/office/drawing/2014/main" id="{AA0F67F3-4A81-7AB6-B352-9C5771AF070F}"/>
              </a:ext>
            </a:extLst>
          </p:cNvPr>
          <p:cNvSpPr txBox="1"/>
          <p:nvPr/>
        </p:nvSpPr>
        <p:spPr>
          <a:xfrm>
            <a:off x="10322911" y="4081814"/>
            <a:ext cx="720565" cy="5539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CA" sz="1200" b="0" i="0" u="none" strike="noStrike" kern="1200" cap="none" spc="0" normalizeH="0" baseline="0" noProof="0">
                <a:ln>
                  <a:noFill/>
                </a:ln>
                <a:solidFill>
                  <a:schemeClr val="bg1"/>
                </a:solidFill>
                <a:effectLst/>
                <a:uLnTx/>
                <a:uFillTx/>
                <a:latin typeface="Aptos" panose="02110004020202020204"/>
                <a:ea typeface="+mn-ea"/>
                <a:cs typeface="+mn-cs"/>
              </a:rPr>
              <a:t>2.4</a:t>
            </a:r>
            <a:endParaRPr kumimoji="0" lang="en-CA" sz="1200" b="0" i="0" u="none" strike="noStrike" kern="1200" cap="none" spc="0" normalizeH="0" baseline="0" noProof="0">
              <a:ln>
                <a:noFill/>
              </a:ln>
              <a:solidFill>
                <a:schemeClr val="bg1"/>
              </a:solidFill>
              <a:effectLst/>
              <a:uLnTx/>
              <a:uFillTx/>
              <a:latin typeface="Aptos" panose="02110004020202020204"/>
              <a:ea typeface="+mn-ea"/>
              <a:cs typeface="+mn-cs"/>
            </a:endParaRPr>
          </a:p>
          <a:p>
            <a:endParaRPr lang="en-CA"/>
          </a:p>
        </p:txBody>
      </p:sp>
      <p:sp>
        <p:nvSpPr>
          <p:cNvPr id="44" name="TextBox 43">
            <a:extLst>
              <a:ext uri="{FF2B5EF4-FFF2-40B4-BE49-F238E27FC236}">
                <a16:creationId xmlns:a16="http://schemas.microsoft.com/office/drawing/2014/main" id="{A4362B08-2F1A-BCB6-A7B6-5889C5FA9C87}"/>
              </a:ext>
            </a:extLst>
          </p:cNvPr>
          <p:cNvSpPr txBox="1"/>
          <p:nvPr/>
        </p:nvSpPr>
        <p:spPr>
          <a:xfrm>
            <a:off x="9647159" y="3711043"/>
            <a:ext cx="720565" cy="5539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CA" sz="1200" b="0" i="0" u="none" strike="noStrike" kern="1200" cap="none" spc="0" normalizeH="0" baseline="0" noProof="0">
                <a:ln>
                  <a:noFill/>
                </a:ln>
                <a:solidFill>
                  <a:schemeClr val="bg1"/>
                </a:solidFill>
                <a:effectLst/>
                <a:uLnTx/>
                <a:uFillTx/>
                <a:latin typeface="Aptos" panose="02110004020202020204"/>
                <a:ea typeface="+mn-ea"/>
                <a:cs typeface="+mn-cs"/>
              </a:rPr>
              <a:t>2.3</a:t>
            </a:r>
            <a:endParaRPr kumimoji="0" lang="en-CA" sz="1200" b="0" i="0" u="none" strike="noStrike" kern="1200" cap="none" spc="0" normalizeH="0" baseline="0" noProof="0">
              <a:ln>
                <a:noFill/>
              </a:ln>
              <a:solidFill>
                <a:schemeClr val="bg1"/>
              </a:solidFill>
              <a:effectLst/>
              <a:uLnTx/>
              <a:uFillTx/>
              <a:latin typeface="Aptos" panose="02110004020202020204"/>
              <a:ea typeface="+mn-ea"/>
              <a:cs typeface="+mn-cs"/>
            </a:endParaRPr>
          </a:p>
          <a:p>
            <a:endParaRPr lang="en-CA"/>
          </a:p>
        </p:txBody>
      </p:sp>
      <p:sp>
        <p:nvSpPr>
          <p:cNvPr id="45" name="TextBox 44">
            <a:extLst>
              <a:ext uri="{FF2B5EF4-FFF2-40B4-BE49-F238E27FC236}">
                <a16:creationId xmlns:a16="http://schemas.microsoft.com/office/drawing/2014/main" id="{C79520C3-AAA4-E59D-38C1-AF1B7E5EAC1C}"/>
              </a:ext>
            </a:extLst>
          </p:cNvPr>
          <p:cNvSpPr txBox="1"/>
          <p:nvPr/>
        </p:nvSpPr>
        <p:spPr>
          <a:xfrm>
            <a:off x="9631204" y="3344965"/>
            <a:ext cx="720565" cy="5539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CA" sz="1200" b="0" i="0" u="none" strike="noStrike" kern="1200" cap="none" spc="0" normalizeH="0" baseline="0" noProof="0" dirty="0">
                <a:ln>
                  <a:noFill/>
                </a:ln>
                <a:solidFill>
                  <a:schemeClr val="bg1"/>
                </a:solidFill>
                <a:effectLst/>
                <a:uLnTx/>
                <a:uFillTx/>
                <a:latin typeface="Aptos" panose="02110004020202020204"/>
                <a:ea typeface="+mn-ea"/>
                <a:cs typeface="+mn-cs"/>
              </a:rPr>
              <a:t>2.2</a:t>
            </a:r>
            <a:endParaRPr kumimoji="0" lang="en-CA" sz="1200" b="0" i="0" u="none" strike="noStrike" kern="1200" cap="none" spc="0" normalizeH="0" baseline="0" noProof="0" dirty="0">
              <a:ln>
                <a:noFill/>
              </a:ln>
              <a:solidFill>
                <a:schemeClr val="bg1"/>
              </a:solidFill>
              <a:effectLst/>
              <a:uLnTx/>
              <a:uFillTx/>
              <a:latin typeface="Aptos" panose="02110004020202020204"/>
              <a:ea typeface="+mn-ea"/>
              <a:cs typeface="+mn-cs"/>
            </a:endParaRPr>
          </a:p>
          <a:p>
            <a:endParaRPr lang="en-CA" dirty="0"/>
          </a:p>
        </p:txBody>
      </p:sp>
      <p:sp>
        <p:nvSpPr>
          <p:cNvPr id="46" name="TextBox 45">
            <a:extLst>
              <a:ext uri="{FF2B5EF4-FFF2-40B4-BE49-F238E27FC236}">
                <a16:creationId xmlns:a16="http://schemas.microsoft.com/office/drawing/2014/main" id="{F20B5771-497E-4714-BAE7-792C943D0397}"/>
              </a:ext>
            </a:extLst>
          </p:cNvPr>
          <p:cNvSpPr txBox="1"/>
          <p:nvPr/>
        </p:nvSpPr>
        <p:spPr>
          <a:xfrm>
            <a:off x="8412244" y="2966346"/>
            <a:ext cx="720565" cy="5539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CA" sz="1200" b="0" i="0" u="none" strike="noStrike" kern="1200" cap="none" spc="0" normalizeH="0" baseline="0" noProof="0" dirty="0">
                <a:ln>
                  <a:noFill/>
                </a:ln>
                <a:solidFill>
                  <a:schemeClr val="bg1"/>
                </a:solidFill>
                <a:effectLst/>
                <a:uLnTx/>
                <a:uFillTx/>
                <a:latin typeface="Aptos" panose="02110004020202020204"/>
                <a:ea typeface="+mn-ea"/>
                <a:cs typeface="+mn-cs"/>
              </a:rPr>
              <a:t>2.1</a:t>
            </a:r>
            <a:endParaRPr kumimoji="0" lang="en-CA" sz="1200" b="0" i="0" u="none" strike="noStrike" kern="1200" cap="none" spc="0" normalizeH="0" baseline="0" noProof="0" dirty="0">
              <a:ln>
                <a:noFill/>
              </a:ln>
              <a:solidFill>
                <a:schemeClr val="bg1"/>
              </a:solidFill>
              <a:effectLst/>
              <a:uLnTx/>
              <a:uFillTx/>
              <a:latin typeface="Aptos" panose="02110004020202020204"/>
              <a:ea typeface="+mn-ea"/>
              <a:cs typeface="+mn-cs"/>
            </a:endParaRPr>
          </a:p>
          <a:p>
            <a:endParaRPr lang="en-CA" dirty="0"/>
          </a:p>
        </p:txBody>
      </p:sp>
      <p:sp>
        <p:nvSpPr>
          <p:cNvPr id="47" name="TextBox 46">
            <a:extLst>
              <a:ext uri="{FF2B5EF4-FFF2-40B4-BE49-F238E27FC236}">
                <a16:creationId xmlns:a16="http://schemas.microsoft.com/office/drawing/2014/main" id="{1C8D0B6D-BB1B-E29E-1188-8D66DF235EC3}"/>
              </a:ext>
            </a:extLst>
          </p:cNvPr>
          <p:cNvSpPr txBox="1"/>
          <p:nvPr/>
        </p:nvSpPr>
        <p:spPr>
          <a:xfrm>
            <a:off x="6543675" y="2216405"/>
            <a:ext cx="720565" cy="5539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200">
                <a:solidFill>
                  <a:schemeClr val="bg1"/>
                </a:solidFill>
                <a:latin typeface="Aptos" panose="02110004020202020204"/>
              </a:rPr>
              <a:t>1.1</a:t>
            </a:r>
            <a:endParaRPr kumimoji="0" lang="en-CA" sz="1200" b="0" i="0" u="none" strike="noStrike" kern="1200" cap="none" spc="0" normalizeH="0" baseline="0" noProof="0">
              <a:ln>
                <a:noFill/>
              </a:ln>
              <a:solidFill>
                <a:schemeClr val="bg1"/>
              </a:solidFill>
              <a:effectLst/>
              <a:uLnTx/>
              <a:uFillTx/>
              <a:latin typeface="Aptos" panose="02110004020202020204"/>
              <a:ea typeface="+mn-ea"/>
              <a:cs typeface="+mn-cs"/>
            </a:endParaRPr>
          </a:p>
          <a:p>
            <a:endParaRPr lang="en-CA"/>
          </a:p>
        </p:txBody>
      </p:sp>
      <p:sp>
        <p:nvSpPr>
          <p:cNvPr id="48" name="TextBox 47">
            <a:extLst>
              <a:ext uri="{FF2B5EF4-FFF2-40B4-BE49-F238E27FC236}">
                <a16:creationId xmlns:a16="http://schemas.microsoft.com/office/drawing/2014/main" id="{823D2EE0-93EC-609C-5DFA-6FFB5BF23DFC}"/>
              </a:ext>
            </a:extLst>
          </p:cNvPr>
          <p:cNvSpPr txBox="1"/>
          <p:nvPr/>
        </p:nvSpPr>
        <p:spPr>
          <a:xfrm>
            <a:off x="6527960" y="2577859"/>
            <a:ext cx="720565" cy="5539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200">
                <a:solidFill>
                  <a:schemeClr val="bg1"/>
                </a:solidFill>
                <a:latin typeface="Aptos" panose="02110004020202020204"/>
              </a:rPr>
              <a:t>1</a:t>
            </a:r>
            <a:r>
              <a:rPr kumimoji="0" lang="fr-CA" sz="1200" b="0" i="0" u="none" strike="noStrike" kern="1200" cap="none" spc="0" normalizeH="0" baseline="0" noProof="0">
                <a:ln>
                  <a:noFill/>
                </a:ln>
                <a:solidFill>
                  <a:schemeClr val="bg1"/>
                </a:solidFill>
                <a:effectLst/>
                <a:uLnTx/>
                <a:uFillTx/>
                <a:latin typeface="Aptos" panose="02110004020202020204"/>
                <a:ea typeface="+mn-ea"/>
                <a:cs typeface="+mn-cs"/>
              </a:rPr>
              <a:t>.2</a:t>
            </a:r>
            <a:endParaRPr kumimoji="0" lang="en-CA" sz="1200" b="0" i="0" u="none" strike="noStrike" kern="1200" cap="none" spc="0" normalizeH="0" baseline="0" noProof="0">
              <a:ln>
                <a:noFill/>
              </a:ln>
              <a:solidFill>
                <a:schemeClr val="bg1"/>
              </a:solidFill>
              <a:effectLst/>
              <a:uLnTx/>
              <a:uFillTx/>
              <a:latin typeface="Aptos" panose="02110004020202020204"/>
              <a:ea typeface="+mn-ea"/>
              <a:cs typeface="+mn-cs"/>
            </a:endParaRPr>
          </a:p>
          <a:p>
            <a:endParaRPr lang="en-CA"/>
          </a:p>
        </p:txBody>
      </p:sp>
      <p:sp>
        <p:nvSpPr>
          <p:cNvPr id="49" name="Rectangle 48">
            <a:extLst>
              <a:ext uri="{FF2B5EF4-FFF2-40B4-BE49-F238E27FC236}">
                <a16:creationId xmlns:a16="http://schemas.microsoft.com/office/drawing/2014/main" id="{A721AB23-C24B-25FD-9299-029E87C67423}"/>
              </a:ext>
            </a:extLst>
          </p:cNvPr>
          <p:cNvSpPr/>
          <p:nvPr/>
        </p:nvSpPr>
        <p:spPr>
          <a:xfrm>
            <a:off x="4138612" y="2248555"/>
            <a:ext cx="233362" cy="243476"/>
          </a:xfrm>
          <a:prstGeom prst="rect">
            <a:avLst/>
          </a:prstGeom>
          <a:solidFill>
            <a:srgbClr val="92D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0" name="Rectangle 49">
            <a:extLst>
              <a:ext uri="{FF2B5EF4-FFF2-40B4-BE49-F238E27FC236}">
                <a16:creationId xmlns:a16="http://schemas.microsoft.com/office/drawing/2014/main" id="{000745EA-8B41-EA7C-705B-370EDEDD62C7}"/>
              </a:ext>
            </a:extLst>
          </p:cNvPr>
          <p:cNvSpPr/>
          <p:nvPr/>
        </p:nvSpPr>
        <p:spPr>
          <a:xfrm>
            <a:off x="7087434" y="2987068"/>
            <a:ext cx="233362" cy="243476"/>
          </a:xfrm>
          <a:prstGeom prst="rect">
            <a:avLst/>
          </a:prstGeom>
          <a:solidFill>
            <a:srgbClr val="92D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1" name="Rectangle 50">
            <a:extLst>
              <a:ext uri="{FF2B5EF4-FFF2-40B4-BE49-F238E27FC236}">
                <a16:creationId xmlns:a16="http://schemas.microsoft.com/office/drawing/2014/main" id="{FD29DEB1-B01B-7C27-7931-574269A677C6}"/>
              </a:ext>
            </a:extLst>
          </p:cNvPr>
          <p:cNvSpPr/>
          <p:nvPr/>
        </p:nvSpPr>
        <p:spPr>
          <a:xfrm>
            <a:off x="7650243" y="3357574"/>
            <a:ext cx="233362" cy="243476"/>
          </a:xfrm>
          <a:prstGeom prst="rect">
            <a:avLst/>
          </a:prstGeom>
          <a:solidFill>
            <a:srgbClr val="92D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2" name="Rectangle 51">
            <a:extLst>
              <a:ext uri="{FF2B5EF4-FFF2-40B4-BE49-F238E27FC236}">
                <a16:creationId xmlns:a16="http://schemas.microsoft.com/office/drawing/2014/main" id="{03B8C531-6995-4808-9166-C1A08490076F}"/>
              </a:ext>
            </a:extLst>
          </p:cNvPr>
          <p:cNvSpPr/>
          <p:nvPr/>
        </p:nvSpPr>
        <p:spPr>
          <a:xfrm>
            <a:off x="7647148" y="3719031"/>
            <a:ext cx="233362" cy="243476"/>
          </a:xfrm>
          <a:prstGeom prst="rect">
            <a:avLst/>
          </a:prstGeom>
          <a:solidFill>
            <a:srgbClr val="92D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3" name="Rectangle 52">
            <a:extLst>
              <a:ext uri="{FF2B5EF4-FFF2-40B4-BE49-F238E27FC236}">
                <a16:creationId xmlns:a16="http://schemas.microsoft.com/office/drawing/2014/main" id="{F098D44B-9DBB-E246-0DE5-5CA5D69F0ECC}"/>
              </a:ext>
            </a:extLst>
          </p:cNvPr>
          <p:cNvSpPr/>
          <p:nvPr/>
        </p:nvSpPr>
        <p:spPr>
          <a:xfrm>
            <a:off x="7647148" y="4096931"/>
            <a:ext cx="233362" cy="243476"/>
          </a:xfrm>
          <a:prstGeom prst="rect">
            <a:avLst/>
          </a:prstGeom>
          <a:solidFill>
            <a:srgbClr val="92D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55" name="Straight Connector 54">
            <a:extLst>
              <a:ext uri="{FF2B5EF4-FFF2-40B4-BE49-F238E27FC236}">
                <a16:creationId xmlns:a16="http://schemas.microsoft.com/office/drawing/2014/main" id="{3C8059BA-27CD-7B41-CEF5-021BAEC05C4F}"/>
              </a:ext>
            </a:extLst>
          </p:cNvPr>
          <p:cNvCxnSpPr>
            <a:cxnSpLocks/>
            <a:stCxn id="49" idx="3"/>
            <a:endCxn id="35" idx="1"/>
          </p:cNvCxnSpPr>
          <p:nvPr/>
        </p:nvCxnSpPr>
        <p:spPr>
          <a:xfrm>
            <a:off x="4371974" y="2370293"/>
            <a:ext cx="1938339"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3695DBDF-599A-83C5-A0DE-DD7C5F170B11}"/>
              </a:ext>
            </a:extLst>
          </p:cNvPr>
          <p:cNvCxnSpPr>
            <a:cxnSpLocks/>
            <a:stCxn id="50" idx="3"/>
            <a:endCxn id="37" idx="1"/>
          </p:cNvCxnSpPr>
          <p:nvPr/>
        </p:nvCxnSpPr>
        <p:spPr>
          <a:xfrm flipV="1">
            <a:off x="7320796" y="3103403"/>
            <a:ext cx="858086" cy="5403"/>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935C100D-7819-ACCA-AFF6-CBF7D5EA8818}"/>
              </a:ext>
            </a:extLst>
          </p:cNvPr>
          <p:cNvCxnSpPr>
            <a:cxnSpLocks/>
            <a:stCxn id="51" idx="3"/>
            <a:endCxn id="38" idx="1"/>
          </p:cNvCxnSpPr>
          <p:nvPr/>
        </p:nvCxnSpPr>
        <p:spPr>
          <a:xfrm flipV="1">
            <a:off x="7883605" y="3475079"/>
            <a:ext cx="1561862" cy="4233"/>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a16="http://schemas.microsoft.com/office/drawing/2014/main" id="{1AD94F72-F095-7C72-8DF8-2E486311F861}"/>
              </a:ext>
            </a:extLst>
          </p:cNvPr>
          <p:cNvCxnSpPr>
            <a:cxnSpLocks/>
            <a:stCxn id="52" idx="3"/>
            <a:endCxn id="39" idx="1"/>
          </p:cNvCxnSpPr>
          <p:nvPr/>
        </p:nvCxnSpPr>
        <p:spPr>
          <a:xfrm flipV="1">
            <a:off x="7880510" y="3838052"/>
            <a:ext cx="1564957" cy="2717"/>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0" name="Straight Connector 69">
            <a:extLst>
              <a:ext uri="{FF2B5EF4-FFF2-40B4-BE49-F238E27FC236}">
                <a16:creationId xmlns:a16="http://schemas.microsoft.com/office/drawing/2014/main" id="{2A5B3CA0-2934-D455-8E5F-90E3FA8A637F}"/>
              </a:ext>
            </a:extLst>
          </p:cNvPr>
          <p:cNvCxnSpPr>
            <a:cxnSpLocks/>
            <a:stCxn id="53" idx="3"/>
            <a:endCxn id="40" idx="1"/>
          </p:cNvCxnSpPr>
          <p:nvPr/>
        </p:nvCxnSpPr>
        <p:spPr>
          <a:xfrm>
            <a:off x="7880510" y="4218669"/>
            <a:ext cx="2226422" cy="12193"/>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5" name="Straight Connector 74">
            <a:extLst>
              <a:ext uri="{FF2B5EF4-FFF2-40B4-BE49-F238E27FC236}">
                <a16:creationId xmlns:a16="http://schemas.microsoft.com/office/drawing/2014/main" id="{E1CE47C2-8A49-F259-4573-F9B48665CC85}"/>
              </a:ext>
            </a:extLst>
          </p:cNvPr>
          <p:cNvCxnSpPr/>
          <p:nvPr/>
        </p:nvCxnSpPr>
        <p:spPr>
          <a:xfrm>
            <a:off x="3940899" y="1133856"/>
            <a:ext cx="0" cy="3730879"/>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76" name="TextBox 75">
            <a:extLst>
              <a:ext uri="{FF2B5EF4-FFF2-40B4-BE49-F238E27FC236}">
                <a16:creationId xmlns:a16="http://schemas.microsoft.com/office/drawing/2014/main" id="{791F497B-C3C3-ED68-8793-9C78019B4A4D}"/>
              </a:ext>
            </a:extLst>
          </p:cNvPr>
          <p:cNvSpPr txBox="1"/>
          <p:nvPr/>
        </p:nvSpPr>
        <p:spPr>
          <a:xfrm>
            <a:off x="3386051" y="901917"/>
            <a:ext cx="1813815" cy="5539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CA" sz="1200" b="0" i="0" u="none" strike="noStrike" kern="1200" cap="none" spc="0" normalizeH="0" baseline="0" noProof="0" dirty="0">
                <a:ln>
                  <a:noFill/>
                </a:ln>
                <a:solidFill>
                  <a:srgbClr val="FF0000"/>
                </a:solidFill>
                <a:effectLst/>
                <a:uLnTx/>
                <a:uFillTx/>
                <a:latin typeface="Aptos" panose="02110004020202020204"/>
                <a:ea typeface="+mn-ea"/>
                <a:cs typeface="+mn-cs"/>
              </a:rPr>
              <a:t>AUJOURD’HUI</a:t>
            </a:r>
            <a:endParaRPr kumimoji="0" lang="en-CA" sz="1200" b="0" i="0" u="none" strike="noStrike" kern="1200" cap="none" spc="0" normalizeH="0" baseline="0" noProof="0" dirty="0">
              <a:ln>
                <a:noFill/>
              </a:ln>
              <a:solidFill>
                <a:srgbClr val="FF0000"/>
              </a:solidFill>
              <a:effectLst/>
              <a:uLnTx/>
              <a:uFillTx/>
              <a:latin typeface="Aptos" panose="02110004020202020204"/>
              <a:ea typeface="+mn-ea"/>
              <a:cs typeface="+mn-cs"/>
            </a:endParaRPr>
          </a:p>
          <a:p>
            <a:endParaRPr lang="en-CA" dirty="0"/>
          </a:p>
        </p:txBody>
      </p:sp>
      <p:pic>
        <p:nvPicPr>
          <p:cNvPr id="4" name="Picture 3">
            <a:extLst>
              <a:ext uri="{FF2B5EF4-FFF2-40B4-BE49-F238E27FC236}">
                <a16:creationId xmlns:a16="http://schemas.microsoft.com/office/drawing/2014/main" id="{EEB7B6B9-73BF-B040-55FB-CFEC1CACEE3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1188861" y="6031860"/>
            <a:ext cx="998416" cy="998416"/>
          </a:xfrm>
          <a:prstGeom prst="rect">
            <a:avLst/>
          </a:prstGeom>
        </p:spPr>
      </p:pic>
    </p:spTree>
    <p:extLst>
      <p:ext uri="{BB962C8B-B14F-4D97-AF65-F5344CB8AC3E}">
        <p14:creationId xmlns:p14="http://schemas.microsoft.com/office/powerpoint/2010/main" val="41480724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a:extLst>
            <a:ext uri="{FF2B5EF4-FFF2-40B4-BE49-F238E27FC236}">
              <a16:creationId xmlns:a16="http://schemas.microsoft.com/office/drawing/2014/main" id="{057FFA61-9245-CC29-0ECB-1FF6D7FB0BB5}"/>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4605F866-E548-E810-F09C-F7059F7ADCB8}"/>
              </a:ext>
            </a:extLst>
          </p:cNvPr>
          <p:cNvSpPr txBox="1">
            <a:spLocks/>
          </p:cNvSpPr>
          <p:nvPr/>
        </p:nvSpPr>
        <p:spPr>
          <a:xfrm>
            <a:off x="791021" y="416577"/>
            <a:ext cx="7261157" cy="717279"/>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b="1" dirty="0">
                <a:solidFill>
                  <a:schemeClr val="bg1"/>
                </a:solidFill>
              </a:rPr>
              <a:t>STRATÉGIE FINANCIÈRE - BRRRR</a:t>
            </a:r>
            <a:endParaRPr lang="en-US" dirty="0"/>
          </a:p>
        </p:txBody>
      </p:sp>
      <p:sp>
        <p:nvSpPr>
          <p:cNvPr id="8" name="TextBox 7">
            <a:extLst>
              <a:ext uri="{FF2B5EF4-FFF2-40B4-BE49-F238E27FC236}">
                <a16:creationId xmlns:a16="http://schemas.microsoft.com/office/drawing/2014/main" id="{470D9BE9-FCEE-4D00-BF2C-61CA098F0B8F}"/>
              </a:ext>
            </a:extLst>
          </p:cNvPr>
          <p:cNvSpPr txBox="1"/>
          <p:nvPr/>
        </p:nvSpPr>
        <p:spPr>
          <a:xfrm>
            <a:off x="184326" y="6476025"/>
            <a:ext cx="596347" cy="276999"/>
          </a:xfrm>
          <a:prstGeom prst="rect">
            <a:avLst/>
          </a:prstGeom>
          <a:noFill/>
        </p:spPr>
        <p:txBody>
          <a:bodyPr wrap="square" rtlCol="0">
            <a:spAutoFit/>
          </a:bodyPr>
          <a:lstStyle/>
          <a:p>
            <a:r>
              <a:rPr lang="fr-CA" sz="1200" dirty="0">
                <a:solidFill>
                  <a:schemeClr val="bg1"/>
                </a:solidFill>
              </a:rPr>
              <a:t>7</a:t>
            </a:r>
            <a:endParaRPr lang="en-CA" sz="1200" dirty="0">
              <a:solidFill>
                <a:schemeClr val="bg1"/>
              </a:solidFill>
            </a:endParaRPr>
          </a:p>
        </p:txBody>
      </p:sp>
      <p:sp>
        <p:nvSpPr>
          <p:cNvPr id="23" name="TextBox 22">
            <a:extLst>
              <a:ext uri="{FF2B5EF4-FFF2-40B4-BE49-F238E27FC236}">
                <a16:creationId xmlns:a16="http://schemas.microsoft.com/office/drawing/2014/main" id="{DEDC72BF-A3F5-15CB-C29C-279D12C1D845}"/>
              </a:ext>
            </a:extLst>
          </p:cNvPr>
          <p:cNvSpPr txBox="1"/>
          <p:nvPr/>
        </p:nvSpPr>
        <p:spPr>
          <a:xfrm>
            <a:off x="9887643" y="3042042"/>
            <a:ext cx="2033020" cy="252376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200" b="1" dirty="0">
                <a:solidFill>
                  <a:srgbClr val="F8D956"/>
                </a:solidFill>
                <a:latin typeface="Aptos" panose="02110004020202020204"/>
              </a:rPr>
              <a:t>      LA TOUCHE HORIZON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CA" sz="1000" b="1" i="0" u="none" strike="noStrike" kern="1200" cap="none" spc="0" normalizeH="0" baseline="0" noProof="0" dirty="0">
              <a:ln>
                <a:noFill/>
              </a:ln>
              <a:solidFill>
                <a:srgbClr val="F8D956"/>
              </a:solidFill>
              <a:effectLst/>
              <a:uLnTx/>
              <a:uFillTx/>
              <a:latin typeface="Aptos" panose="02110004020202020204"/>
              <a:ea typeface="+mn-ea"/>
              <a:cs typeface="+mn-cs"/>
            </a:endParaRPr>
          </a:p>
          <a:p>
            <a:pPr marR="0" lvl="0" algn="l" defTabSz="914400" rtl="0" eaLnBrk="1" fontAlgn="auto" latinLnBrk="0" hangingPunct="1">
              <a:lnSpc>
                <a:spcPct val="100000"/>
              </a:lnSpc>
              <a:spcBef>
                <a:spcPts val="0"/>
              </a:spcBef>
              <a:spcAft>
                <a:spcPts val="0"/>
              </a:spcAft>
              <a:buClrTx/>
              <a:buSzTx/>
              <a:tabLst/>
              <a:defRPr/>
            </a:pPr>
            <a:r>
              <a:rPr lang="fr-FR" sz="1000" dirty="0">
                <a:solidFill>
                  <a:schemeClr val="bg1"/>
                </a:solidFill>
                <a:latin typeface="Aptos" panose="02110004020202020204"/>
              </a:rPr>
              <a:t>« </a:t>
            </a:r>
            <a:r>
              <a:rPr kumimoji="0" lang="fr-FR" sz="1000" b="0" i="0" u="none" strike="noStrike" kern="1200" cap="none" spc="0" normalizeH="0" baseline="0" noProof="0" dirty="0">
                <a:ln>
                  <a:noFill/>
                </a:ln>
                <a:solidFill>
                  <a:schemeClr val="bg1"/>
                </a:solidFill>
                <a:effectLst/>
                <a:uLnTx/>
                <a:uFillTx/>
                <a:latin typeface="Aptos" panose="02110004020202020204"/>
                <a:ea typeface="+mn-ea"/>
                <a:cs typeface="+mn-cs"/>
              </a:rPr>
              <a:t>Notre modèle BRRRR permet d’avoir un aperçu précis du projet au commencement. »</a:t>
            </a:r>
          </a:p>
          <a:p>
            <a:pPr marR="0" lvl="0" algn="r" defTabSz="914400" rtl="0" eaLnBrk="1" fontAlgn="auto" latinLnBrk="0" hangingPunct="1">
              <a:lnSpc>
                <a:spcPct val="100000"/>
              </a:lnSpc>
              <a:spcBef>
                <a:spcPts val="0"/>
              </a:spcBef>
              <a:spcAft>
                <a:spcPts val="0"/>
              </a:spcAft>
              <a:buClrTx/>
              <a:buSzTx/>
              <a:tabLst/>
              <a:defRPr/>
            </a:pPr>
            <a:r>
              <a:rPr lang="fr-FR" sz="800" dirty="0">
                <a:solidFill>
                  <a:schemeClr val="bg1"/>
                </a:solidFill>
                <a:latin typeface="Aptos" panose="02110004020202020204"/>
              </a:rPr>
              <a:t>- Philippe</a:t>
            </a:r>
            <a:endParaRPr kumimoji="0" lang="fr-FR" sz="800" b="0" i="0" u="none" strike="noStrike" kern="1200" cap="none" spc="0" normalizeH="0" baseline="0" noProof="0" dirty="0">
              <a:ln>
                <a:noFill/>
              </a:ln>
              <a:solidFill>
                <a:schemeClr val="bg1"/>
              </a:solidFill>
              <a:effectLst/>
              <a:uLnTx/>
              <a:uFillTx/>
              <a:latin typeface="Aptos" panose="02110004020202020204"/>
              <a:ea typeface="+mn-ea"/>
              <a:cs typeface="+mn-cs"/>
            </a:endParaRPr>
          </a:p>
          <a:p>
            <a:pPr marR="0" lvl="0" algn="l" defTabSz="914400" rtl="0" eaLnBrk="1" fontAlgn="auto" latinLnBrk="0" hangingPunct="1">
              <a:lnSpc>
                <a:spcPct val="100000"/>
              </a:lnSpc>
              <a:spcBef>
                <a:spcPts val="0"/>
              </a:spcBef>
              <a:spcAft>
                <a:spcPts val="0"/>
              </a:spcAft>
              <a:buClrTx/>
              <a:buSzTx/>
              <a:tabLst/>
              <a:defRPr/>
            </a:pPr>
            <a:endParaRPr kumimoji="0" lang="fr-FR" sz="1000" b="0" i="0" u="none" strike="noStrike" kern="1200" cap="none" spc="0" normalizeH="0" baseline="0" noProof="0" dirty="0">
              <a:ln>
                <a:noFill/>
              </a:ln>
              <a:solidFill>
                <a:schemeClr val="bg1"/>
              </a:solidFill>
              <a:effectLst/>
              <a:uLnTx/>
              <a:uFillTx/>
              <a:latin typeface="Aptos" panose="02110004020202020204"/>
              <a:ea typeface="+mn-ea"/>
              <a:cs typeface="+mn-cs"/>
            </a:endParaRPr>
          </a:p>
          <a:p>
            <a:pPr marR="0" lvl="0" algn="l" defTabSz="914400" rtl="0" eaLnBrk="1" fontAlgn="auto" latinLnBrk="0" hangingPunct="1">
              <a:lnSpc>
                <a:spcPct val="100000"/>
              </a:lnSpc>
              <a:spcBef>
                <a:spcPts val="0"/>
              </a:spcBef>
              <a:spcAft>
                <a:spcPts val="0"/>
              </a:spcAft>
              <a:buClrTx/>
              <a:buSzTx/>
              <a:tabLst/>
              <a:defRPr/>
            </a:pPr>
            <a:r>
              <a:rPr lang="fr-FR" sz="1000" dirty="0">
                <a:solidFill>
                  <a:schemeClr val="bg1"/>
                </a:solidFill>
                <a:latin typeface="Aptos" panose="02110004020202020204"/>
              </a:rPr>
              <a:t>« Nous allons toujours chercher le maximum qu’un immeuble peut offrir. »</a:t>
            </a:r>
          </a:p>
          <a:p>
            <a:pPr algn="r">
              <a:defRPr/>
            </a:pPr>
            <a:r>
              <a:rPr lang="fr-FR" sz="800" dirty="0">
                <a:solidFill>
                  <a:schemeClr val="bg1"/>
                </a:solidFill>
              </a:rPr>
              <a:t>- Steven</a:t>
            </a:r>
          </a:p>
          <a:p>
            <a:pPr marR="0" lvl="0" algn="l" defTabSz="914400" rtl="0" eaLnBrk="1" fontAlgn="auto" latinLnBrk="0" hangingPunct="1">
              <a:lnSpc>
                <a:spcPct val="100000"/>
              </a:lnSpc>
              <a:spcBef>
                <a:spcPts val="0"/>
              </a:spcBef>
              <a:spcAft>
                <a:spcPts val="0"/>
              </a:spcAft>
              <a:buClrTx/>
              <a:buSzTx/>
              <a:tabLst/>
              <a:defRPr/>
            </a:pPr>
            <a:endParaRPr lang="fr-FR" sz="1000" dirty="0">
              <a:solidFill>
                <a:schemeClr val="bg1"/>
              </a:solidFill>
              <a:latin typeface="Aptos" panose="02110004020202020204"/>
            </a:endParaRPr>
          </a:p>
          <a:p>
            <a:pPr marR="0" lvl="0" algn="l" defTabSz="914400" rtl="0" eaLnBrk="1" fontAlgn="auto" latinLnBrk="0" hangingPunct="1">
              <a:lnSpc>
                <a:spcPct val="100000"/>
              </a:lnSpc>
              <a:spcBef>
                <a:spcPts val="0"/>
              </a:spcBef>
              <a:spcAft>
                <a:spcPts val="0"/>
              </a:spcAft>
              <a:buClrTx/>
              <a:buSzTx/>
              <a:tabLst/>
              <a:defRPr/>
            </a:pPr>
            <a:r>
              <a:rPr lang="fr-FR" sz="1000" dirty="0">
                <a:solidFill>
                  <a:schemeClr val="bg1"/>
                </a:solidFill>
                <a:latin typeface="Aptos" panose="02110004020202020204"/>
              </a:rPr>
              <a:t>« Notre approche améliore notre actif, mais aussi la qualité de vie des locataires. »</a:t>
            </a:r>
          </a:p>
          <a:p>
            <a:pPr marR="0" lvl="0" algn="r" defTabSz="914400" rtl="0" eaLnBrk="1" fontAlgn="auto" latinLnBrk="0" hangingPunct="1">
              <a:lnSpc>
                <a:spcPct val="100000"/>
              </a:lnSpc>
              <a:spcBef>
                <a:spcPts val="0"/>
              </a:spcBef>
              <a:spcAft>
                <a:spcPts val="0"/>
              </a:spcAft>
              <a:buClrTx/>
              <a:buSzTx/>
              <a:tabLst/>
              <a:defRPr/>
            </a:pPr>
            <a:r>
              <a:rPr lang="fr-FR" sz="800" dirty="0">
                <a:solidFill>
                  <a:schemeClr val="bg1"/>
                </a:solidFill>
                <a:latin typeface="Aptos" panose="02110004020202020204"/>
              </a:rPr>
              <a:t>- Michael</a:t>
            </a:r>
            <a:endParaRPr lang="en-CA" sz="800" dirty="0"/>
          </a:p>
        </p:txBody>
      </p:sp>
      <p:sp>
        <p:nvSpPr>
          <p:cNvPr id="24" name="Rectangle 23">
            <a:extLst>
              <a:ext uri="{FF2B5EF4-FFF2-40B4-BE49-F238E27FC236}">
                <a16:creationId xmlns:a16="http://schemas.microsoft.com/office/drawing/2014/main" id="{3C98605D-5177-F4FD-CA80-AF17BEFC927B}"/>
              </a:ext>
            </a:extLst>
          </p:cNvPr>
          <p:cNvSpPr/>
          <p:nvPr/>
        </p:nvSpPr>
        <p:spPr>
          <a:xfrm>
            <a:off x="895060" y="971550"/>
            <a:ext cx="1929109" cy="85725"/>
          </a:xfrm>
          <a:prstGeom prst="rect">
            <a:avLst/>
          </a:prstGeom>
          <a:solidFill>
            <a:srgbClr val="F8D95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noFill/>
            </a:endParaRPr>
          </a:p>
        </p:txBody>
      </p:sp>
      <p:pic>
        <p:nvPicPr>
          <p:cNvPr id="3" name="Picture 2">
            <a:extLst>
              <a:ext uri="{FF2B5EF4-FFF2-40B4-BE49-F238E27FC236}">
                <a16:creationId xmlns:a16="http://schemas.microsoft.com/office/drawing/2014/main" id="{0ED0C6D3-23E8-1B8F-998C-045084F035B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188861" y="6031860"/>
            <a:ext cx="998416" cy="998416"/>
          </a:xfrm>
          <a:prstGeom prst="rect">
            <a:avLst/>
          </a:prstGeom>
        </p:spPr>
      </p:pic>
      <p:sp>
        <p:nvSpPr>
          <p:cNvPr id="4" name="TextBox 3">
            <a:extLst>
              <a:ext uri="{FF2B5EF4-FFF2-40B4-BE49-F238E27FC236}">
                <a16:creationId xmlns:a16="http://schemas.microsoft.com/office/drawing/2014/main" id="{5FF541BE-CD9B-88A3-A8CF-AA015592314D}"/>
              </a:ext>
            </a:extLst>
          </p:cNvPr>
          <p:cNvSpPr txBox="1"/>
          <p:nvPr/>
        </p:nvSpPr>
        <p:spPr>
          <a:xfrm>
            <a:off x="442075" y="2535443"/>
            <a:ext cx="2563504" cy="104644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dirty="0" err="1">
                <a:ln>
                  <a:noFill/>
                </a:ln>
                <a:solidFill>
                  <a:srgbClr val="F8D956"/>
                </a:solidFill>
                <a:effectLst/>
                <a:uLnTx/>
                <a:uFillTx/>
                <a:latin typeface="Aptos" panose="02110004020202020204"/>
                <a:ea typeface="+mn-ea"/>
                <a:cs typeface="+mn-cs"/>
              </a:rPr>
              <a:t>Buy</a:t>
            </a:r>
            <a:r>
              <a:rPr kumimoji="0" lang="fr-FR" sz="1400" b="0" i="0" u="none" strike="noStrike" kern="1200" cap="none" spc="0" normalizeH="0" baseline="0" noProof="0" dirty="0">
                <a:ln>
                  <a:noFill/>
                </a:ln>
                <a:solidFill>
                  <a:prstClr val="white"/>
                </a:solidFill>
                <a:effectLst/>
                <a:uLnTx/>
                <a:uFillTx/>
                <a:latin typeface="Aptos" panose="02110004020202020204"/>
                <a:ea typeface="+mn-ea"/>
                <a:cs typeface="+mn-cs"/>
              </a:rPr>
              <a:t> </a:t>
            </a: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200" b="0" i="0" u="none" strike="noStrike" kern="1200" cap="none" spc="0" normalizeH="0" baseline="0" noProof="0" dirty="0">
                <a:ln>
                  <a:noFill/>
                </a:ln>
                <a:solidFill>
                  <a:prstClr val="white"/>
                </a:solidFill>
                <a:effectLst/>
                <a:uLnTx/>
                <a:uFillTx/>
                <a:latin typeface="Aptos" panose="02110004020202020204"/>
                <a:ea typeface="+mn-ea"/>
                <a:cs typeface="+mn-cs"/>
              </a:rPr>
              <a:t>Analyse et structure du deal</a:t>
            </a: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200" b="0" i="0" u="none" strike="noStrike" kern="1200" cap="none" spc="0" normalizeH="0" baseline="0" noProof="0" dirty="0">
                <a:ln>
                  <a:noFill/>
                </a:ln>
                <a:solidFill>
                  <a:prstClr val="white"/>
                </a:solidFill>
                <a:effectLst/>
                <a:uLnTx/>
                <a:uFillTx/>
                <a:latin typeface="Aptos" panose="02110004020202020204"/>
                <a:ea typeface="+mn-ea"/>
                <a:cs typeface="+mn-cs"/>
              </a:rPr>
              <a:t>Achat sous la valeur marchande</a:t>
            </a: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200" dirty="0">
                <a:solidFill>
                  <a:prstClr val="white"/>
                </a:solidFill>
                <a:latin typeface="Aptos" panose="02110004020202020204"/>
              </a:rPr>
              <a:t>Financement prêteur B</a:t>
            </a:r>
            <a:endParaRPr kumimoji="0" lang="fr-CA" sz="12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6" name="TextBox 5">
            <a:extLst>
              <a:ext uri="{FF2B5EF4-FFF2-40B4-BE49-F238E27FC236}">
                <a16:creationId xmlns:a16="http://schemas.microsoft.com/office/drawing/2014/main" id="{EE23D013-5C5F-CAAF-AA81-DDADA9F77BC4}"/>
              </a:ext>
            </a:extLst>
          </p:cNvPr>
          <p:cNvSpPr txBox="1"/>
          <p:nvPr/>
        </p:nvSpPr>
        <p:spPr>
          <a:xfrm>
            <a:off x="3139847" y="2535443"/>
            <a:ext cx="2563504" cy="104644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dirty="0" err="1">
                <a:ln>
                  <a:noFill/>
                </a:ln>
                <a:solidFill>
                  <a:srgbClr val="F8D956"/>
                </a:solidFill>
                <a:effectLst/>
                <a:uLnTx/>
                <a:uFillTx/>
                <a:latin typeface="Aptos" panose="02110004020202020204"/>
                <a:ea typeface="+mn-ea"/>
                <a:cs typeface="+mn-cs"/>
              </a:rPr>
              <a:t>Renovate</a:t>
            </a:r>
            <a:r>
              <a:rPr kumimoji="0" lang="fr-FR" sz="1400" b="0" i="0" u="none" strike="noStrike" kern="1200" cap="none" spc="0" normalizeH="0" baseline="0" noProof="0" dirty="0">
                <a:ln>
                  <a:noFill/>
                </a:ln>
                <a:solidFill>
                  <a:prstClr val="white"/>
                </a:solidFill>
                <a:effectLst/>
                <a:uLnTx/>
                <a:uFillTx/>
                <a:latin typeface="Aptos" panose="02110004020202020204"/>
                <a:ea typeface="+mn-ea"/>
                <a:cs typeface="+mn-cs"/>
              </a:rPr>
              <a:t> </a:t>
            </a: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200" dirty="0">
                <a:solidFill>
                  <a:prstClr val="white"/>
                </a:solidFill>
                <a:latin typeface="Aptos" panose="02110004020202020204"/>
              </a:rPr>
              <a:t>Négociations avec les locataires</a:t>
            </a: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200" b="0" i="0" u="none" strike="noStrike" kern="1200" cap="none" spc="0" normalizeH="0" baseline="0" noProof="0" dirty="0">
                <a:ln>
                  <a:noFill/>
                </a:ln>
                <a:solidFill>
                  <a:prstClr val="white"/>
                </a:solidFill>
                <a:effectLst/>
                <a:uLnTx/>
                <a:uFillTx/>
                <a:latin typeface="Aptos" panose="02110004020202020204"/>
                <a:ea typeface="+mn-ea"/>
                <a:cs typeface="+mn-cs"/>
              </a:rPr>
              <a:t>Rénovations ciblées</a:t>
            </a: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200" dirty="0">
                <a:solidFill>
                  <a:prstClr val="white"/>
                </a:solidFill>
                <a:latin typeface="Aptos" panose="02110004020202020204"/>
              </a:rPr>
              <a:t>Suivi serré des dépenses</a:t>
            </a:r>
            <a:endParaRPr kumimoji="0" lang="fr-CA" sz="12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7" name="TextBox 6">
            <a:extLst>
              <a:ext uri="{FF2B5EF4-FFF2-40B4-BE49-F238E27FC236}">
                <a16:creationId xmlns:a16="http://schemas.microsoft.com/office/drawing/2014/main" id="{C5F6BADF-B654-0FE8-75B2-BB817A4EEE1E}"/>
              </a:ext>
            </a:extLst>
          </p:cNvPr>
          <p:cNvSpPr txBox="1"/>
          <p:nvPr/>
        </p:nvSpPr>
        <p:spPr>
          <a:xfrm>
            <a:off x="6826783" y="3964324"/>
            <a:ext cx="2563504" cy="104644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dirty="0">
                <a:ln>
                  <a:noFill/>
                </a:ln>
                <a:solidFill>
                  <a:srgbClr val="F8D956"/>
                </a:solidFill>
                <a:effectLst/>
                <a:uLnTx/>
                <a:uFillTx/>
                <a:latin typeface="Aptos" panose="02110004020202020204"/>
                <a:ea typeface="+mn-ea"/>
                <a:cs typeface="+mn-cs"/>
              </a:rPr>
              <a:t>Refinancement</a:t>
            </a:r>
            <a:r>
              <a:rPr kumimoji="0" lang="fr-FR" sz="1400" b="0" i="0" u="none" strike="noStrike" kern="1200" cap="none" spc="0" normalizeH="0" baseline="0" noProof="0" dirty="0">
                <a:ln>
                  <a:noFill/>
                </a:ln>
                <a:solidFill>
                  <a:prstClr val="white"/>
                </a:solidFill>
                <a:effectLst/>
                <a:uLnTx/>
                <a:uFillTx/>
                <a:latin typeface="Aptos" panose="02110004020202020204"/>
                <a:ea typeface="+mn-ea"/>
                <a:cs typeface="+mn-cs"/>
              </a:rPr>
              <a:t> </a:t>
            </a:r>
            <a:endParaRPr kumimoji="0" lang="fr-FR" sz="1200" b="0" i="0" u="none" strike="noStrike" kern="1200" cap="none" spc="0" normalizeH="0" baseline="0" noProof="0" dirty="0">
              <a:ln>
                <a:noFill/>
              </a:ln>
              <a:solidFill>
                <a:prstClr val="white"/>
              </a:solidFill>
              <a:effectLst/>
              <a:uLnTx/>
              <a:uFillTx/>
              <a:latin typeface="Aptos" panose="02110004020202020204"/>
              <a:ea typeface="+mn-ea"/>
              <a:cs typeface="+mn-cs"/>
            </a:endParaRP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200" dirty="0">
                <a:solidFill>
                  <a:prstClr val="white"/>
                </a:solidFill>
                <a:latin typeface="Aptos" panose="02110004020202020204"/>
              </a:rPr>
              <a:t>Stabilisation des loyers</a:t>
            </a: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200" b="0" i="0" u="none" strike="noStrike" kern="1200" cap="none" spc="0" normalizeH="0" baseline="0" noProof="0" dirty="0">
                <a:ln>
                  <a:noFill/>
                </a:ln>
                <a:solidFill>
                  <a:prstClr val="white"/>
                </a:solidFill>
                <a:effectLst/>
                <a:uLnTx/>
                <a:uFillTx/>
                <a:latin typeface="Aptos" panose="02110004020202020204"/>
                <a:ea typeface="+mn-ea"/>
                <a:cs typeface="+mn-cs"/>
              </a:rPr>
              <a:t>Refinancement SCHL </a:t>
            </a:r>
            <a:endParaRPr lang="fr-FR" sz="1200" dirty="0">
              <a:solidFill>
                <a:prstClr val="white"/>
              </a:solidFill>
              <a:latin typeface="Aptos" panose="02110004020202020204"/>
            </a:endParaRP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200" dirty="0">
                <a:solidFill>
                  <a:prstClr val="white"/>
                </a:solidFill>
                <a:latin typeface="Aptos" panose="02110004020202020204"/>
              </a:rPr>
              <a:t>Remboursement des capitaux investis</a:t>
            </a:r>
            <a:endParaRPr kumimoji="0" lang="fr-CA" sz="12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9" name="TextBox 8">
            <a:extLst>
              <a:ext uri="{FF2B5EF4-FFF2-40B4-BE49-F238E27FC236}">
                <a16:creationId xmlns:a16="http://schemas.microsoft.com/office/drawing/2014/main" id="{C34A4308-618D-CA21-67D5-DE351F1BEFA1}"/>
              </a:ext>
            </a:extLst>
          </p:cNvPr>
          <p:cNvSpPr txBox="1"/>
          <p:nvPr/>
        </p:nvSpPr>
        <p:spPr>
          <a:xfrm>
            <a:off x="6826783" y="2449887"/>
            <a:ext cx="2563504" cy="86177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dirty="0">
                <a:ln>
                  <a:noFill/>
                </a:ln>
                <a:solidFill>
                  <a:srgbClr val="F8D956"/>
                </a:solidFill>
                <a:effectLst/>
                <a:uLnTx/>
                <a:uFillTx/>
                <a:latin typeface="Aptos" panose="02110004020202020204"/>
                <a:ea typeface="+mn-ea"/>
                <a:cs typeface="+mn-cs"/>
              </a:rPr>
              <a:t>Rent</a:t>
            </a:r>
            <a:r>
              <a:rPr kumimoji="0" lang="fr-FR" sz="1400" b="0" i="0" u="none" strike="noStrike" kern="1200" cap="none" spc="0" normalizeH="0" baseline="0" noProof="0" dirty="0">
                <a:ln>
                  <a:noFill/>
                </a:ln>
                <a:solidFill>
                  <a:prstClr val="white"/>
                </a:solidFill>
                <a:effectLst/>
                <a:uLnTx/>
                <a:uFillTx/>
                <a:latin typeface="Aptos" panose="02110004020202020204"/>
                <a:ea typeface="+mn-ea"/>
                <a:cs typeface="+mn-cs"/>
              </a:rPr>
              <a:t> </a:t>
            </a: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200" dirty="0">
                <a:solidFill>
                  <a:prstClr val="white"/>
                </a:solidFill>
                <a:latin typeface="Aptos" panose="02110004020202020204"/>
              </a:rPr>
              <a:t>Location à la valeur du marché</a:t>
            </a: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200" b="0" i="0" u="none" strike="noStrike" kern="1200" cap="none" spc="0" normalizeH="0" baseline="0" noProof="0" dirty="0">
                <a:ln>
                  <a:noFill/>
                </a:ln>
                <a:solidFill>
                  <a:prstClr val="white"/>
                </a:solidFill>
                <a:effectLst/>
                <a:uLnTx/>
                <a:uFillTx/>
                <a:latin typeface="Aptos" panose="02110004020202020204"/>
                <a:ea typeface="+mn-ea"/>
                <a:cs typeface="+mn-cs"/>
              </a:rPr>
              <a:t>Optimisation des services</a:t>
            </a: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200" dirty="0">
                <a:solidFill>
                  <a:prstClr val="white"/>
                </a:solidFill>
                <a:latin typeface="Aptos" panose="02110004020202020204"/>
              </a:rPr>
              <a:t>Réduction des dépenses</a:t>
            </a:r>
            <a:endParaRPr kumimoji="0" lang="fr-CA" sz="12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0" name="TextBox 9">
            <a:extLst>
              <a:ext uri="{FF2B5EF4-FFF2-40B4-BE49-F238E27FC236}">
                <a16:creationId xmlns:a16="http://schemas.microsoft.com/office/drawing/2014/main" id="{6CF7E67E-BD3A-5C60-497E-60F2C0C34F50}"/>
              </a:ext>
            </a:extLst>
          </p:cNvPr>
          <p:cNvSpPr txBox="1"/>
          <p:nvPr/>
        </p:nvSpPr>
        <p:spPr>
          <a:xfrm>
            <a:off x="825607" y="4956657"/>
            <a:ext cx="2563504" cy="86177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dirty="0" err="1">
                <a:ln>
                  <a:noFill/>
                </a:ln>
                <a:solidFill>
                  <a:srgbClr val="F8D956"/>
                </a:solidFill>
                <a:effectLst/>
                <a:uLnTx/>
                <a:uFillTx/>
                <a:latin typeface="Aptos" panose="02110004020202020204"/>
                <a:ea typeface="+mn-ea"/>
                <a:cs typeface="+mn-cs"/>
              </a:rPr>
              <a:t>Repeat</a:t>
            </a:r>
            <a:r>
              <a:rPr kumimoji="0" lang="fr-FR" sz="1400" b="0" i="0" u="none" strike="noStrike" kern="1200" cap="none" spc="0" normalizeH="0" baseline="0" noProof="0" dirty="0">
                <a:ln>
                  <a:noFill/>
                </a:ln>
                <a:solidFill>
                  <a:prstClr val="white"/>
                </a:solidFill>
                <a:effectLst/>
                <a:uLnTx/>
                <a:uFillTx/>
                <a:latin typeface="Aptos" panose="02110004020202020204"/>
                <a:ea typeface="+mn-ea"/>
                <a:cs typeface="+mn-cs"/>
              </a:rPr>
              <a:t> </a:t>
            </a: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200" dirty="0">
                <a:solidFill>
                  <a:prstClr val="white"/>
                </a:solidFill>
                <a:latin typeface="Aptos" panose="02110004020202020204"/>
              </a:rPr>
              <a:t>Retour sur expérience, ajustements au processus et répétition</a:t>
            </a:r>
            <a:endParaRPr kumimoji="0" lang="fr-CA" sz="12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1" name="Oval 10">
            <a:extLst>
              <a:ext uri="{FF2B5EF4-FFF2-40B4-BE49-F238E27FC236}">
                <a16:creationId xmlns:a16="http://schemas.microsoft.com/office/drawing/2014/main" id="{F0504678-7E35-AD29-1E40-31140BD87335}"/>
              </a:ext>
            </a:extLst>
          </p:cNvPr>
          <p:cNvSpPr/>
          <p:nvPr/>
        </p:nvSpPr>
        <p:spPr>
          <a:xfrm>
            <a:off x="1277931" y="1530774"/>
            <a:ext cx="900000" cy="900000"/>
          </a:xfrm>
          <a:prstGeom prst="ellipse">
            <a:avLst/>
          </a:prstGeom>
          <a:noFill/>
          <a:ln>
            <a:solidFill>
              <a:srgbClr val="F8D95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Oval 12">
            <a:extLst>
              <a:ext uri="{FF2B5EF4-FFF2-40B4-BE49-F238E27FC236}">
                <a16:creationId xmlns:a16="http://schemas.microsoft.com/office/drawing/2014/main" id="{54047E6D-6799-36A5-F148-5F0BA340319E}"/>
              </a:ext>
            </a:extLst>
          </p:cNvPr>
          <p:cNvSpPr/>
          <p:nvPr/>
        </p:nvSpPr>
        <p:spPr>
          <a:xfrm>
            <a:off x="3971599" y="1530774"/>
            <a:ext cx="900000" cy="900000"/>
          </a:xfrm>
          <a:prstGeom prst="ellipse">
            <a:avLst/>
          </a:prstGeom>
          <a:noFill/>
          <a:ln>
            <a:solidFill>
              <a:srgbClr val="F8D95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1" name="Oval 20">
            <a:extLst>
              <a:ext uri="{FF2B5EF4-FFF2-40B4-BE49-F238E27FC236}">
                <a16:creationId xmlns:a16="http://schemas.microsoft.com/office/drawing/2014/main" id="{AE3658E6-2F86-56F5-0419-61E5BBCC595E}"/>
              </a:ext>
            </a:extLst>
          </p:cNvPr>
          <p:cNvSpPr/>
          <p:nvPr/>
        </p:nvSpPr>
        <p:spPr>
          <a:xfrm>
            <a:off x="5834611" y="2430774"/>
            <a:ext cx="900000" cy="900000"/>
          </a:xfrm>
          <a:prstGeom prst="ellipse">
            <a:avLst/>
          </a:prstGeom>
          <a:noFill/>
          <a:ln>
            <a:solidFill>
              <a:srgbClr val="F8D95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2" name="Oval 21">
            <a:extLst>
              <a:ext uri="{FF2B5EF4-FFF2-40B4-BE49-F238E27FC236}">
                <a16:creationId xmlns:a16="http://schemas.microsoft.com/office/drawing/2014/main" id="{1E61CB84-0C24-271E-ECD5-07014A1310CF}"/>
              </a:ext>
            </a:extLst>
          </p:cNvPr>
          <p:cNvSpPr/>
          <p:nvPr/>
        </p:nvSpPr>
        <p:spPr>
          <a:xfrm>
            <a:off x="5834611" y="4037544"/>
            <a:ext cx="900000" cy="900000"/>
          </a:xfrm>
          <a:prstGeom prst="ellipse">
            <a:avLst/>
          </a:prstGeom>
          <a:noFill/>
          <a:ln>
            <a:solidFill>
              <a:srgbClr val="F8D95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9" name="Oval 28">
            <a:extLst>
              <a:ext uri="{FF2B5EF4-FFF2-40B4-BE49-F238E27FC236}">
                <a16:creationId xmlns:a16="http://schemas.microsoft.com/office/drawing/2014/main" id="{405D5433-7D32-18BE-BEBE-5C7246D02BA9}"/>
              </a:ext>
            </a:extLst>
          </p:cNvPr>
          <p:cNvSpPr/>
          <p:nvPr/>
        </p:nvSpPr>
        <p:spPr>
          <a:xfrm>
            <a:off x="3521599" y="4937544"/>
            <a:ext cx="900000" cy="900000"/>
          </a:xfrm>
          <a:prstGeom prst="ellipse">
            <a:avLst/>
          </a:prstGeom>
          <a:noFill/>
          <a:ln>
            <a:solidFill>
              <a:srgbClr val="F8D95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30" name="Straight Connector 29">
            <a:extLst>
              <a:ext uri="{FF2B5EF4-FFF2-40B4-BE49-F238E27FC236}">
                <a16:creationId xmlns:a16="http://schemas.microsoft.com/office/drawing/2014/main" id="{CA80827D-78BB-8EAD-9E80-FBE55E6DED8C}"/>
              </a:ext>
            </a:extLst>
          </p:cNvPr>
          <p:cNvCxnSpPr>
            <a:cxnSpLocks/>
            <a:stCxn id="11" idx="6"/>
            <a:endCxn id="13" idx="2"/>
          </p:cNvCxnSpPr>
          <p:nvPr/>
        </p:nvCxnSpPr>
        <p:spPr>
          <a:xfrm>
            <a:off x="2177931" y="1980774"/>
            <a:ext cx="1793668" cy="0"/>
          </a:xfrm>
          <a:prstGeom prst="line">
            <a:avLst/>
          </a:prstGeom>
          <a:ln>
            <a:solidFill>
              <a:schemeClr val="bg1"/>
            </a:solidFill>
            <a:prstDash val="sysDash"/>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EE6FA805-CC1E-3DD4-70DE-D0666B8D4720}"/>
              </a:ext>
            </a:extLst>
          </p:cNvPr>
          <p:cNvCxnSpPr>
            <a:cxnSpLocks/>
            <a:stCxn id="21" idx="4"/>
            <a:endCxn id="22" idx="0"/>
          </p:cNvCxnSpPr>
          <p:nvPr/>
        </p:nvCxnSpPr>
        <p:spPr>
          <a:xfrm>
            <a:off x="6284611" y="3330774"/>
            <a:ext cx="0" cy="706770"/>
          </a:xfrm>
          <a:prstGeom prst="line">
            <a:avLst/>
          </a:prstGeom>
          <a:ln>
            <a:solidFill>
              <a:schemeClr val="bg1"/>
            </a:solidFill>
            <a:prstDash val="sysDash"/>
          </a:ln>
        </p:spPr>
        <p:style>
          <a:lnRef idx="2">
            <a:schemeClr val="accent1"/>
          </a:lnRef>
          <a:fillRef idx="0">
            <a:schemeClr val="accent1"/>
          </a:fillRef>
          <a:effectRef idx="1">
            <a:schemeClr val="accent1"/>
          </a:effectRef>
          <a:fontRef idx="minor">
            <a:schemeClr val="tx1"/>
          </a:fontRef>
        </p:style>
      </p:cxnSp>
      <p:cxnSp>
        <p:nvCxnSpPr>
          <p:cNvPr id="37" name="Connector: Elbow 36">
            <a:extLst>
              <a:ext uri="{FF2B5EF4-FFF2-40B4-BE49-F238E27FC236}">
                <a16:creationId xmlns:a16="http://schemas.microsoft.com/office/drawing/2014/main" id="{F769E65F-AF3E-B854-6567-5C585150F3B8}"/>
              </a:ext>
            </a:extLst>
          </p:cNvPr>
          <p:cNvCxnSpPr>
            <a:cxnSpLocks/>
            <a:stCxn id="13" idx="6"/>
            <a:endCxn id="21" idx="0"/>
          </p:cNvCxnSpPr>
          <p:nvPr/>
        </p:nvCxnSpPr>
        <p:spPr>
          <a:xfrm>
            <a:off x="4871599" y="1980774"/>
            <a:ext cx="1413012" cy="450000"/>
          </a:xfrm>
          <a:prstGeom prst="bentConnector2">
            <a:avLst/>
          </a:prstGeom>
          <a:ln>
            <a:solidFill>
              <a:schemeClr val="bg1"/>
            </a:solidFill>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40" name="Connector: Elbow 39">
            <a:extLst>
              <a:ext uri="{FF2B5EF4-FFF2-40B4-BE49-F238E27FC236}">
                <a16:creationId xmlns:a16="http://schemas.microsoft.com/office/drawing/2014/main" id="{A7FC62B1-B50A-2706-02BF-90CCC543D510}"/>
              </a:ext>
            </a:extLst>
          </p:cNvPr>
          <p:cNvCxnSpPr>
            <a:cxnSpLocks/>
            <a:stCxn id="22" idx="4"/>
            <a:endCxn id="29" idx="6"/>
          </p:cNvCxnSpPr>
          <p:nvPr/>
        </p:nvCxnSpPr>
        <p:spPr>
          <a:xfrm rot="5400000">
            <a:off x="5128105" y="4231038"/>
            <a:ext cx="450000" cy="1863012"/>
          </a:xfrm>
          <a:prstGeom prst="bentConnector2">
            <a:avLst/>
          </a:prstGeom>
          <a:ln>
            <a:solidFill>
              <a:schemeClr val="bg1"/>
            </a:solidFill>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123ECB97-81C5-A2EA-98EE-DDD80AB8F97D}"/>
              </a:ext>
            </a:extLst>
          </p:cNvPr>
          <p:cNvCxnSpPr>
            <a:cxnSpLocks/>
          </p:cNvCxnSpPr>
          <p:nvPr/>
        </p:nvCxnSpPr>
        <p:spPr>
          <a:xfrm>
            <a:off x="9635987" y="772586"/>
            <a:ext cx="5955" cy="5008663"/>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pic>
        <p:nvPicPr>
          <p:cNvPr id="53" name="Graphic 52" descr="Repeat outline">
            <a:extLst>
              <a:ext uri="{FF2B5EF4-FFF2-40B4-BE49-F238E27FC236}">
                <a16:creationId xmlns:a16="http://schemas.microsoft.com/office/drawing/2014/main" id="{E93D6209-3D1D-EF45-9147-2801F7E2CE4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41111" y="5063544"/>
            <a:ext cx="648000" cy="648000"/>
          </a:xfrm>
          <a:prstGeom prst="rect">
            <a:avLst/>
          </a:prstGeom>
        </p:spPr>
      </p:pic>
      <p:pic>
        <p:nvPicPr>
          <p:cNvPr id="55" name="Graphic 54" descr="Bank outline">
            <a:extLst>
              <a:ext uri="{FF2B5EF4-FFF2-40B4-BE49-F238E27FC236}">
                <a16:creationId xmlns:a16="http://schemas.microsoft.com/office/drawing/2014/main" id="{20D30AFE-1F09-AA32-3C0C-2342B0782BD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60611" y="4163544"/>
            <a:ext cx="648000" cy="648000"/>
          </a:xfrm>
          <a:prstGeom prst="rect">
            <a:avLst/>
          </a:prstGeom>
        </p:spPr>
      </p:pic>
      <p:pic>
        <p:nvPicPr>
          <p:cNvPr id="57" name="Graphic 56" descr="Register outline">
            <a:extLst>
              <a:ext uri="{FF2B5EF4-FFF2-40B4-BE49-F238E27FC236}">
                <a16:creationId xmlns:a16="http://schemas.microsoft.com/office/drawing/2014/main" id="{F594E95F-B5CB-C8A6-5F9F-94572832B1B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399827" y="1656774"/>
            <a:ext cx="648000" cy="648000"/>
          </a:xfrm>
          <a:prstGeom prst="rect">
            <a:avLst/>
          </a:prstGeom>
        </p:spPr>
      </p:pic>
      <p:pic>
        <p:nvPicPr>
          <p:cNvPr id="59" name="Graphic 58" descr="Contract outline">
            <a:extLst>
              <a:ext uri="{FF2B5EF4-FFF2-40B4-BE49-F238E27FC236}">
                <a16:creationId xmlns:a16="http://schemas.microsoft.com/office/drawing/2014/main" id="{43C0B9C9-5B8D-F843-2745-0FF894FBC4D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960611" y="2556774"/>
            <a:ext cx="648000" cy="648000"/>
          </a:xfrm>
          <a:prstGeom prst="rect">
            <a:avLst/>
          </a:prstGeom>
        </p:spPr>
      </p:pic>
      <p:pic>
        <p:nvPicPr>
          <p:cNvPr id="61" name="Graphic 60" descr="Roller Paint Tool outline">
            <a:extLst>
              <a:ext uri="{FF2B5EF4-FFF2-40B4-BE49-F238E27FC236}">
                <a16:creationId xmlns:a16="http://schemas.microsoft.com/office/drawing/2014/main" id="{96DE02E1-13EB-27B4-AA48-524FFAD5D65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087695" y="1656774"/>
            <a:ext cx="648000" cy="648000"/>
          </a:xfrm>
          <a:prstGeom prst="rect">
            <a:avLst/>
          </a:prstGeom>
        </p:spPr>
      </p:pic>
      <p:pic>
        <p:nvPicPr>
          <p:cNvPr id="67" name="Graphic 66" descr="Information outline">
            <a:extLst>
              <a:ext uri="{FF2B5EF4-FFF2-40B4-BE49-F238E27FC236}">
                <a16:creationId xmlns:a16="http://schemas.microsoft.com/office/drawing/2014/main" id="{E18E2232-43E3-3EFA-21C2-38DAF76F9DB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786569" y="3010123"/>
            <a:ext cx="339154" cy="339154"/>
          </a:xfrm>
          <a:prstGeom prst="rect">
            <a:avLst/>
          </a:prstGeom>
        </p:spPr>
      </p:pic>
      <p:pic>
        <p:nvPicPr>
          <p:cNvPr id="70" name="Picture 69" descr="A sign on the grass  AI-generated content may be incorrect.">
            <a:extLst>
              <a:ext uri="{FF2B5EF4-FFF2-40B4-BE49-F238E27FC236}">
                <a16:creationId xmlns:a16="http://schemas.microsoft.com/office/drawing/2014/main" id="{BAE67DF7-7F11-4C08-EB1E-BF4CA960C126}"/>
              </a:ext>
            </a:extLst>
          </p:cNvPr>
          <p:cNvPicPr>
            <a:picLocks noChangeAspect="1"/>
          </p:cNvPicPr>
          <p:nvPr/>
        </p:nvPicPr>
        <p:blipFill>
          <a:blip r:embed="rId9">
            <a:extLst>
              <a:ext uri="{28A0092B-C50C-407E-A947-70E740481C1C}">
                <a14:useLocalDpi xmlns:a14="http://schemas.microsoft.com/office/drawing/2010/main" val="0"/>
              </a:ext>
            </a:extLst>
          </a:blip>
          <a:srcRect t="17460" b="22202"/>
          <a:stretch>
            <a:fillRect/>
          </a:stretch>
        </p:blipFill>
        <p:spPr>
          <a:xfrm>
            <a:off x="10018777" y="964972"/>
            <a:ext cx="1702182" cy="1823866"/>
          </a:xfrm>
          <a:prstGeom prst="rect">
            <a:avLst/>
          </a:prstGeom>
          <a:effectLst/>
        </p:spPr>
      </p:pic>
    </p:spTree>
    <p:extLst>
      <p:ext uri="{BB962C8B-B14F-4D97-AF65-F5344CB8AC3E}">
        <p14:creationId xmlns:p14="http://schemas.microsoft.com/office/powerpoint/2010/main" val="39638617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a:extLst>
            <a:ext uri="{FF2B5EF4-FFF2-40B4-BE49-F238E27FC236}">
              <a16:creationId xmlns:a16="http://schemas.microsoft.com/office/drawing/2014/main" id="{91630BCF-4121-55EF-0EAF-43BEFA89536D}"/>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181825F1-7581-BF60-B115-97DC1A4FFBFB}"/>
              </a:ext>
            </a:extLst>
          </p:cNvPr>
          <p:cNvSpPr txBox="1">
            <a:spLocks/>
          </p:cNvSpPr>
          <p:nvPr/>
        </p:nvSpPr>
        <p:spPr>
          <a:xfrm>
            <a:off x="791021" y="416577"/>
            <a:ext cx="7261157" cy="717279"/>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b="1" dirty="0">
                <a:solidFill>
                  <a:schemeClr val="bg1"/>
                </a:solidFill>
              </a:rPr>
              <a:t>FINANCES DU PROJET - ACHAT</a:t>
            </a:r>
            <a:endParaRPr lang="en-US" dirty="0"/>
          </a:p>
        </p:txBody>
      </p:sp>
      <p:sp>
        <p:nvSpPr>
          <p:cNvPr id="8" name="TextBox 7">
            <a:extLst>
              <a:ext uri="{FF2B5EF4-FFF2-40B4-BE49-F238E27FC236}">
                <a16:creationId xmlns:a16="http://schemas.microsoft.com/office/drawing/2014/main" id="{47A56989-5AA5-A442-916D-4B2229800C5D}"/>
              </a:ext>
            </a:extLst>
          </p:cNvPr>
          <p:cNvSpPr txBox="1"/>
          <p:nvPr/>
        </p:nvSpPr>
        <p:spPr>
          <a:xfrm>
            <a:off x="184326" y="6476025"/>
            <a:ext cx="596347" cy="276999"/>
          </a:xfrm>
          <a:prstGeom prst="rect">
            <a:avLst/>
          </a:prstGeom>
          <a:noFill/>
        </p:spPr>
        <p:txBody>
          <a:bodyPr wrap="square" rtlCol="0">
            <a:spAutoFit/>
          </a:bodyPr>
          <a:lstStyle/>
          <a:p>
            <a:r>
              <a:rPr lang="fr-CA" sz="1200" dirty="0">
                <a:solidFill>
                  <a:schemeClr val="bg1"/>
                </a:solidFill>
              </a:rPr>
              <a:t>8</a:t>
            </a:r>
            <a:endParaRPr lang="en-CA" sz="1200" dirty="0">
              <a:solidFill>
                <a:schemeClr val="bg1"/>
              </a:solidFill>
            </a:endParaRPr>
          </a:p>
        </p:txBody>
      </p:sp>
      <p:sp>
        <p:nvSpPr>
          <p:cNvPr id="24" name="Rectangle 23">
            <a:extLst>
              <a:ext uri="{FF2B5EF4-FFF2-40B4-BE49-F238E27FC236}">
                <a16:creationId xmlns:a16="http://schemas.microsoft.com/office/drawing/2014/main" id="{A729018E-8960-AAF9-932A-0B660B44288F}"/>
              </a:ext>
            </a:extLst>
          </p:cNvPr>
          <p:cNvSpPr/>
          <p:nvPr/>
        </p:nvSpPr>
        <p:spPr>
          <a:xfrm>
            <a:off x="895060" y="971550"/>
            <a:ext cx="1929109" cy="85725"/>
          </a:xfrm>
          <a:prstGeom prst="rect">
            <a:avLst/>
          </a:prstGeom>
          <a:solidFill>
            <a:srgbClr val="F8D95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noFill/>
            </a:endParaRPr>
          </a:p>
        </p:txBody>
      </p:sp>
      <p:graphicFrame>
        <p:nvGraphicFramePr>
          <p:cNvPr id="3" name="Table 2">
            <a:extLst>
              <a:ext uri="{FF2B5EF4-FFF2-40B4-BE49-F238E27FC236}">
                <a16:creationId xmlns:a16="http://schemas.microsoft.com/office/drawing/2014/main" id="{CCC5CA1C-4D7E-633A-F78E-B648F4065F29}"/>
              </a:ext>
            </a:extLst>
          </p:cNvPr>
          <p:cNvGraphicFramePr>
            <a:graphicFrameLocks noGrp="1"/>
          </p:cNvGraphicFramePr>
          <p:nvPr>
            <p:extLst>
              <p:ext uri="{D42A27DB-BD31-4B8C-83A1-F6EECF244321}">
                <p14:modId xmlns:p14="http://schemas.microsoft.com/office/powerpoint/2010/main" val="3508403177"/>
              </p:ext>
            </p:extLst>
          </p:nvPr>
        </p:nvGraphicFramePr>
        <p:xfrm>
          <a:off x="895060" y="1216942"/>
          <a:ext cx="10548000" cy="2908080"/>
        </p:xfrm>
        <a:graphic>
          <a:graphicData uri="http://schemas.openxmlformats.org/drawingml/2006/table">
            <a:tbl>
              <a:tblPr firstRow="1" bandRow="1">
                <a:tableStyleId>{5C22544A-7EE6-4342-B048-85BDC9FD1C3A}</a:tableStyleId>
              </a:tblPr>
              <a:tblGrid>
                <a:gridCol w="1944000">
                  <a:extLst>
                    <a:ext uri="{9D8B030D-6E8A-4147-A177-3AD203B41FA5}">
                      <a16:colId xmlns:a16="http://schemas.microsoft.com/office/drawing/2014/main" val="4106015061"/>
                    </a:ext>
                  </a:extLst>
                </a:gridCol>
                <a:gridCol w="1260000">
                  <a:extLst>
                    <a:ext uri="{9D8B030D-6E8A-4147-A177-3AD203B41FA5}">
                      <a16:colId xmlns:a16="http://schemas.microsoft.com/office/drawing/2014/main" val="548826761"/>
                    </a:ext>
                  </a:extLst>
                </a:gridCol>
                <a:gridCol w="468000">
                  <a:extLst>
                    <a:ext uri="{9D8B030D-6E8A-4147-A177-3AD203B41FA5}">
                      <a16:colId xmlns:a16="http://schemas.microsoft.com/office/drawing/2014/main" val="2690998261"/>
                    </a:ext>
                  </a:extLst>
                </a:gridCol>
                <a:gridCol w="2360213">
                  <a:extLst>
                    <a:ext uri="{9D8B030D-6E8A-4147-A177-3AD203B41FA5}">
                      <a16:colId xmlns:a16="http://schemas.microsoft.com/office/drawing/2014/main" val="370342451"/>
                    </a:ext>
                  </a:extLst>
                </a:gridCol>
                <a:gridCol w="843787">
                  <a:extLst>
                    <a:ext uri="{9D8B030D-6E8A-4147-A177-3AD203B41FA5}">
                      <a16:colId xmlns:a16="http://schemas.microsoft.com/office/drawing/2014/main" val="3942263200"/>
                    </a:ext>
                  </a:extLst>
                </a:gridCol>
                <a:gridCol w="468000">
                  <a:extLst>
                    <a:ext uri="{9D8B030D-6E8A-4147-A177-3AD203B41FA5}">
                      <a16:colId xmlns:a16="http://schemas.microsoft.com/office/drawing/2014/main" val="3777787221"/>
                    </a:ext>
                  </a:extLst>
                </a:gridCol>
                <a:gridCol w="1944000">
                  <a:extLst>
                    <a:ext uri="{9D8B030D-6E8A-4147-A177-3AD203B41FA5}">
                      <a16:colId xmlns:a16="http://schemas.microsoft.com/office/drawing/2014/main" val="1972732275"/>
                    </a:ext>
                  </a:extLst>
                </a:gridCol>
                <a:gridCol w="1260000">
                  <a:extLst>
                    <a:ext uri="{9D8B030D-6E8A-4147-A177-3AD203B41FA5}">
                      <a16:colId xmlns:a16="http://schemas.microsoft.com/office/drawing/2014/main" val="2101942095"/>
                    </a:ext>
                  </a:extLst>
                </a:gridCol>
              </a:tblGrid>
              <a:tr h="252000">
                <a:tc gridSpan="8">
                  <a:txBody>
                    <a:bodyPr/>
                    <a:lstStyle/>
                    <a:p>
                      <a:pPr algn="ctr"/>
                      <a:r>
                        <a:rPr lang="fr-CA" sz="1000" b="1" dirty="0">
                          <a:solidFill>
                            <a:schemeClr val="tx1"/>
                          </a:solidFill>
                        </a:rPr>
                        <a:t>Informations d’achat</a:t>
                      </a:r>
                      <a:endParaRPr lang="en-CA" sz="1000" b="1" dirty="0">
                        <a:solidFill>
                          <a:schemeClr val="tx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8D956"/>
                    </a:solidFill>
                  </a:tcPr>
                </a:tc>
                <a:tc hMerge="1">
                  <a:txBody>
                    <a:bodyPr/>
                    <a:lstStyle/>
                    <a:p>
                      <a:endParaRPr lang="en-CA"/>
                    </a:p>
                  </a:txBody>
                  <a:tcPr/>
                </a:tc>
                <a:tc hMerge="1">
                  <a:txBody>
                    <a:bodyPr/>
                    <a:lstStyle/>
                    <a:p>
                      <a:pPr algn="ctr"/>
                      <a:endParaRPr lang="en-CA" sz="1000" b="1" dirty="0">
                        <a:solidFill>
                          <a:schemeClr val="tx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8D956"/>
                    </a:solidFill>
                  </a:tcPr>
                </a:tc>
                <a:tc hMerge="1">
                  <a:txBody>
                    <a:bodyPr/>
                    <a:lstStyle/>
                    <a:p>
                      <a:pPr algn="ctr"/>
                      <a:endParaRPr lang="en-CA" sz="1000" b="1" dirty="0">
                        <a:solidFill>
                          <a:schemeClr val="tx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8D956"/>
                    </a:solidFill>
                  </a:tcPr>
                </a:tc>
                <a:tc hMerge="1">
                  <a:txBody>
                    <a:bodyPr/>
                    <a:lstStyle/>
                    <a:p>
                      <a:pPr algn="ctr"/>
                      <a:endParaRPr lang="en-CA" sz="1000" b="1" dirty="0">
                        <a:solidFill>
                          <a:schemeClr val="tx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8D956"/>
                    </a:solidFill>
                  </a:tcPr>
                </a:tc>
                <a:tc hMerge="1">
                  <a:txBody>
                    <a:bodyPr/>
                    <a:lstStyle/>
                    <a:p>
                      <a:pPr algn="ctr"/>
                      <a:endParaRPr lang="en-CA" sz="1000" b="1" dirty="0">
                        <a:solidFill>
                          <a:schemeClr val="tx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8D956"/>
                    </a:solidFill>
                  </a:tcPr>
                </a:tc>
                <a:tc hMerge="1">
                  <a:txBody>
                    <a:bodyPr/>
                    <a:lstStyle/>
                    <a:p>
                      <a:pPr algn="ctr"/>
                      <a:endParaRPr lang="en-CA" sz="1000" b="1" dirty="0">
                        <a:solidFill>
                          <a:schemeClr val="tx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8D956"/>
                    </a:solidFill>
                  </a:tcPr>
                </a:tc>
                <a:tc hMerge="1">
                  <a:txBody>
                    <a:bodyPr/>
                    <a:lstStyle/>
                    <a:p>
                      <a:pPr algn="ctr"/>
                      <a:endParaRPr lang="en-CA" sz="1000" b="1" dirty="0">
                        <a:solidFill>
                          <a:schemeClr val="tx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8D956"/>
                    </a:solidFill>
                  </a:tcPr>
                </a:tc>
                <a:extLst>
                  <a:ext uri="{0D108BD9-81ED-4DB2-BD59-A6C34878D82A}">
                    <a16:rowId xmlns:a16="http://schemas.microsoft.com/office/drawing/2014/main" val="3874908426"/>
                  </a:ext>
                </a:extLst>
              </a:tr>
              <a:tr h="0">
                <a:tc gridSpan="2">
                  <a:txBody>
                    <a:bodyPr/>
                    <a:lstStyle/>
                    <a:p>
                      <a:pPr algn="ctr"/>
                      <a:r>
                        <a:rPr lang="fr-CA" sz="1000" b="1" dirty="0">
                          <a:solidFill>
                            <a:schemeClr val="bg1"/>
                          </a:solidFill>
                        </a:rPr>
                        <a:t>Informations financières</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8D956">
                        <a:alpha val="10000"/>
                      </a:srgbClr>
                    </a:solidFill>
                  </a:tcPr>
                </a:tc>
                <a:tc hMerge="1">
                  <a:txBody>
                    <a:bodyPr/>
                    <a:lstStyle/>
                    <a:p>
                      <a:endParaRPr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endParaRPr sz="10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gridSpan="2">
                  <a:txBody>
                    <a:bodyPr/>
                    <a:lstStyle/>
                    <a:p>
                      <a:pPr algn="ctr"/>
                      <a:r>
                        <a:rPr lang="fr-CA" sz="1000" b="1" dirty="0">
                          <a:solidFill>
                            <a:schemeClr val="bg1"/>
                          </a:solidFill>
                        </a:rPr>
                        <a:t>Dépenses d’opérations normalisées</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8D956">
                        <a:alpha val="10000"/>
                      </a:srgbClr>
                    </a:solidFill>
                  </a:tcPr>
                </a:tc>
                <a:tc hMerge="1">
                  <a:txBody>
                    <a:bodyPr/>
                    <a:lstStyle/>
                    <a:p>
                      <a:endParaRPr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8D956">
                        <a:alpha val="10000"/>
                      </a:srgbClr>
                    </a:solidFill>
                  </a:tcPr>
                </a:tc>
                <a:tc>
                  <a:txBody>
                    <a:bodyPr/>
                    <a:lstStyle/>
                    <a:p>
                      <a:pPr algn="ctr"/>
                      <a:endParaRPr lang="fr-CA" sz="1000" b="1" dirty="0">
                        <a:solidFill>
                          <a:schemeClr val="bg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gridSpan="2">
                  <a:txBody>
                    <a:bodyPr/>
                    <a:lstStyle/>
                    <a:p>
                      <a:pPr algn="ctr"/>
                      <a:r>
                        <a:rPr lang="fr-CA" sz="1000" b="1" dirty="0">
                          <a:solidFill>
                            <a:schemeClr val="bg1"/>
                          </a:solidFill>
                        </a:rPr>
                        <a:t>Informations de financement</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8D956">
                        <a:alpha val="10000"/>
                      </a:srgbClr>
                    </a:solidFill>
                  </a:tcPr>
                </a:tc>
                <a:tc hMerge="1">
                  <a:txBody>
                    <a:bodyPr/>
                    <a:lstStyle/>
                    <a:p>
                      <a:endParaRPr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8D956">
                        <a:alpha val="10000"/>
                      </a:srgbClr>
                    </a:solidFill>
                  </a:tcPr>
                </a:tc>
                <a:extLst>
                  <a:ext uri="{0D108BD9-81ED-4DB2-BD59-A6C34878D82A}">
                    <a16:rowId xmlns:a16="http://schemas.microsoft.com/office/drawing/2014/main" val="4216211834"/>
                  </a:ext>
                </a:extLst>
              </a:tr>
              <a:tr h="252000">
                <a:tc>
                  <a:txBody>
                    <a:bodyPr/>
                    <a:lstStyle/>
                    <a:p>
                      <a:r>
                        <a:rPr lang="fr-CA" sz="1000" dirty="0">
                          <a:solidFill>
                            <a:schemeClr val="bg1"/>
                          </a:solidFill>
                        </a:rPr>
                        <a:t>Prix d’achat</a:t>
                      </a:r>
                    </a:p>
                  </a:txBody>
                  <a:tcPr anchor="ctr">
                    <a:lnL w="12700" cmpd="sng">
                      <a:noFill/>
                    </a:lnL>
                    <a:lnR w="12700" cmpd="sng">
                      <a:noFill/>
                    </a:lnR>
                    <a:lnT w="381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b="1" dirty="0">
                          <a:solidFill>
                            <a:srgbClr val="F8D956"/>
                          </a:solidFill>
                        </a:rPr>
                        <a:t>1 800 000$</a:t>
                      </a:r>
                      <a:endParaRPr lang="en-CA" sz="1000" b="1" dirty="0">
                        <a:solidFill>
                          <a:srgbClr val="F8D956"/>
                        </a:solidFill>
                      </a:endParaRPr>
                    </a:p>
                  </a:txBody>
                  <a:tcPr anchor="ctr">
                    <a:lnL w="12700" cmpd="sng">
                      <a:noFill/>
                    </a:lnL>
                    <a:lnR w="12700" cmpd="sng">
                      <a:noFill/>
                    </a:lnR>
                    <a:lnT w="381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CA" sz="1000" dirty="0">
                          <a:solidFill>
                            <a:schemeClr val="bg1"/>
                          </a:solidFill>
                        </a:rPr>
                        <a:t>Inoccupation (3%)</a:t>
                      </a:r>
                      <a:endParaRPr lang="en-CA" sz="1000" dirty="0">
                        <a:solidFill>
                          <a:schemeClr val="bg1"/>
                        </a:solidFill>
                      </a:endParaRPr>
                    </a:p>
                  </a:txBody>
                  <a:tcPr anchor="ctr">
                    <a:lnL w="12700" cmpd="sng">
                      <a:noFill/>
                    </a:lnL>
                    <a:lnR w="12700" cmpd="sng">
                      <a:noFill/>
                    </a:lnR>
                    <a:lnT w="381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dirty="0">
                          <a:solidFill>
                            <a:schemeClr val="bg1"/>
                          </a:solidFill>
                        </a:rPr>
                        <a:t>3 925$</a:t>
                      </a:r>
                      <a:endParaRPr lang="en-CA" sz="1000" dirty="0">
                        <a:solidFill>
                          <a:schemeClr val="bg1"/>
                        </a:solidFill>
                      </a:endParaRPr>
                    </a:p>
                  </a:txBody>
                  <a:tcPr anchor="ctr">
                    <a:lnL w="12700" cmpd="sng">
                      <a:noFill/>
                    </a:lnL>
                    <a:lnR w="12700" cmpd="sng">
                      <a:noFill/>
                    </a:lnR>
                    <a:lnT w="381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CA" sz="1000" dirty="0">
                          <a:solidFill>
                            <a:schemeClr val="bg1"/>
                          </a:solidFill>
                        </a:rPr>
                        <a:t>Stratégie de financement</a:t>
                      </a:r>
                    </a:p>
                  </a:txBody>
                  <a:tcPr anchor="ctr">
                    <a:lnL w="12700" cmpd="sng">
                      <a:noFill/>
                    </a:lnL>
                    <a:lnR w="12700" cmpd="sng">
                      <a:noFill/>
                    </a:lnR>
                    <a:lnT w="381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dirty="0">
                          <a:solidFill>
                            <a:schemeClr val="bg1"/>
                          </a:solidFill>
                        </a:rPr>
                        <a:t>Prêteur B</a:t>
                      </a:r>
                      <a:endParaRPr lang="en-CA" sz="1000" dirty="0">
                        <a:solidFill>
                          <a:schemeClr val="bg1"/>
                        </a:solidFill>
                      </a:endParaRPr>
                    </a:p>
                  </a:txBody>
                  <a:tcPr anchor="ctr">
                    <a:lnL w="12700" cmpd="sng">
                      <a:noFill/>
                    </a:lnL>
                    <a:lnR w="12700" cmpd="sng">
                      <a:noFill/>
                    </a:lnR>
                    <a:lnT w="381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37654459"/>
                  </a:ext>
                </a:extLst>
              </a:tr>
              <a:tr h="252000">
                <a:tc>
                  <a:txBody>
                    <a:bodyPr/>
                    <a:lstStyle/>
                    <a:p>
                      <a:r>
                        <a:rPr lang="fr-CA" sz="1000" dirty="0">
                          <a:solidFill>
                            <a:schemeClr val="bg1"/>
                          </a:solidFill>
                        </a:rPr>
                        <a:t>Frais de démarrage</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dirty="0">
                          <a:solidFill>
                            <a:schemeClr val="bg1"/>
                          </a:solidFill>
                        </a:rPr>
                        <a:t>1 000 984$</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sz="1000" dirty="0"/>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CA" sz="1000" dirty="0">
                          <a:solidFill>
                            <a:schemeClr val="bg1"/>
                          </a:solidFill>
                        </a:rPr>
                        <a:t>Taxes municipales</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dirty="0">
                          <a:solidFill>
                            <a:schemeClr val="bg1"/>
                          </a:solidFill>
                        </a:rPr>
                        <a:t>11 273$</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CA" sz="1000" dirty="0">
                          <a:solidFill>
                            <a:schemeClr val="bg1"/>
                          </a:solidFill>
                        </a:rPr>
                        <a:t>Ratio prêt/valeur</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dirty="0">
                          <a:solidFill>
                            <a:schemeClr val="bg1"/>
                          </a:solidFill>
                        </a:rPr>
                        <a:t>80%</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4021745"/>
                  </a:ext>
                </a:extLst>
              </a:tr>
              <a:tr h="252000">
                <a:tc>
                  <a:txBody>
                    <a:bodyPr/>
                    <a:lstStyle/>
                    <a:p>
                      <a:r>
                        <a:rPr lang="fr-CA" sz="1000" dirty="0">
                          <a:solidFill>
                            <a:schemeClr val="bg1"/>
                          </a:solidFill>
                        </a:rPr>
                        <a:t>Nombre de logements</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dirty="0">
                          <a:solidFill>
                            <a:schemeClr val="bg1"/>
                          </a:solidFill>
                        </a:rPr>
                        <a:t>8</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CA" sz="1000" dirty="0">
                          <a:solidFill>
                            <a:schemeClr val="bg1"/>
                          </a:solidFill>
                        </a:rPr>
                        <a:t>Taxes scolaires </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dirty="0">
                          <a:solidFill>
                            <a:schemeClr val="bg1"/>
                          </a:solidFill>
                        </a:rPr>
                        <a:t>1 367$</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CA" sz="1000" dirty="0">
                          <a:solidFill>
                            <a:schemeClr val="bg1"/>
                          </a:solidFill>
                        </a:rPr>
                        <a:t>Ratio couverture de dette</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dirty="0">
                          <a:solidFill>
                            <a:schemeClr val="bg1"/>
                          </a:solidFill>
                        </a:rPr>
                        <a:t>N/A</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66100639"/>
                  </a:ext>
                </a:extLst>
              </a:tr>
              <a:tr h="252000">
                <a:tc>
                  <a:txBody>
                    <a:bodyPr/>
                    <a:lstStyle/>
                    <a:p>
                      <a:r>
                        <a:rPr lang="fr-CA" sz="1000" dirty="0">
                          <a:solidFill>
                            <a:schemeClr val="bg1"/>
                          </a:solidFill>
                        </a:rPr>
                        <a:t>Revenus annuels</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dirty="0">
                          <a:solidFill>
                            <a:schemeClr val="bg1"/>
                          </a:solidFill>
                        </a:rPr>
                        <a:t>130 824$</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sz="1000" dirty="0"/>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CA" sz="1000" dirty="0">
                          <a:solidFill>
                            <a:schemeClr val="bg1"/>
                          </a:solidFill>
                        </a:rPr>
                        <a:t>Assurances (estimé)</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dirty="0">
                          <a:solidFill>
                            <a:schemeClr val="bg1"/>
                          </a:solidFill>
                        </a:rPr>
                        <a:t>10 320$</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CA" sz="1000">
                          <a:solidFill>
                            <a:schemeClr val="bg1"/>
                          </a:solidFill>
                        </a:rPr>
                        <a:t>Revenus nets</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dirty="0">
                          <a:solidFill>
                            <a:schemeClr val="bg1"/>
                          </a:solidFill>
                        </a:rPr>
                        <a:t>79 082$</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9859489"/>
                  </a:ext>
                </a:extLst>
              </a:tr>
              <a:tr h="252000">
                <a:tc>
                  <a:txBody>
                    <a:bodyPr/>
                    <a:lstStyle/>
                    <a:p>
                      <a:r>
                        <a:rPr lang="fr-CA" sz="1000" dirty="0">
                          <a:solidFill>
                            <a:schemeClr val="bg1"/>
                          </a:solidFill>
                        </a:rPr>
                        <a:t>Loyer mensuel moyen</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dirty="0">
                          <a:solidFill>
                            <a:schemeClr val="bg1"/>
                          </a:solidFill>
                        </a:rPr>
                        <a:t>1363$</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CA" sz="1000" dirty="0">
                          <a:solidFill>
                            <a:schemeClr val="bg1"/>
                          </a:solidFill>
                        </a:rPr>
                        <a:t>Énergie</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dirty="0">
                          <a:solidFill>
                            <a:schemeClr val="bg1"/>
                          </a:solidFill>
                        </a:rPr>
                        <a:t>10 062$</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CA" sz="1000">
                          <a:solidFill>
                            <a:schemeClr val="bg1"/>
                          </a:solidFill>
                        </a:rPr>
                        <a:t>Type de prêt</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dirty="0">
                          <a:solidFill>
                            <a:schemeClr val="bg1"/>
                          </a:solidFill>
                        </a:rPr>
                        <a:t>Intérêt seul.</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2659583"/>
                  </a:ext>
                </a:extLst>
              </a:tr>
              <a:tr h="252000">
                <a:tc>
                  <a:txBody>
                    <a:bodyPr/>
                    <a:lstStyle/>
                    <a:p>
                      <a:r>
                        <a:rPr lang="fr-CA" sz="1000" dirty="0">
                          <a:solidFill>
                            <a:schemeClr val="bg1"/>
                          </a:solidFill>
                        </a:rPr>
                        <a:t>Taux d’intérêt</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dirty="0">
                          <a:solidFill>
                            <a:schemeClr val="bg1"/>
                          </a:solidFill>
                        </a:rPr>
                        <a:t>7,85%</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sz="1000" dirty="0"/>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CA" sz="1000" dirty="0">
                          <a:solidFill>
                            <a:schemeClr val="bg1"/>
                          </a:solidFill>
                        </a:rPr>
                        <a:t>Gestion</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dirty="0">
                          <a:solidFill>
                            <a:schemeClr val="bg1"/>
                          </a:solidFill>
                        </a:rPr>
                        <a:t>5 887$</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CA" sz="1000" dirty="0">
                          <a:solidFill>
                            <a:schemeClr val="bg1"/>
                          </a:solidFill>
                        </a:rPr>
                        <a:t>Valeur économique retenue</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dirty="0">
                          <a:solidFill>
                            <a:schemeClr val="bg1"/>
                          </a:solidFill>
                        </a:rPr>
                        <a:t>1 800 000$</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69556268"/>
                  </a:ext>
                </a:extLst>
              </a:tr>
              <a:tr h="252000">
                <a:tc>
                  <a:txBody>
                    <a:bodyPr/>
                    <a:lstStyle/>
                    <a:p>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CA" sz="1000" dirty="0">
                          <a:solidFill>
                            <a:schemeClr val="bg1"/>
                          </a:solidFill>
                        </a:rPr>
                        <a:t>Entretien</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dirty="0">
                          <a:solidFill>
                            <a:schemeClr val="bg1"/>
                          </a:solidFill>
                        </a:rPr>
                        <a:t>5 600$</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CA" sz="1000" dirty="0">
                          <a:solidFill>
                            <a:schemeClr val="bg1"/>
                          </a:solidFill>
                        </a:rPr>
                        <a:t>Prêt hypothécaire maximal</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b="1" dirty="0">
                          <a:solidFill>
                            <a:srgbClr val="F8D956"/>
                          </a:solidFill>
                        </a:rPr>
                        <a:t>1 440 000$</a:t>
                      </a:r>
                      <a:endParaRPr lang="en-CA" sz="1000" b="1" dirty="0">
                        <a:solidFill>
                          <a:srgbClr val="F8D956"/>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42039135"/>
                  </a:ext>
                </a:extLst>
              </a:tr>
              <a:tr h="252000">
                <a:tc>
                  <a:txBody>
                    <a:bodyPr/>
                    <a:lstStyle/>
                    <a:p>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CA" sz="1000" dirty="0">
                          <a:solidFill>
                            <a:schemeClr val="bg1"/>
                          </a:solidFill>
                        </a:rPr>
                        <a:t>Thermopompes</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dirty="0">
                          <a:solidFill>
                            <a:schemeClr val="bg1"/>
                          </a:solidFill>
                        </a:rPr>
                        <a:t>0$</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CA" sz="1000" dirty="0">
                          <a:solidFill>
                            <a:schemeClr val="bg1"/>
                          </a:solidFill>
                        </a:rPr>
                        <a:t>Mise de fond nécessaire</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dirty="0">
                          <a:solidFill>
                            <a:schemeClr val="bg1"/>
                          </a:solidFill>
                        </a:rPr>
                        <a:t>360 000$</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7992815"/>
                  </a:ext>
                </a:extLst>
              </a:tr>
              <a:tr h="252000">
                <a:tc>
                  <a:txBody>
                    <a:bodyPr/>
                    <a:lstStyle/>
                    <a:p>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CA" sz="1000" dirty="0">
                          <a:solidFill>
                            <a:schemeClr val="bg1"/>
                          </a:solidFill>
                        </a:rPr>
                        <a:t>Concierge</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dirty="0">
                          <a:solidFill>
                            <a:schemeClr val="bg1"/>
                          </a:solidFill>
                        </a:rPr>
                        <a:t>2 000$</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CA" sz="1000" dirty="0">
                          <a:solidFill>
                            <a:schemeClr val="bg1"/>
                          </a:solidFill>
                        </a:rPr>
                        <a:t>Fonds nécessaires (MDF + frais + </a:t>
                      </a:r>
                      <a:r>
                        <a:rPr lang="fr-CA" sz="1000" dirty="0" err="1">
                          <a:solidFill>
                            <a:schemeClr val="bg1"/>
                          </a:solidFill>
                        </a:rPr>
                        <a:t>contigence</a:t>
                      </a:r>
                      <a:r>
                        <a:rPr lang="fr-CA" sz="1000" dirty="0">
                          <a:solidFill>
                            <a:schemeClr val="bg1"/>
                          </a:solidFill>
                        </a:rPr>
                        <a:t> - BPV)</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b="1" dirty="0">
                          <a:solidFill>
                            <a:srgbClr val="F8D956"/>
                          </a:solidFill>
                        </a:rPr>
                        <a:t>300 000$</a:t>
                      </a:r>
                      <a:endParaRPr lang="en-CA" sz="1000" b="1" dirty="0">
                        <a:solidFill>
                          <a:srgbClr val="F8D956"/>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38721648"/>
                  </a:ext>
                </a:extLst>
              </a:tr>
            </a:tbl>
          </a:graphicData>
        </a:graphic>
      </p:graphicFrame>
      <p:pic>
        <p:nvPicPr>
          <p:cNvPr id="6" name="Picture 5">
            <a:extLst>
              <a:ext uri="{FF2B5EF4-FFF2-40B4-BE49-F238E27FC236}">
                <a16:creationId xmlns:a16="http://schemas.microsoft.com/office/drawing/2014/main" id="{C2C4E928-3800-2762-ADFC-ABE0C236D7D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188861" y="6031860"/>
            <a:ext cx="998416" cy="998416"/>
          </a:xfrm>
          <a:prstGeom prst="rect">
            <a:avLst/>
          </a:prstGeom>
        </p:spPr>
      </p:pic>
      <p:sp>
        <p:nvSpPr>
          <p:cNvPr id="12" name="Rectangle 11">
            <a:extLst>
              <a:ext uri="{FF2B5EF4-FFF2-40B4-BE49-F238E27FC236}">
                <a16:creationId xmlns:a16="http://schemas.microsoft.com/office/drawing/2014/main" id="{C2F1F8C9-7DAF-52E1-CBDF-5FA52F7B1894}"/>
              </a:ext>
            </a:extLst>
          </p:cNvPr>
          <p:cNvSpPr/>
          <p:nvPr/>
        </p:nvSpPr>
        <p:spPr>
          <a:xfrm>
            <a:off x="1624872" y="4269393"/>
            <a:ext cx="1260000" cy="1080000"/>
          </a:xfrm>
          <a:prstGeom prst="rect">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Rectangle 12">
            <a:extLst>
              <a:ext uri="{FF2B5EF4-FFF2-40B4-BE49-F238E27FC236}">
                <a16:creationId xmlns:a16="http://schemas.microsoft.com/office/drawing/2014/main" id="{48D72B47-D61C-D91F-5CF1-CFBD3F123B11}"/>
              </a:ext>
            </a:extLst>
          </p:cNvPr>
          <p:cNvSpPr/>
          <p:nvPr/>
        </p:nvSpPr>
        <p:spPr>
          <a:xfrm>
            <a:off x="4206901" y="4269393"/>
            <a:ext cx="1260000" cy="1080000"/>
          </a:xfrm>
          <a:prstGeom prst="rect">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Rectangle 13">
            <a:extLst>
              <a:ext uri="{FF2B5EF4-FFF2-40B4-BE49-F238E27FC236}">
                <a16:creationId xmlns:a16="http://schemas.microsoft.com/office/drawing/2014/main" id="{66A7947E-B8C1-0C44-2EA2-77AAD03900F1}"/>
              </a:ext>
            </a:extLst>
          </p:cNvPr>
          <p:cNvSpPr/>
          <p:nvPr/>
        </p:nvSpPr>
        <p:spPr>
          <a:xfrm>
            <a:off x="6788930" y="4269393"/>
            <a:ext cx="1260000" cy="1080000"/>
          </a:xfrm>
          <a:prstGeom prst="rect">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Rectangle 14">
            <a:extLst>
              <a:ext uri="{FF2B5EF4-FFF2-40B4-BE49-F238E27FC236}">
                <a16:creationId xmlns:a16="http://schemas.microsoft.com/office/drawing/2014/main" id="{2746C5D7-C108-65D6-B87B-32E62A52DE31}"/>
              </a:ext>
            </a:extLst>
          </p:cNvPr>
          <p:cNvSpPr/>
          <p:nvPr/>
        </p:nvSpPr>
        <p:spPr>
          <a:xfrm>
            <a:off x="9370958" y="4269393"/>
            <a:ext cx="1260000" cy="1080000"/>
          </a:xfrm>
          <a:prstGeom prst="rect">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 name="TextBox 15">
            <a:extLst>
              <a:ext uri="{FF2B5EF4-FFF2-40B4-BE49-F238E27FC236}">
                <a16:creationId xmlns:a16="http://schemas.microsoft.com/office/drawing/2014/main" id="{4E45F888-E252-5298-0A46-AABFF7CE693E}"/>
              </a:ext>
            </a:extLst>
          </p:cNvPr>
          <p:cNvSpPr txBox="1"/>
          <p:nvPr/>
        </p:nvSpPr>
        <p:spPr>
          <a:xfrm>
            <a:off x="1442437" y="5453338"/>
            <a:ext cx="1624869" cy="369332"/>
          </a:xfrm>
          <a:prstGeom prst="rect">
            <a:avLst/>
          </a:prstGeom>
          <a:noFill/>
        </p:spPr>
        <p:txBody>
          <a:bodyPr wrap="square" rtlCol="0">
            <a:spAutoFit/>
          </a:bodyPr>
          <a:lstStyle/>
          <a:p>
            <a:pPr algn="ctr"/>
            <a:r>
              <a:rPr lang="fr-CA" b="1" dirty="0">
                <a:solidFill>
                  <a:srgbClr val="F8D956"/>
                </a:solidFill>
              </a:rPr>
              <a:t>Prêteur B</a:t>
            </a:r>
            <a:endParaRPr lang="en-CA" b="1" dirty="0">
              <a:solidFill>
                <a:srgbClr val="F8D956"/>
              </a:solidFill>
            </a:endParaRPr>
          </a:p>
        </p:txBody>
      </p:sp>
      <p:sp>
        <p:nvSpPr>
          <p:cNvPr id="17" name="TextBox 16">
            <a:extLst>
              <a:ext uri="{FF2B5EF4-FFF2-40B4-BE49-F238E27FC236}">
                <a16:creationId xmlns:a16="http://schemas.microsoft.com/office/drawing/2014/main" id="{C16237D7-55DC-3700-44C3-B00EDF0A713C}"/>
              </a:ext>
            </a:extLst>
          </p:cNvPr>
          <p:cNvSpPr txBox="1"/>
          <p:nvPr/>
        </p:nvSpPr>
        <p:spPr>
          <a:xfrm>
            <a:off x="4024466" y="5453338"/>
            <a:ext cx="1624869" cy="369332"/>
          </a:xfrm>
          <a:prstGeom prst="rect">
            <a:avLst/>
          </a:prstGeom>
          <a:noFill/>
        </p:spPr>
        <p:txBody>
          <a:bodyPr wrap="square" rtlCol="0">
            <a:spAutoFit/>
          </a:bodyPr>
          <a:lstStyle/>
          <a:p>
            <a:pPr algn="ctr"/>
            <a:r>
              <a:rPr lang="fr-CA" b="1" dirty="0">
                <a:solidFill>
                  <a:srgbClr val="F8D956"/>
                </a:solidFill>
              </a:rPr>
              <a:t>1 800 000$</a:t>
            </a:r>
            <a:endParaRPr lang="en-CA" b="1" dirty="0">
              <a:solidFill>
                <a:srgbClr val="F8D956"/>
              </a:solidFill>
            </a:endParaRPr>
          </a:p>
        </p:txBody>
      </p:sp>
      <p:sp>
        <p:nvSpPr>
          <p:cNvPr id="18" name="TextBox 17">
            <a:extLst>
              <a:ext uri="{FF2B5EF4-FFF2-40B4-BE49-F238E27FC236}">
                <a16:creationId xmlns:a16="http://schemas.microsoft.com/office/drawing/2014/main" id="{7DDDB058-0616-8943-12A9-3F862C6E99AF}"/>
              </a:ext>
            </a:extLst>
          </p:cNvPr>
          <p:cNvSpPr txBox="1"/>
          <p:nvPr/>
        </p:nvSpPr>
        <p:spPr>
          <a:xfrm>
            <a:off x="6606495" y="5453338"/>
            <a:ext cx="1624869" cy="369332"/>
          </a:xfrm>
          <a:prstGeom prst="rect">
            <a:avLst/>
          </a:prstGeom>
          <a:noFill/>
        </p:spPr>
        <p:txBody>
          <a:bodyPr wrap="square" rtlCol="0">
            <a:spAutoFit/>
          </a:bodyPr>
          <a:lstStyle/>
          <a:p>
            <a:pPr algn="ctr"/>
            <a:r>
              <a:rPr lang="fr-CA" b="1" dirty="0">
                <a:solidFill>
                  <a:srgbClr val="F8D956"/>
                </a:solidFill>
              </a:rPr>
              <a:t>1 440 000$</a:t>
            </a:r>
            <a:endParaRPr lang="en-CA" b="1" dirty="0">
              <a:solidFill>
                <a:srgbClr val="F8D956"/>
              </a:solidFill>
            </a:endParaRPr>
          </a:p>
        </p:txBody>
      </p:sp>
      <p:sp>
        <p:nvSpPr>
          <p:cNvPr id="19" name="TextBox 18">
            <a:extLst>
              <a:ext uri="{FF2B5EF4-FFF2-40B4-BE49-F238E27FC236}">
                <a16:creationId xmlns:a16="http://schemas.microsoft.com/office/drawing/2014/main" id="{12E4F5CE-3D8D-CA99-A7D0-8F2862ACA780}"/>
              </a:ext>
            </a:extLst>
          </p:cNvPr>
          <p:cNvSpPr txBox="1"/>
          <p:nvPr/>
        </p:nvSpPr>
        <p:spPr>
          <a:xfrm>
            <a:off x="9188524" y="5453338"/>
            <a:ext cx="1624869" cy="369332"/>
          </a:xfrm>
          <a:prstGeom prst="rect">
            <a:avLst/>
          </a:prstGeom>
          <a:noFill/>
        </p:spPr>
        <p:txBody>
          <a:bodyPr wrap="square" rtlCol="0">
            <a:spAutoFit/>
          </a:bodyPr>
          <a:lstStyle/>
          <a:p>
            <a:pPr algn="ctr"/>
            <a:r>
              <a:rPr lang="fr-CA" b="1" dirty="0">
                <a:solidFill>
                  <a:srgbClr val="F8D956"/>
                </a:solidFill>
              </a:rPr>
              <a:t>300 000$</a:t>
            </a:r>
            <a:endParaRPr lang="en-CA" b="1" dirty="0">
              <a:solidFill>
                <a:srgbClr val="F8D956"/>
              </a:solidFill>
            </a:endParaRPr>
          </a:p>
        </p:txBody>
      </p:sp>
      <p:cxnSp>
        <p:nvCxnSpPr>
          <p:cNvPr id="20" name="Straight Connector 19">
            <a:extLst>
              <a:ext uri="{FF2B5EF4-FFF2-40B4-BE49-F238E27FC236}">
                <a16:creationId xmlns:a16="http://schemas.microsoft.com/office/drawing/2014/main" id="{F30DB484-EB78-EC92-DBEE-7B5963EBC736}"/>
              </a:ext>
            </a:extLst>
          </p:cNvPr>
          <p:cNvCxnSpPr>
            <a:cxnSpLocks/>
          </p:cNvCxnSpPr>
          <p:nvPr/>
        </p:nvCxnSpPr>
        <p:spPr>
          <a:xfrm>
            <a:off x="1655223" y="5874527"/>
            <a:ext cx="1199297" cy="0"/>
          </a:xfrm>
          <a:prstGeom prst="line">
            <a:avLst/>
          </a:prstGeom>
          <a:ln w="9525">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503C5D34-20D2-39F8-B8F6-9EE16FF0A7DC}"/>
              </a:ext>
            </a:extLst>
          </p:cNvPr>
          <p:cNvCxnSpPr>
            <a:cxnSpLocks/>
          </p:cNvCxnSpPr>
          <p:nvPr/>
        </p:nvCxnSpPr>
        <p:spPr>
          <a:xfrm>
            <a:off x="4237252" y="5874527"/>
            <a:ext cx="1199297" cy="0"/>
          </a:xfrm>
          <a:prstGeom prst="line">
            <a:avLst/>
          </a:prstGeom>
          <a:ln w="9525">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1C8C1508-550A-460B-9102-99B48D752E9D}"/>
              </a:ext>
            </a:extLst>
          </p:cNvPr>
          <p:cNvCxnSpPr>
            <a:cxnSpLocks/>
          </p:cNvCxnSpPr>
          <p:nvPr/>
        </p:nvCxnSpPr>
        <p:spPr>
          <a:xfrm>
            <a:off x="6819281" y="5874527"/>
            <a:ext cx="1199297" cy="0"/>
          </a:xfrm>
          <a:prstGeom prst="line">
            <a:avLst/>
          </a:prstGeom>
          <a:ln w="9525">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B5665118-7061-26F4-DB6C-332F8F981042}"/>
              </a:ext>
            </a:extLst>
          </p:cNvPr>
          <p:cNvCxnSpPr>
            <a:cxnSpLocks/>
          </p:cNvCxnSpPr>
          <p:nvPr/>
        </p:nvCxnSpPr>
        <p:spPr>
          <a:xfrm>
            <a:off x="9401310" y="5850080"/>
            <a:ext cx="1199297" cy="0"/>
          </a:xfrm>
          <a:prstGeom prst="line">
            <a:avLst/>
          </a:prstGeom>
          <a:ln w="9525">
            <a:solidFill>
              <a:schemeClr val="bg1"/>
            </a:solidFill>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CFE101C3-066F-02AF-F22C-0A996FCFE2A1}"/>
              </a:ext>
            </a:extLst>
          </p:cNvPr>
          <p:cNvSpPr txBox="1"/>
          <p:nvPr/>
        </p:nvSpPr>
        <p:spPr>
          <a:xfrm>
            <a:off x="1140711" y="5926385"/>
            <a:ext cx="2228320" cy="307777"/>
          </a:xfrm>
          <a:prstGeom prst="rect">
            <a:avLst/>
          </a:prstGeom>
          <a:noFill/>
        </p:spPr>
        <p:txBody>
          <a:bodyPr wrap="square" rtlCol="0">
            <a:spAutoFit/>
          </a:bodyPr>
          <a:lstStyle/>
          <a:p>
            <a:pPr algn="ctr"/>
            <a:r>
              <a:rPr lang="fr-CA" sz="1400" dirty="0">
                <a:solidFill>
                  <a:schemeClr val="bg1"/>
                </a:solidFill>
              </a:rPr>
              <a:t>Type de financement</a:t>
            </a:r>
            <a:endParaRPr lang="en-CA" sz="1400" dirty="0">
              <a:solidFill>
                <a:schemeClr val="bg1"/>
              </a:solidFill>
            </a:endParaRPr>
          </a:p>
        </p:txBody>
      </p:sp>
      <p:sp>
        <p:nvSpPr>
          <p:cNvPr id="28" name="TextBox 27">
            <a:extLst>
              <a:ext uri="{FF2B5EF4-FFF2-40B4-BE49-F238E27FC236}">
                <a16:creationId xmlns:a16="http://schemas.microsoft.com/office/drawing/2014/main" id="{6B89FAE3-90BC-59CE-8869-34460C876388}"/>
              </a:ext>
            </a:extLst>
          </p:cNvPr>
          <p:cNvSpPr txBox="1"/>
          <p:nvPr/>
        </p:nvSpPr>
        <p:spPr>
          <a:xfrm>
            <a:off x="3722740" y="5926385"/>
            <a:ext cx="2228320" cy="307777"/>
          </a:xfrm>
          <a:prstGeom prst="rect">
            <a:avLst/>
          </a:prstGeom>
          <a:noFill/>
        </p:spPr>
        <p:txBody>
          <a:bodyPr wrap="square" rtlCol="0">
            <a:spAutoFit/>
          </a:bodyPr>
          <a:lstStyle/>
          <a:p>
            <a:pPr algn="ctr"/>
            <a:r>
              <a:rPr lang="fr-CA" sz="1400" dirty="0">
                <a:solidFill>
                  <a:schemeClr val="bg1"/>
                </a:solidFill>
              </a:rPr>
              <a:t>Valeur économique</a:t>
            </a:r>
            <a:endParaRPr lang="en-CA" sz="1400" dirty="0">
              <a:solidFill>
                <a:schemeClr val="bg1"/>
              </a:solidFill>
            </a:endParaRPr>
          </a:p>
        </p:txBody>
      </p:sp>
      <p:sp>
        <p:nvSpPr>
          <p:cNvPr id="29" name="TextBox 28">
            <a:extLst>
              <a:ext uri="{FF2B5EF4-FFF2-40B4-BE49-F238E27FC236}">
                <a16:creationId xmlns:a16="http://schemas.microsoft.com/office/drawing/2014/main" id="{963A50B2-9A6C-0592-FD73-078A46367730}"/>
              </a:ext>
            </a:extLst>
          </p:cNvPr>
          <p:cNvSpPr txBox="1"/>
          <p:nvPr/>
        </p:nvSpPr>
        <p:spPr>
          <a:xfrm>
            <a:off x="6304769" y="5926385"/>
            <a:ext cx="2228320" cy="307777"/>
          </a:xfrm>
          <a:prstGeom prst="rect">
            <a:avLst/>
          </a:prstGeom>
          <a:noFill/>
        </p:spPr>
        <p:txBody>
          <a:bodyPr wrap="square" rtlCol="0">
            <a:spAutoFit/>
          </a:bodyPr>
          <a:lstStyle/>
          <a:p>
            <a:pPr algn="ctr"/>
            <a:r>
              <a:rPr lang="fr-CA" sz="1400" dirty="0">
                <a:solidFill>
                  <a:schemeClr val="bg1"/>
                </a:solidFill>
              </a:rPr>
              <a:t>Prêt maximal</a:t>
            </a:r>
            <a:endParaRPr lang="en-CA" sz="1400" dirty="0">
              <a:solidFill>
                <a:schemeClr val="bg1"/>
              </a:solidFill>
            </a:endParaRPr>
          </a:p>
        </p:txBody>
      </p:sp>
      <p:sp>
        <p:nvSpPr>
          <p:cNvPr id="30" name="TextBox 29">
            <a:extLst>
              <a:ext uri="{FF2B5EF4-FFF2-40B4-BE49-F238E27FC236}">
                <a16:creationId xmlns:a16="http://schemas.microsoft.com/office/drawing/2014/main" id="{54B70F72-14FD-E448-93EB-11EEB5AA5AB6}"/>
              </a:ext>
            </a:extLst>
          </p:cNvPr>
          <p:cNvSpPr txBox="1"/>
          <p:nvPr/>
        </p:nvSpPr>
        <p:spPr>
          <a:xfrm>
            <a:off x="8886798" y="5926385"/>
            <a:ext cx="2228320" cy="307777"/>
          </a:xfrm>
          <a:prstGeom prst="rect">
            <a:avLst/>
          </a:prstGeom>
          <a:noFill/>
        </p:spPr>
        <p:txBody>
          <a:bodyPr wrap="square" rtlCol="0">
            <a:spAutoFit/>
          </a:bodyPr>
          <a:lstStyle/>
          <a:p>
            <a:pPr algn="ctr"/>
            <a:r>
              <a:rPr lang="fr-CA" sz="1400" dirty="0">
                <a:solidFill>
                  <a:schemeClr val="bg1"/>
                </a:solidFill>
              </a:rPr>
              <a:t>Fonds nécessaires</a:t>
            </a:r>
            <a:endParaRPr lang="en-CA" sz="1400" dirty="0">
              <a:solidFill>
                <a:schemeClr val="bg1"/>
              </a:solidFill>
            </a:endParaRPr>
          </a:p>
        </p:txBody>
      </p:sp>
      <p:pic>
        <p:nvPicPr>
          <p:cNvPr id="32" name="Graphic 31" descr="Bank outline">
            <a:extLst>
              <a:ext uri="{FF2B5EF4-FFF2-40B4-BE49-F238E27FC236}">
                <a16:creationId xmlns:a16="http://schemas.microsoft.com/office/drawing/2014/main" id="{29F9AC4B-B80E-A489-8596-48B3B20968C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97671" y="4352193"/>
            <a:ext cx="914400" cy="914400"/>
          </a:xfrm>
          <a:prstGeom prst="rect">
            <a:avLst/>
          </a:prstGeom>
        </p:spPr>
      </p:pic>
      <p:pic>
        <p:nvPicPr>
          <p:cNvPr id="34" name="Graphic 33" descr="Coins outline">
            <a:extLst>
              <a:ext uri="{FF2B5EF4-FFF2-40B4-BE49-F238E27FC236}">
                <a16:creationId xmlns:a16="http://schemas.microsoft.com/office/drawing/2014/main" id="{B50222E1-E159-EC00-5207-E5949E71598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61729" y="4352193"/>
            <a:ext cx="914400" cy="914400"/>
          </a:xfrm>
          <a:prstGeom prst="rect">
            <a:avLst/>
          </a:prstGeom>
        </p:spPr>
      </p:pic>
      <p:pic>
        <p:nvPicPr>
          <p:cNvPr id="36" name="Graphic 35" descr="Money outline">
            <a:extLst>
              <a:ext uri="{FF2B5EF4-FFF2-40B4-BE49-F238E27FC236}">
                <a16:creationId xmlns:a16="http://schemas.microsoft.com/office/drawing/2014/main" id="{5D0EE31E-D7F0-3A98-B2C1-1E4FCC3F18F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543758" y="4352193"/>
            <a:ext cx="914400" cy="914400"/>
          </a:xfrm>
          <a:prstGeom prst="rect">
            <a:avLst/>
          </a:prstGeom>
        </p:spPr>
      </p:pic>
      <p:pic>
        <p:nvPicPr>
          <p:cNvPr id="38" name="Graphic 37" descr="Bank check outline">
            <a:extLst>
              <a:ext uri="{FF2B5EF4-FFF2-40B4-BE49-F238E27FC236}">
                <a16:creationId xmlns:a16="http://schemas.microsoft.com/office/drawing/2014/main" id="{DFD0D36A-AA67-899E-6A55-4C3AF9BC163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379700" y="4352193"/>
            <a:ext cx="914400" cy="914400"/>
          </a:xfrm>
          <a:prstGeom prst="rect">
            <a:avLst/>
          </a:prstGeom>
        </p:spPr>
      </p:pic>
      <p:sp>
        <p:nvSpPr>
          <p:cNvPr id="39" name="Speech Bubble: Oval 38">
            <a:extLst>
              <a:ext uri="{FF2B5EF4-FFF2-40B4-BE49-F238E27FC236}">
                <a16:creationId xmlns:a16="http://schemas.microsoft.com/office/drawing/2014/main" id="{54616F10-EFD8-EF8C-C41E-F0B536AC3646}"/>
              </a:ext>
            </a:extLst>
          </p:cNvPr>
          <p:cNvSpPr/>
          <p:nvPr/>
        </p:nvSpPr>
        <p:spPr>
          <a:xfrm>
            <a:off x="10813393" y="5086754"/>
            <a:ext cx="1264580" cy="629224"/>
          </a:xfrm>
          <a:prstGeom prst="wedgeEllipseCallout">
            <a:avLst>
              <a:gd name="adj1" fmla="val -48486"/>
              <a:gd name="adj2" fmla="val 34017"/>
            </a:avLst>
          </a:prstGeom>
          <a:solidFill>
            <a:srgbClr val="F8D956">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1200" dirty="0"/>
              <a:t>Récupérés en 2 ans</a:t>
            </a:r>
            <a:endParaRPr lang="en-CA" sz="1200" dirty="0"/>
          </a:p>
        </p:txBody>
      </p:sp>
      <p:sp>
        <p:nvSpPr>
          <p:cNvPr id="2" name="Rectangle 1">
            <a:extLst>
              <a:ext uri="{FF2B5EF4-FFF2-40B4-BE49-F238E27FC236}">
                <a16:creationId xmlns:a16="http://schemas.microsoft.com/office/drawing/2014/main" id="{DC23EC60-00D7-1CFA-F456-7AB2304825CC}"/>
              </a:ext>
            </a:extLst>
          </p:cNvPr>
          <p:cNvSpPr/>
          <p:nvPr/>
        </p:nvSpPr>
        <p:spPr>
          <a:xfrm>
            <a:off x="1106034" y="3337415"/>
            <a:ext cx="2873110" cy="604033"/>
          </a:xfrm>
          <a:prstGeom prst="rect">
            <a:avLst/>
          </a:prstGeom>
          <a:solidFill>
            <a:srgbClr val="8327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1200" dirty="0"/>
              <a:t>Balance de vente de 500 000$ qui fait passer l’investissement de 800k à 300k!</a:t>
            </a:r>
            <a:endParaRPr lang="en-CA" sz="1200" dirty="0"/>
          </a:p>
        </p:txBody>
      </p:sp>
    </p:spTree>
    <p:extLst>
      <p:ext uri="{BB962C8B-B14F-4D97-AF65-F5344CB8AC3E}">
        <p14:creationId xmlns:p14="http://schemas.microsoft.com/office/powerpoint/2010/main" val="24888380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a:extLst>
            <a:ext uri="{FF2B5EF4-FFF2-40B4-BE49-F238E27FC236}">
              <a16:creationId xmlns:a16="http://schemas.microsoft.com/office/drawing/2014/main" id="{D50F6769-4621-2570-E891-5AEBA9E59326}"/>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E4F43986-8B4D-F09A-8BD5-8370F9116E88}"/>
              </a:ext>
            </a:extLst>
          </p:cNvPr>
          <p:cNvSpPr txBox="1">
            <a:spLocks/>
          </p:cNvSpPr>
          <p:nvPr/>
        </p:nvSpPr>
        <p:spPr>
          <a:xfrm>
            <a:off x="780673" y="376674"/>
            <a:ext cx="7261157" cy="717279"/>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b="1" dirty="0">
                <a:solidFill>
                  <a:schemeClr val="bg1"/>
                </a:solidFill>
              </a:rPr>
              <a:t>FINANCES DU PROJET - OPTIMISATION</a:t>
            </a:r>
            <a:endParaRPr lang="en-US" dirty="0"/>
          </a:p>
        </p:txBody>
      </p:sp>
      <p:sp>
        <p:nvSpPr>
          <p:cNvPr id="8" name="TextBox 7">
            <a:extLst>
              <a:ext uri="{FF2B5EF4-FFF2-40B4-BE49-F238E27FC236}">
                <a16:creationId xmlns:a16="http://schemas.microsoft.com/office/drawing/2014/main" id="{2E2533E9-C406-167F-1B0F-DACFF3F04584}"/>
              </a:ext>
            </a:extLst>
          </p:cNvPr>
          <p:cNvSpPr txBox="1"/>
          <p:nvPr/>
        </p:nvSpPr>
        <p:spPr>
          <a:xfrm>
            <a:off x="184326" y="6476025"/>
            <a:ext cx="596347" cy="276999"/>
          </a:xfrm>
          <a:prstGeom prst="rect">
            <a:avLst/>
          </a:prstGeom>
          <a:noFill/>
        </p:spPr>
        <p:txBody>
          <a:bodyPr wrap="square" rtlCol="0">
            <a:spAutoFit/>
          </a:bodyPr>
          <a:lstStyle/>
          <a:p>
            <a:r>
              <a:rPr lang="fr-CA" sz="1200" dirty="0">
                <a:solidFill>
                  <a:schemeClr val="bg1"/>
                </a:solidFill>
              </a:rPr>
              <a:t>9</a:t>
            </a:r>
            <a:endParaRPr lang="en-CA" sz="1200" dirty="0">
              <a:solidFill>
                <a:schemeClr val="bg1"/>
              </a:solidFill>
            </a:endParaRPr>
          </a:p>
        </p:txBody>
      </p:sp>
      <p:sp>
        <p:nvSpPr>
          <p:cNvPr id="24" name="Rectangle 23">
            <a:extLst>
              <a:ext uri="{FF2B5EF4-FFF2-40B4-BE49-F238E27FC236}">
                <a16:creationId xmlns:a16="http://schemas.microsoft.com/office/drawing/2014/main" id="{9294A75C-81A1-AD77-EE1A-36411B9BCB76}"/>
              </a:ext>
            </a:extLst>
          </p:cNvPr>
          <p:cNvSpPr/>
          <p:nvPr/>
        </p:nvSpPr>
        <p:spPr>
          <a:xfrm>
            <a:off x="895060" y="971550"/>
            <a:ext cx="1929109" cy="85725"/>
          </a:xfrm>
          <a:prstGeom prst="rect">
            <a:avLst/>
          </a:prstGeom>
          <a:solidFill>
            <a:srgbClr val="F8D95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noFill/>
            </a:endParaRPr>
          </a:p>
        </p:txBody>
      </p:sp>
      <p:pic>
        <p:nvPicPr>
          <p:cNvPr id="6" name="Picture 5">
            <a:extLst>
              <a:ext uri="{FF2B5EF4-FFF2-40B4-BE49-F238E27FC236}">
                <a16:creationId xmlns:a16="http://schemas.microsoft.com/office/drawing/2014/main" id="{24CFB8A9-9703-CF9E-0655-D4683F4272E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1188861" y="6031860"/>
            <a:ext cx="998416" cy="998416"/>
          </a:xfrm>
          <a:prstGeom prst="rect">
            <a:avLst/>
          </a:prstGeom>
        </p:spPr>
      </p:pic>
      <p:graphicFrame>
        <p:nvGraphicFramePr>
          <p:cNvPr id="3" name="Table 2">
            <a:extLst>
              <a:ext uri="{FF2B5EF4-FFF2-40B4-BE49-F238E27FC236}">
                <a16:creationId xmlns:a16="http://schemas.microsoft.com/office/drawing/2014/main" id="{744C9E82-597F-5F9A-FE64-F54B644DBF98}"/>
              </a:ext>
            </a:extLst>
          </p:cNvPr>
          <p:cNvGraphicFramePr>
            <a:graphicFrameLocks noGrp="1"/>
          </p:cNvGraphicFramePr>
          <p:nvPr>
            <p:extLst>
              <p:ext uri="{D42A27DB-BD31-4B8C-83A1-F6EECF244321}">
                <p14:modId xmlns:p14="http://schemas.microsoft.com/office/powerpoint/2010/main" val="2910204150"/>
              </p:ext>
            </p:extLst>
          </p:nvPr>
        </p:nvGraphicFramePr>
        <p:xfrm>
          <a:off x="895060" y="1216942"/>
          <a:ext cx="10548003" cy="4275840"/>
        </p:xfrm>
        <a:graphic>
          <a:graphicData uri="http://schemas.openxmlformats.org/drawingml/2006/table">
            <a:tbl>
              <a:tblPr firstRow="1" bandRow="1">
                <a:tableStyleId>{5C22544A-7EE6-4342-B048-85BDC9FD1C3A}</a:tableStyleId>
              </a:tblPr>
              <a:tblGrid>
                <a:gridCol w="1944001">
                  <a:extLst>
                    <a:ext uri="{9D8B030D-6E8A-4147-A177-3AD203B41FA5}">
                      <a16:colId xmlns:a16="http://schemas.microsoft.com/office/drawing/2014/main" val="4106015061"/>
                    </a:ext>
                  </a:extLst>
                </a:gridCol>
                <a:gridCol w="1260000">
                  <a:extLst>
                    <a:ext uri="{9D8B030D-6E8A-4147-A177-3AD203B41FA5}">
                      <a16:colId xmlns:a16="http://schemas.microsoft.com/office/drawing/2014/main" val="548826761"/>
                    </a:ext>
                  </a:extLst>
                </a:gridCol>
                <a:gridCol w="468000">
                  <a:extLst>
                    <a:ext uri="{9D8B030D-6E8A-4147-A177-3AD203B41FA5}">
                      <a16:colId xmlns:a16="http://schemas.microsoft.com/office/drawing/2014/main" val="2690998261"/>
                    </a:ext>
                  </a:extLst>
                </a:gridCol>
                <a:gridCol w="2229525">
                  <a:extLst>
                    <a:ext uri="{9D8B030D-6E8A-4147-A177-3AD203B41FA5}">
                      <a16:colId xmlns:a16="http://schemas.microsoft.com/office/drawing/2014/main" val="370342451"/>
                    </a:ext>
                  </a:extLst>
                </a:gridCol>
                <a:gridCol w="974476">
                  <a:extLst>
                    <a:ext uri="{9D8B030D-6E8A-4147-A177-3AD203B41FA5}">
                      <a16:colId xmlns:a16="http://schemas.microsoft.com/office/drawing/2014/main" val="3942263200"/>
                    </a:ext>
                  </a:extLst>
                </a:gridCol>
                <a:gridCol w="468000">
                  <a:extLst>
                    <a:ext uri="{9D8B030D-6E8A-4147-A177-3AD203B41FA5}">
                      <a16:colId xmlns:a16="http://schemas.microsoft.com/office/drawing/2014/main" val="3777787221"/>
                    </a:ext>
                  </a:extLst>
                </a:gridCol>
                <a:gridCol w="1944001">
                  <a:extLst>
                    <a:ext uri="{9D8B030D-6E8A-4147-A177-3AD203B41FA5}">
                      <a16:colId xmlns:a16="http://schemas.microsoft.com/office/drawing/2014/main" val="1972732275"/>
                    </a:ext>
                  </a:extLst>
                </a:gridCol>
                <a:gridCol w="1260000">
                  <a:extLst>
                    <a:ext uri="{9D8B030D-6E8A-4147-A177-3AD203B41FA5}">
                      <a16:colId xmlns:a16="http://schemas.microsoft.com/office/drawing/2014/main" val="2101942095"/>
                    </a:ext>
                  </a:extLst>
                </a:gridCol>
              </a:tblGrid>
              <a:tr h="252000">
                <a:tc gridSpan="8">
                  <a:txBody>
                    <a:bodyPr/>
                    <a:lstStyle/>
                    <a:p>
                      <a:pPr algn="ctr"/>
                      <a:r>
                        <a:rPr lang="fr-CA" sz="1000" b="1" dirty="0">
                          <a:solidFill>
                            <a:schemeClr val="tx1"/>
                          </a:solidFill>
                        </a:rPr>
                        <a:t>Informations d’optimisation</a:t>
                      </a:r>
                      <a:endParaRPr lang="en-CA" sz="1000" b="1" dirty="0">
                        <a:solidFill>
                          <a:schemeClr val="tx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8D956"/>
                    </a:solidFill>
                  </a:tcPr>
                </a:tc>
                <a:tc hMerge="1">
                  <a:txBody>
                    <a:bodyPr/>
                    <a:lstStyle/>
                    <a:p>
                      <a:endParaRPr lang="en-CA"/>
                    </a:p>
                  </a:txBody>
                  <a:tcPr>
                    <a:lnL w="12700" cmpd="sng">
                      <a:noFill/>
                    </a:lnL>
                  </a:tcPr>
                </a:tc>
                <a:tc hMerge="1">
                  <a:txBody>
                    <a:bodyPr/>
                    <a:lstStyle/>
                    <a:p>
                      <a:pPr algn="ctr"/>
                      <a:endParaRPr lang="en-CA" sz="1000" b="1" dirty="0">
                        <a:solidFill>
                          <a:schemeClr val="tx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8D956"/>
                    </a:solidFill>
                  </a:tcPr>
                </a:tc>
                <a:tc hMerge="1">
                  <a:txBody>
                    <a:bodyPr/>
                    <a:lstStyle/>
                    <a:p>
                      <a:pPr algn="ctr"/>
                      <a:endParaRPr lang="en-CA" sz="1000" b="1" dirty="0">
                        <a:solidFill>
                          <a:schemeClr val="tx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8D956"/>
                    </a:solidFill>
                  </a:tcPr>
                </a:tc>
                <a:tc hMerge="1">
                  <a:txBody>
                    <a:bodyPr/>
                    <a:lstStyle/>
                    <a:p>
                      <a:pPr algn="ctr"/>
                      <a:endParaRPr lang="en-CA" sz="1000" b="1" dirty="0">
                        <a:solidFill>
                          <a:schemeClr val="tx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8D956"/>
                    </a:solidFill>
                  </a:tcPr>
                </a:tc>
                <a:tc hMerge="1">
                  <a:txBody>
                    <a:bodyPr/>
                    <a:lstStyle/>
                    <a:p>
                      <a:pPr algn="ctr"/>
                      <a:endParaRPr lang="en-CA" sz="1000" b="1" dirty="0">
                        <a:solidFill>
                          <a:schemeClr val="tx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8D956"/>
                    </a:solidFill>
                  </a:tcPr>
                </a:tc>
                <a:tc hMerge="1">
                  <a:txBody>
                    <a:bodyPr/>
                    <a:lstStyle/>
                    <a:p>
                      <a:pPr algn="ctr"/>
                      <a:endParaRPr lang="en-CA" sz="1000" b="1" dirty="0">
                        <a:solidFill>
                          <a:schemeClr val="tx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8D956"/>
                    </a:solidFill>
                  </a:tcPr>
                </a:tc>
                <a:tc hMerge="1">
                  <a:txBody>
                    <a:bodyPr/>
                    <a:lstStyle/>
                    <a:p>
                      <a:pPr algn="ctr"/>
                      <a:endParaRPr lang="en-CA" sz="1000" b="1" dirty="0">
                        <a:solidFill>
                          <a:schemeClr val="tx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8D956"/>
                    </a:solidFill>
                  </a:tcPr>
                </a:tc>
                <a:extLst>
                  <a:ext uri="{0D108BD9-81ED-4DB2-BD59-A6C34878D82A}">
                    <a16:rowId xmlns:a16="http://schemas.microsoft.com/office/drawing/2014/main" val="3874908426"/>
                  </a:ext>
                </a:extLst>
              </a:tr>
              <a:tr h="0">
                <a:tc gridSpan="2">
                  <a:txBody>
                    <a:bodyPr/>
                    <a:lstStyle/>
                    <a:p>
                      <a:pPr algn="ctr"/>
                      <a:r>
                        <a:rPr lang="fr-CA" sz="1000" b="1" dirty="0">
                          <a:solidFill>
                            <a:schemeClr val="bg1"/>
                          </a:solidFill>
                        </a:rPr>
                        <a:t>Rénovations</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8D956">
                        <a:alpha val="10000"/>
                      </a:srgbClr>
                    </a:solidFill>
                  </a:tcPr>
                </a:tc>
                <a:tc hMerge="1">
                  <a:txBody>
                    <a:bodyPr/>
                    <a:lstStyle/>
                    <a:p>
                      <a:endParaRPr dirty="0"/>
                    </a:p>
                  </a:txBody>
                  <a:tcPr anchor="ctr">
                    <a:lnL w="12700" cmpd="sng">
                      <a:noFill/>
                    </a:lnL>
                    <a:lnR w="12700" cmpd="sng">
                      <a:noFill/>
                    </a:lnR>
                    <a:lnB w="38100" cmpd="sng">
                      <a:noFill/>
                    </a:lnB>
                    <a:lnTlToBr w="12700" cmpd="sng">
                      <a:noFill/>
                      <a:prstDash val="solid"/>
                    </a:lnTlToBr>
                    <a:lnBlToTr w="12700" cmpd="sng">
                      <a:noFill/>
                      <a:prstDash val="solid"/>
                    </a:lnBlToTr>
                    <a:noFill/>
                  </a:tcPr>
                </a:tc>
                <a:tc>
                  <a:txBody>
                    <a:bodyPr/>
                    <a:lstStyle/>
                    <a:p>
                      <a:endParaRPr sz="10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gridSpan="2">
                  <a:txBody>
                    <a:bodyPr/>
                    <a:lstStyle/>
                    <a:p>
                      <a:pPr algn="ctr"/>
                      <a:r>
                        <a:rPr lang="fr-CA" sz="1000" b="1" dirty="0">
                          <a:solidFill>
                            <a:schemeClr val="bg1"/>
                          </a:solidFill>
                        </a:rPr>
                        <a:t>Développement de projet</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8D956">
                        <a:alpha val="10000"/>
                      </a:srgbClr>
                    </a:solidFill>
                  </a:tcPr>
                </a:tc>
                <a:tc hMerge="1">
                  <a:txBody>
                    <a:bodyPr/>
                    <a:lstStyle/>
                    <a:p>
                      <a:endParaRPr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8D956">
                        <a:alpha val="10000"/>
                      </a:srgbClr>
                    </a:solidFill>
                  </a:tcPr>
                </a:tc>
                <a:tc>
                  <a:txBody>
                    <a:bodyPr/>
                    <a:lstStyle/>
                    <a:p>
                      <a:pPr algn="ctr"/>
                      <a:endParaRPr lang="fr-CA" sz="1000" b="1" dirty="0">
                        <a:solidFill>
                          <a:schemeClr val="bg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gridSpan="2">
                  <a:txBody>
                    <a:bodyPr/>
                    <a:lstStyle/>
                    <a:p>
                      <a:pPr algn="ctr"/>
                      <a:r>
                        <a:rPr lang="fr-CA" sz="1000" b="1" dirty="0">
                          <a:solidFill>
                            <a:schemeClr val="bg1"/>
                          </a:solidFill>
                        </a:rPr>
                        <a:t>Frais autres</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8D956">
                        <a:alpha val="10000"/>
                      </a:srgbClr>
                    </a:solidFill>
                  </a:tcPr>
                </a:tc>
                <a:tc hMerge="1">
                  <a:txBody>
                    <a:bodyPr/>
                    <a:lstStyle/>
                    <a:p>
                      <a:endParaRPr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8D956">
                        <a:alpha val="10000"/>
                      </a:srgbClr>
                    </a:solidFill>
                  </a:tcPr>
                </a:tc>
                <a:extLst>
                  <a:ext uri="{0D108BD9-81ED-4DB2-BD59-A6C34878D82A}">
                    <a16:rowId xmlns:a16="http://schemas.microsoft.com/office/drawing/2014/main" val="4216211834"/>
                  </a:ext>
                </a:extLst>
              </a:tr>
              <a:tr h="252000">
                <a:tc>
                  <a:txBody>
                    <a:bodyPr/>
                    <a:lstStyle/>
                    <a:p>
                      <a:pPr rtl="0" fontAlgn="b">
                        <a:buNone/>
                      </a:pPr>
                      <a:r>
                        <a:rPr lang="en-CA" sz="1000" dirty="0">
                          <a:solidFill>
                            <a:schemeClr val="bg1"/>
                          </a:solidFill>
                          <a:effectLst/>
                        </a:rPr>
                        <a:t>Toit</a:t>
                      </a:r>
                    </a:p>
                  </a:txBody>
                  <a:tcPr marL="22860" marR="22860" marT="15240" marB="15240" anchor="ctr">
                    <a:lnL w="12700" cmpd="sng">
                      <a:noFill/>
                    </a:lnL>
                    <a:lnR w="12700" cmpd="sng">
                      <a:noFill/>
                    </a:lnR>
                    <a:lnT w="381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b="0" dirty="0">
                        <a:solidFill>
                          <a:schemeClr val="bg1"/>
                        </a:solidFill>
                      </a:endParaRPr>
                    </a:p>
                  </a:txBody>
                  <a:tcPr anchor="ctr">
                    <a:lnL w="12700" cmpd="sng">
                      <a:noFill/>
                    </a:lnL>
                    <a:lnR w="12700" cmpd="sng">
                      <a:noFill/>
                    </a:lnR>
                    <a:lnT w="381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CA" sz="1000" dirty="0">
                          <a:solidFill>
                            <a:schemeClr val="bg1"/>
                          </a:solidFill>
                        </a:rPr>
                        <a:t>Frais de développement</a:t>
                      </a:r>
                      <a:endParaRPr lang="en-CA" sz="1000" dirty="0">
                        <a:solidFill>
                          <a:schemeClr val="bg1"/>
                        </a:solidFill>
                      </a:endParaRPr>
                    </a:p>
                  </a:txBody>
                  <a:tcPr anchor="ctr">
                    <a:lnL w="12700" cmpd="sng">
                      <a:noFill/>
                    </a:lnL>
                    <a:lnR w="12700" cmpd="sng">
                      <a:noFill/>
                    </a:lnR>
                    <a:lnT w="381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dirty="0">
                          <a:solidFill>
                            <a:schemeClr val="bg1"/>
                          </a:solidFill>
                        </a:rPr>
                        <a:t>200 000$</a:t>
                      </a:r>
                      <a:endParaRPr lang="en-CA" sz="1000" dirty="0">
                        <a:solidFill>
                          <a:schemeClr val="bg1"/>
                        </a:solidFill>
                      </a:endParaRPr>
                    </a:p>
                  </a:txBody>
                  <a:tcPr anchor="ctr">
                    <a:lnL w="12700" cmpd="sng">
                      <a:noFill/>
                    </a:lnL>
                    <a:lnR w="12700" cmpd="sng">
                      <a:noFill/>
                    </a:lnR>
                    <a:lnT w="381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08000" lvl="0" algn="l" fontAlgn="b">
                        <a:buNone/>
                      </a:pPr>
                      <a:r>
                        <a:rPr lang="en-CA" sz="1000" b="0" i="0" u="none" strike="noStrike" dirty="0">
                          <a:solidFill>
                            <a:schemeClr val="bg1"/>
                          </a:solidFill>
                          <a:effectLst/>
                          <a:latin typeface="+mn-lt"/>
                        </a:rPr>
                        <a:t>Courtier </a:t>
                      </a:r>
                      <a:r>
                        <a:rPr lang="en-CA" sz="1000" b="0" i="0" u="none" strike="noStrike" dirty="0" err="1">
                          <a:solidFill>
                            <a:schemeClr val="bg1"/>
                          </a:solidFill>
                          <a:effectLst/>
                          <a:latin typeface="+mn-lt"/>
                        </a:rPr>
                        <a:t>hypothécaire</a:t>
                      </a:r>
                      <a:r>
                        <a:rPr lang="en-CA" sz="1000" b="0" i="0" u="none" strike="noStrike" dirty="0">
                          <a:solidFill>
                            <a:schemeClr val="bg1"/>
                          </a:solidFill>
                          <a:effectLst/>
                          <a:latin typeface="+mn-lt"/>
                        </a:rPr>
                        <a:t> </a:t>
                      </a:r>
                      <a:r>
                        <a:rPr lang="en-CA" sz="1000" b="0" i="0" u="none" strike="noStrike" dirty="0" err="1">
                          <a:solidFill>
                            <a:schemeClr val="bg1"/>
                          </a:solidFill>
                          <a:effectLst/>
                          <a:latin typeface="+mn-lt"/>
                        </a:rPr>
                        <a:t>refin</a:t>
                      </a:r>
                      <a:endParaRPr lang="en-CA" sz="1000" b="0" i="0" u="none" strike="noStrike" dirty="0">
                        <a:solidFill>
                          <a:schemeClr val="bg1"/>
                        </a:solidFill>
                        <a:effectLst/>
                        <a:latin typeface="+mn-lt"/>
                      </a:endParaRPr>
                    </a:p>
                  </a:txBody>
                  <a:tcPr marL="0" marR="0" marT="0" marB="0" anchor="ctr">
                    <a:lnL w="12700" cmpd="sng">
                      <a:noFill/>
                    </a:lnL>
                    <a:lnR w="12700" cmpd="sng">
                      <a:noFill/>
                    </a:lnR>
                    <a:lnT w="381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b="0" dirty="0">
                          <a:solidFill>
                            <a:schemeClr val="bg1"/>
                          </a:solidFill>
                          <a:latin typeface="+mn-lt"/>
                        </a:rPr>
                        <a:t>29 517$</a:t>
                      </a:r>
                      <a:endParaRPr lang="en-CA" sz="1000" b="0" dirty="0">
                        <a:solidFill>
                          <a:schemeClr val="bg1"/>
                        </a:solidFill>
                        <a:latin typeface="+mn-lt"/>
                      </a:endParaRPr>
                    </a:p>
                  </a:txBody>
                  <a:tcPr anchor="ctr">
                    <a:lnL w="12700" cmpd="sng">
                      <a:noFill/>
                    </a:lnL>
                    <a:lnR w="12700" cmpd="sng">
                      <a:noFill/>
                    </a:lnR>
                    <a:lnT w="381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37654459"/>
                  </a:ext>
                </a:extLst>
              </a:tr>
              <a:tr h="252000">
                <a:tc>
                  <a:txBody>
                    <a:bodyPr/>
                    <a:lstStyle/>
                    <a:p>
                      <a:pPr rtl="0" fontAlgn="b">
                        <a:buNone/>
                      </a:pPr>
                      <a:r>
                        <a:rPr lang="en-CA" sz="1000" dirty="0" err="1">
                          <a:solidFill>
                            <a:schemeClr val="bg1"/>
                          </a:solidFill>
                          <a:effectLst/>
                        </a:rPr>
                        <a:t>Escalier de secours</a:t>
                      </a:r>
                    </a:p>
                  </a:txBody>
                  <a:tcPr marL="22860" marR="22860" marT="15240" marB="1524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b="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dirty="0">
                          <a:solidFill>
                            <a:schemeClr val="bg1"/>
                          </a:solidFill>
                        </a:rPr>
                        <a:t>Frais de négociation</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dirty="0">
                          <a:solidFill>
                            <a:schemeClr val="bg1"/>
                          </a:solidFill>
                        </a:rPr>
                        <a:t>120 000$</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08000" lvl="0" algn="l" fontAlgn="b">
                        <a:buNone/>
                      </a:pPr>
                      <a:r>
                        <a:rPr lang="en-CA" sz="1000" b="0" i="0" u="none" strike="noStrike" dirty="0">
                          <a:solidFill>
                            <a:schemeClr val="bg1"/>
                          </a:solidFill>
                          <a:effectLst/>
                          <a:latin typeface="+mn-lt"/>
                        </a:rPr>
                        <a:t>Taxes </a:t>
                      </a:r>
                      <a:r>
                        <a:rPr lang="en-CA" sz="1000" b="0" i="0" u="none" strike="noStrike" dirty="0" err="1">
                          <a:solidFill>
                            <a:schemeClr val="bg1"/>
                          </a:solidFill>
                          <a:effectLst/>
                          <a:latin typeface="+mn-lt"/>
                        </a:rPr>
                        <a:t>bienvenue</a:t>
                      </a:r>
                      <a:endParaRPr lang="en-CA" sz="1000" b="0" i="0" u="none" strike="noStrike" dirty="0">
                        <a:solidFill>
                          <a:schemeClr val="bg1"/>
                        </a:solidFill>
                        <a:effectLst/>
                        <a:latin typeface="+mn-lt"/>
                      </a:endParaRPr>
                    </a:p>
                  </a:txBody>
                  <a:tcPr marL="0" marR="0" marT="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b="0" dirty="0">
                          <a:solidFill>
                            <a:schemeClr val="bg1"/>
                          </a:solidFill>
                          <a:latin typeface="+mn-lt"/>
                        </a:rPr>
                        <a:t>37 369$</a:t>
                      </a:r>
                      <a:endParaRPr lang="en-CA" sz="1000" b="0" dirty="0">
                        <a:solidFill>
                          <a:schemeClr val="bg1"/>
                        </a:solidFill>
                        <a:latin typeface="+mn-lt"/>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8306810"/>
                  </a:ext>
                </a:extLst>
              </a:tr>
              <a:tr h="252000">
                <a:tc>
                  <a:txBody>
                    <a:bodyPr/>
                    <a:lstStyle/>
                    <a:p>
                      <a:pPr rtl="0" fontAlgn="b">
                        <a:buNone/>
                      </a:pPr>
                      <a:r>
                        <a:rPr lang="en-CA" sz="1000" dirty="0">
                          <a:solidFill>
                            <a:schemeClr val="bg1"/>
                          </a:solidFill>
                          <a:effectLst/>
                        </a:rPr>
                        <a:t>Chauffe-eau</a:t>
                      </a:r>
                    </a:p>
                  </a:txBody>
                  <a:tcPr marL="22860" marR="22860" marT="15240" marB="1524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fr-CA" sz="1100" b="1" i="0" u="none" strike="noStrike" dirty="0">
                          <a:solidFill>
                            <a:srgbClr val="F8D956"/>
                          </a:solidFill>
                          <a:effectLst/>
                          <a:latin typeface="Aptos (Body)"/>
                        </a:rPr>
                        <a:t>   Total</a:t>
                      </a:r>
                      <a:endParaRPr lang="en-CA" sz="1100" b="1" i="0" u="none" strike="noStrike" dirty="0">
                        <a:solidFill>
                          <a:srgbClr val="F8D956"/>
                        </a:solidFill>
                        <a:effectLst/>
                        <a:latin typeface="Aptos (Body)"/>
                      </a:endParaRPr>
                    </a:p>
                  </a:txBody>
                  <a:tcPr marL="0" marR="0" marT="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b="1" dirty="0">
                          <a:solidFill>
                            <a:srgbClr val="F8D956"/>
                          </a:solidFill>
                        </a:rPr>
                        <a:t>320 000$</a:t>
                      </a:r>
                      <a:endParaRPr lang="en-CA" sz="1000" b="1" dirty="0">
                        <a:solidFill>
                          <a:srgbClr val="F8D956"/>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08000" lvl="0" algn="l" fontAlgn="b">
                        <a:buNone/>
                      </a:pPr>
                      <a:r>
                        <a:rPr lang="en-CA" sz="1000" b="0" i="0" u="none" strike="noStrike" dirty="0" err="1">
                          <a:solidFill>
                            <a:schemeClr val="bg1"/>
                          </a:solidFill>
                          <a:effectLst/>
                          <a:latin typeface="+mn-lt"/>
                        </a:rPr>
                        <a:t>Évaluateur</a:t>
                      </a:r>
                      <a:endParaRPr lang="en-CA" sz="1000" b="0" i="0" u="none" strike="noStrike" dirty="0">
                        <a:solidFill>
                          <a:schemeClr val="bg1"/>
                        </a:solidFill>
                        <a:effectLst/>
                        <a:latin typeface="+mn-lt"/>
                      </a:endParaRPr>
                    </a:p>
                  </a:txBody>
                  <a:tcPr marL="0" marR="0" marT="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b="0" dirty="0">
                          <a:solidFill>
                            <a:schemeClr val="bg1"/>
                          </a:solidFill>
                          <a:latin typeface="+mn-lt"/>
                        </a:rPr>
                        <a:t>2000$</a:t>
                      </a:r>
                      <a:endParaRPr lang="en-CA" sz="1000" b="0" dirty="0">
                        <a:solidFill>
                          <a:schemeClr val="bg1"/>
                        </a:solidFill>
                        <a:latin typeface="+mn-lt"/>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3328407"/>
                  </a:ext>
                </a:extLst>
              </a:tr>
              <a:tr h="252000">
                <a:tc>
                  <a:txBody>
                    <a:bodyPr/>
                    <a:lstStyle/>
                    <a:p>
                      <a:pPr rtl="0" fontAlgn="b">
                        <a:buNone/>
                      </a:pPr>
                      <a:r>
                        <a:rPr lang="fr-CA" sz="1000" dirty="0">
                          <a:solidFill>
                            <a:schemeClr val="bg1"/>
                          </a:solidFill>
                          <a:effectLst/>
                        </a:rPr>
                        <a:t>Garages</a:t>
                      </a:r>
                      <a:endParaRPr lang="en-CA" sz="1000" dirty="0">
                        <a:solidFill>
                          <a:schemeClr val="bg1"/>
                        </a:solidFill>
                        <a:effectLst/>
                      </a:endParaRPr>
                    </a:p>
                  </a:txBody>
                  <a:tcPr marL="22860" marR="22860" marT="15240" marB="1524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sz="1000" dirty="0"/>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dirty="0">
                          <a:solidFill>
                            <a:schemeClr val="bg1"/>
                          </a:solidFill>
                        </a:rPr>
                        <a:t>***Certains frais financés</a:t>
                      </a:r>
                      <a:endParaRPr lang="en-CA" sz="8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08000" lvl="0" algn="l" fontAlgn="b">
                        <a:buNone/>
                      </a:pPr>
                      <a:r>
                        <a:rPr lang="en-CA" sz="1000" b="0" i="0" u="none" strike="noStrike" dirty="0" err="1">
                          <a:solidFill>
                            <a:schemeClr val="bg1"/>
                          </a:solidFill>
                          <a:effectLst/>
                          <a:latin typeface="+mn-lt"/>
                        </a:rPr>
                        <a:t>Évaluateur</a:t>
                      </a:r>
                      <a:r>
                        <a:rPr lang="en-CA" sz="1000" b="0" i="0" u="none" strike="noStrike" dirty="0">
                          <a:solidFill>
                            <a:schemeClr val="bg1"/>
                          </a:solidFill>
                          <a:effectLst/>
                          <a:latin typeface="+mn-lt"/>
                        </a:rPr>
                        <a:t> 2</a:t>
                      </a:r>
                    </a:p>
                  </a:txBody>
                  <a:tcPr marL="0" marR="0" marT="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b="0" dirty="0">
                          <a:solidFill>
                            <a:schemeClr val="bg1"/>
                          </a:solidFill>
                          <a:latin typeface="+mn-lt"/>
                        </a:rPr>
                        <a:t>2000$</a:t>
                      </a:r>
                      <a:endParaRPr lang="en-CA" sz="1000" b="0" dirty="0">
                        <a:solidFill>
                          <a:schemeClr val="bg1"/>
                        </a:solidFill>
                        <a:latin typeface="+mn-lt"/>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4021745"/>
                  </a:ext>
                </a:extLst>
              </a:tr>
              <a:tr h="252000">
                <a:tc>
                  <a:txBody>
                    <a:bodyPr/>
                    <a:lstStyle/>
                    <a:p>
                      <a:pPr rtl="0" fontAlgn="b">
                        <a:buNone/>
                      </a:pPr>
                      <a:r>
                        <a:rPr lang="fr-CA" sz="1000" dirty="0">
                          <a:solidFill>
                            <a:schemeClr val="bg1"/>
                          </a:solidFill>
                          <a:effectLst/>
                        </a:rPr>
                        <a:t>Rajout de murs</a:t>
                      </a:r>
                      <a:endParaRPr lang="en-CA" sz="1000" dirty="0">
                        <a:solidFill>
                          <a:schemeClr val="bg1"/>
                        </a:solidFill>
                        <a:effectLst/>
                      </a:endParaRPr>
                    </a:p>
                  </a:txBody>
                  <a:tcPr marL="22860" marR="22860" marT="15240" marB="1524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sz="1000" dirty="0"/>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08000" lvl="0" algn="l" fontAlgn="b">
                        <a:buNone/>
                      </a:pPr>
                      <a:r>
                        <a:rPr lang="en-CA" sz="1000" b="0" i="0" u="none" strike="noStrike" dirty="0">
                          <a:solidFill>
                            <a:schemeClr val="bg1"/>
                          </a:solidFill>
                          <a:effectLst/>
                          <a:latin typeface="+mn-lt"/>
                        </a:rPr>
                        <a:t>Inspection</a:t>
                      </a:r>
                    </a:p>
                  </a:txBody>
                  <a:tcPr marL="0" marR="0" marT="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b="0" dirty="0">
                          <a:solidFill>
                            <a:schemeClr val="bg1"/>
                          </a:solidFill>
                          <a:latin typeface="+mn-lt"/>
                        </a:rPr>
                        <a:t>4000$</a:t>
                      </a:r>
                      <a:endParaRPr lang="en-CA" sz="1000" b="0" dirty="0">
                        <a:solidFill>
                          <a:schemeClr val="bg1"/>
                        </a:solidFill>
                        <a:latin typeface="+mn-lt"/>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93847227"/>
                  </a:ext>
                </a:extLst>
              </a:tr>
              <a:tr h="252000">
                <a:tc>
                  <a:txBody>
                    <a:bodyPr/>
                    <a:lstStyle/>
                    <a:p>
                      <a:pPr rtl="0" fontAlgn="b">
                        <a:buNone/>
                      </a:pPr>
                      <a:r>
                        <a:rPr lang="fr-CA" sz="1000" dirty="0">
                          <a:solidFill>
                            <a:schemeClr val="bg1"/>
                          </a:solidFill>
                          <a:effectLst/>
                        </a:rPr>
                        <a:t>Achat d’électro et matériel</a:t>
                      </a:r>
                      <a:endParaRPr lang="en-CA" sz="1000" dirty="0">
                        <a:solidFill>
                          <a:schemeClr val="bg1"/>
                        </a:solidFill>
                        <a:effectLst/>
                      </a:endParaRPr>
                    </a:p>
                  </a:txBody>
                  <a:tcPr marL="22860" marR="22860" marT="15240" marB="1524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sz="1000" dirty="0"/>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dirty="0">
                          <a:solidFill>
                            <a:schemeClr val="bg1"/>
                          </a:solidFill>
                        </a:rPr>
                        <a:t>Frais de gestion</a:t>
                      </a: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dirty="0">
                          <a:solidFill>
                            <a:schemeClr val="bg1"/>
                          </a:solidFill>
                        </a:rPr>
                        <a:t>Selon contrat</a:t>
                      </a: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08000" lvl="0" algn="l" fontAlgn="b">
                        <a:buNone/>
                      </a:pPr>
                      <a:r>
                        <a:rPr lang="en-CA" sz="1000" b="0" i="0" u="none" strike="noStrike" dirty="0">
                          <a:solidFill>
                            <a:schemeClr val="bg1"/>
                          </a:solidFill>
                          <a:effectLst/>
                          <a:latin typeface="+mn-lt"/>
                        </a:rPr>
                        <a:t>Avocat</a:t>
                      </a:r>
                    </a:p>
                  </a:txBody>
                  <a:tcPr marL="0" marR="0" marT="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b="0" dirty="0">
                          <a:solidFill>
                            <a:schemeClr val="bg1"/>
                          </a:solidFill>
                          <a:latin typeface="+mn-lt"/>
                        </a:rPr>
                        <a:t>4000$</a:t>
                      </a:r>
                      <a:endParaRPr lang="en-CA" sz="1000" b="0" dirty="0">
                        <a:solidFill>
                          <a:schemeClr val="bg1"/>
                        </a:solidFill>
                        <a:latin typeface="+mn-lt"/>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4833333"/>
                  </a:ext>
                </a:extLst>
              </a:tr>
              <a:tr h="252000">
                <a:tc>
                  <a:txBody>
                    <a:bodyPr/>
                    <a:lstStyle/>
                    <a:p>
                      <a:pPr rtl="0" fontAlgn="b">
                        <a:buNone/>
                      </a:pPr>
                      <a:r>
                        <a:rPr lang="en-CA" sz="1000" dirty="0" err="1">
                          <a:solidFill>
                            <a:schemeClr val="bg1"/>
                          </a:solidFill>
                          <a:effectLst/>
                        </a:rPr>
                        <a:t>Rénovations</a:t>
                      </a:r>
                      <a:r>
                        <a:rPr lang="en-CA" sz="1000" dirty="0">
                          <a:solidFill>
                            <a:schemeClr val="bg1"/>
                          </a:solidFill>
                          <a:effectLst/>
                        </a:rPr>
                        <a:t> </a:t>
                      </a:r>
                      <a:r>
                        <a:rPr lang="en-CA" sz="1000" dirty="0" err="1">
                          <a:solidFill>
                            <a:schemeClr val="bg1"/>
                          </a:solidFill>
                          <a:effectLst/>
                        </a:rPr>
                        <a:t>intérieures</a:t>
                      </a:r>
                      <a:r>
                        <a:rPr lang="en-CA" sz="1000" dirty="0">
                          <a:solidFill>
                            <a:schemeClr val="bg1"/>
                          </a:solidFill>
                          <a:effectLst/>
                        </a:rPr>
                        <a:t> </a:t>
                      </a:r>
                      <a:r>
                        <a:rPr lang="en-CA" sz="1000" dirty="0" err="1">
                          <a:solidFill>
                            <a:schemeClr val="bg1"/>
                          </a:solidFill>
                          <a:effectLst/>
                        </a:rPr>
                        <a:t>générales</a:t>
                      </a:r>
                      <a:endParaRPr lang="en-CA" sz="1000" dirty="0">
                        <a:solidFill>
                          <a:schemeClr val="bg1"/>
                        </a:solidFill>
                        <a:effectLst/>
                      </a:endParaRPr>
                    </a:p>
                  </a:txBody>
                  <a:tcPr marL="22860" marR="22860" marT="15240" marB="1524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sz="1000" dirty="0"/>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08000" lvl="0" algn="l" fontAlgn="b">
                        <a:buNone/>
                      </a:pPr>
                      <a:r>
                        <a:rPr lang="en-CA" sz="1000" b="0" i="0" u="none" strike="noStrike" dirty="0" err="1">
                          <a:solidFill>
                            <a:schemeClr val="bg1"/>
                          </a:solidFill>
                          <a:effectLst/>
                          <a:latin typeface="+mn-lt"/>
                        </a:rPr>
                        <a:t>Notaire</a:t>
                      </a:r>
                      <a:endParaRPr lang="en-CA" sz="1000" b="0" i="0" u="none" strike="noStrike" dirty="0">
                        <a:solidFill>
                          <a:schemeClr val="bg1"/>
                        </a:solidFill>
                        <a:effectLst/>
                        <a:latin typeface="+mn-lt"/>
                      </a:endParaRPr>
                    </a:p>
                  </a:txBody>
                  <a:tcPr marL="0" marR="0" marT="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b="0" dirty="0">
                          <a:solidFill>
                            <a:schemeClr val="bg1"/>
                          </a:solidFill>
                          <a:latin typeface="+mn-lt"/>
                        </a:rPr>
                        <a:t>5000$</a:t>
                      </a:r>
                      <a:endParaRPr lang="en-CA" sz="1000" b="0" dirty="0">
                        <a:solidFill>
                          <a:schemeClr val="bg1"/>
                        </a:solidFill>
                        <a:latin typeface="+mn-lt"/>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8532456"/>
                  </a:ext>
                </a:extLst>
              </a:tr>
              <a:tr h="252000">
                <a:tc>
                  <a:txBody>
                    <a:bodyPr/>
                    <a:lstStyle/>
                    <a:p>
                      <a:pPr rtl="0" fontAlgn="b">
                        <a:buNone/>
                      </a:pPr>
                      <a:r>
                        <a:rPr lang="fr-CA" sz="1000" b="1" i="0" u="none" strike="noStrike" dirty="0">
                          <a:solidFill>
                            <a:srgbClr val="F8D956"/>
                          </a:solidFill>
                          <a:effectLst/>
                          <a:latin typeface="Aptos (Body)"/>
                        </a:rPr>
                        <a:t> Total</a:t>
                      </a:r>
                      <a:endParaRPr lang="en-CA" sz="1000" dirty="0">
                        <a:solidFill>
                          <a:schemeClr val="bg1"/>
                        </a:solidFill>
                        <a:effectLst/>
                      </a:endParaRPr>
                    </a:p>
                  </a:txBody>
                  <a:tcPr marL="22860" marR="22860" marT="15240" marB="1524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b="1" dirty="0">
                          <a:solidFill>
                            <a:srgbClr val="F8D956"/>
                          </a:solidFill>
                        </a:rPr>
                        <a:t>350 000$</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sz="1000" dirty="0"/>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08000" lvl="0" algn="l" fontAlgn="b">
                        <a:buNone/>
                      </a:pPr>
                      <a:r>
                        <a:rPr lang="en-CA" sz="1000" b="0" i="0" u="none" strike="noStrike" dirty="0" err="1">
                          <a:solidFill>
                            <a:schemeClr val="bg1"/>
                          </a:solidFill>
                          <a:effectLst/>
                          <a:latin typeface="+mn-lt"/>
                        </a:rPr>
                        <a:t>Notaire</a:t>
                      </a:r>
                      <a:r>
                        <a:rPr lang="en-CA" sz="1000" b="0" i="0" u="none" strike="noStrike" dirty="0">
                          <a:solidFill>
                            <a:schemeClr val="bg1"/>
                          </a:solidFill>
                          <a:effectLst/>
                          <a:latin typeface="+mn-lt"/>
                        </a:rPr>
                        <a:t> 2</a:t>
                      </a:r>
                    </a:p>
                  </a:txBody>
                  <a:tcPr marL="0" marR="0" marT="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b="0" dirty="0">
                          <a:solidFill>
                            <a:schemeClr val="bg1"/>
                          </a:solidFill>
                          <a:latin typeface="+mn-lt"/>
                        </a:rPr>
                        <a:t>2000$</a:t>
                      </a:r>
                      <a:endParaRPr lang="en-CA" sz="1000" b="0" dirty="0">
                        <a:solidFill>
                          <a:schemeClr val="bg1"/>
                        </a:solidFill>
                        <a:latin typeface="+mn-lt"/>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69556268"/>
                  </a:ext>
                </a:extLst>
              </a:tr>
              <a:tr h="252000">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fr-CA" sz="800" dirty="0">
                          <a:solidFill>
                            <a:schemeClr val="bg1"/>
                          </a:solidFill>
                        </a:rPr>
                        <a:t>***Certains frais financés</a:t>
                      </a:r>
                      <a:endParaRPr lang="en-CA" sz="800" dirty="0">
                        <a:solidFill>
                          <a:schemeClr val="bg1"/>
                        </a:solidFill>
                      </a:endParaRPr>
                    </a:p>
                  </a:txBody>
                  <a:tcPr marL="22860" marR="22860" marT="15240" marB="1524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08000" lvl="0" algn="l" fontAlgn="b">
                        <a:buNone/>
                      </a:pPr>
                      <a:r>
                        <a:rPr lang="fr-CA" sz="1000" b="0" i="0" u="none" strike="noStrike" dirty="0">
                          <a:solidFill>
                            <a:schemeClr val="bg1"/>
                          </a:solidFill>
                          <a:effectLst/>
                          <a:latin typeface="+mn-lt"/>
                        </a:rPr>
                        <a:t>Rapport efficacité</a:t>
                      </a:r>
                    </a:p>
                  </a:txBody>
                  <a:tcPr marL="0" marR="0" marT="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b="0" dirty="0">
                          <a:solidFill>
                            <a:schemeClr val="bg1"/>
                          </a:solidFill>
                          <a:latin typeface="+mn-lt"/>
                        </a:rPr>
                        <a:t>6000$</a:t>
                      </a:r>
                      <a:endParaRPr lang="en-CA" sz="1000" b="0" dirty="0">
                        <a:solidFill>
                          <a:schemeClr val="bg1"/>
                        </a:solidFill>
                        <a:latin typeface="+mn-lt"/>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3597632"/>
                  </a:ext>
                </a:extLst>
              </a:tr>
              <a:tr h="252000">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CA" sz="800" dirty="0">
                        <a:solidFill>
                          <a:schemeClr val="bg1"/>
                        </a:solidFill>
                      </a:endParaRPr>
                    </a:p>
                  </a:txBody>
                  <a:tcPr marL="22860" marR="22860" marT="15240" marB="1524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08000" lvl="0" algn="l" fontAlgn="b">
                        <a:buNone/>
                      </a:pPr>
                      <a:r>
                        <a:rPr lang="fr-CA" sz="1000" b="0" i="0" u="none" strike="noStrike" dirty="0">
                          <a:solidFill>
                            <a:schemeClr val="bg1"/>
                          </a:solidFill>
                          <a:effectLst/>
                          <a:latin typeface="+mn-lt"/>
                        </a:rPr>
                        <a:t>Frais de dossier prêteur</a:t>
                      </a:r>
                      <a:endParaRPr lang="en-CA" sz="1000" b="0" i="0" u="none" strike="noStrike" dirty="0">
                        <a:solidFill>
                          <a:schemeClr val="bg1"/>
                        </a:solidFill>
                        <a:effectLst/>
                        <a:latin typeface="+mn-lt"/>
                      </a:endParaRPr>
                    </a:p>
                  </a:txBody>
                  <a:tcPr marL="0" marR="0" marT="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b="0" dirty="0">
                          <a:solidFill>
                            <a:schemeClr val="bg1"/>
                          </a:solidFill>
                          <a:latin typeface="+mn-lt"/>
                        </a:rPr>
                        <a:t>29 892$</a:t>
                      </a:r>
                      <a:endParaRPr lang="en-CA" sz="1000" b="0" dirty="0">
                        <a:solidFill>
                          <a:schemeClr val="bg1"/>
                        </a:solidFill>
                        <a:latin typeface="+mn-lt"/>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9898162"/>
                  </a:ext>
                </a:extLst>
              </a:tr>
              <a:tr h="252000">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CA" sz="800" dirty="0">
                        <a:solidFill>
                          <a:schemeClr val="bg1"/>
                        </a:solidFill>
                      </a:endParaRPr>
                    </a:p>
                  </a:txBody>
                  <a:tcPr marL="22860" marR="22860" marT="15240" marB="1524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08000" lvl="0" algn="l" fontAlgn="b">
                        <a:buNone/>
                      </a:pPr>
                      <a:r>
                        <a:rPr lang="fr-CA" sz="1000" b="0" i="0" u="none" strike="noStrike" dirty="0">
                          <a:solidFill>
                            <a:schemeClr val="bg1"/>
                          </a:solidFill>
                          <a:effectLst/>
                          <a:latin typeface="+mn-lt"/>
                        </a:rPr>
                        <a:t>Intérêt BPV</a:t>
                      </a:r>
                      <a:endParaRPr lang="en-CA" sz="1000" b="0" i="0" u="none" strike="noStrike" dirty="0">
                        <a:solidFill>
                          <a:schemeClr val="bg1"/>
                        </a:solidFill>
                        <a:effectLst/>
                        <a:latin typeface="+mn-lt"/>
                      </a:endParaRPr>
                    </a:p>
                  </a:txBody>
                  <a:tcPr marL="0" marR="0" marT="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b="0" dirty="0">
                          <a:solidFill>
                            <a:schemeClr val="bg1"/>
                          </a:solidFill>
                          <a:latin typeface="+mn-lt"/>
                        </a:rPr>
                        <a:t>54 500$</a:t>
                      </a:r>
                      <a:endParaRPr lang="en-CA" sz="1000" b="0" dirty="0">
                        <a:solidFill>
                          <a:schemeClr val="bg1"/>
                        </a:solidFill>
                        <a:latin typeface="+mn-lt"/>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54974315"/>
                  </a:ext>
                </a:extLst>
              </a:tr>
              <a:tr h="252000">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CA" sz="800" dirty="0">
                        <a:solidFill>
                          <a:schemeClr val="bg1"/>
                        </a:solidFill>
                      </a:endParaRPr>
                    </a:p>
                  </a:txBody>
                  <a:tcPr marL="22860" marR="22860" marT="15240" marB="1524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08000" lvl="0" algn="l" fontAlgn="b">
                        <a:buNone/>
                      </a:pPr>
                      <a:r>
                        <a:rPr lang="fr-CA" sz="1000" b="0" i="0" u="none" strike="noStrike" dirty="0">
                          <a:solidFill>
                            <a:schemeClr val="bg1"/>
                          </a:solidFill>
                          <a:effectLst/>
                          <a:latin typeface="+mn-lt"/>
                        </a:rPr>
                        <a:t>Intérêt – Revenus</a:t>
                      </a:r>
                      <a:endParaRPr lang="en-CA" sz="1000" b="0" i="0" u="none" strike="noStrike" dirty="0">
                        <a:solidFill>
                          <a:schemeClr val="bg1"/>
                        </a:solidFill>
                        <a:effectLst/>
                        <a:latin typeface="+mn-lt"/>
                      </a:endParaRPr>
                    </a:p>
                  </a:txBody>
                  <a:tcPr marL="0" marR="0" marT="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b="0" dirty="0">
                          <a:solidFill>
                            <a:schemeClr val="bg1"/>
                          </a:solidFill>
                          <a:latin typeface="+mn-lt"/>
                        </a:rPr>
                        <a:t>154 706$</a:t>
                      </a:r>
                      <a:endParaRPr lang="en-CA" sz="1000" b="0" dirty="0">
                        <a:solidFill>
                          <a:schemeClr val="bg1"/>
                        </a:solidFill>
                        <a:latin typeface="+mn-lt"/>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67387176"/>
                  </a:ext>
                </a:extLst>
              </a:tr>
              <a:tr h="252000">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CA" sz="800" dirty="0">
                        <a:solidFill>
                          <a:schemeClr val="bg1"/>
                        </a:solidFill>
                      </a:endParaRPr>
                    </a:p>
                  </a:txBody>
                  <a:tcPr marL="22860" marR="22860" marT="15240" marB="1524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08000" lvl="0" algn="l" fontAlgn="b">
                        <a:buNone/>
                      </a:pPr>
                      <a:r>
                        <a:rPr lang="fr-CA" sz="1000" b="1" i="0" u="none" strike="noStrike" dirty="0">
                          <a:solidFill>
                            <a:srgbClr val="F8D956"/>
                          </a:solidFill>
                          <a:effectLst/>
                          <a:latin typeface="+mn-lt"/>
                        </a:rPr>
                        <a:t>Total</a:t>
                      </a:r>
                      <a:endParaRPr lang="en-CA" sz="1000" b="1" i="0" u="none" strike="noStrike" dirty="0">
                        <a:solidFill>
                          <a:srgbClr val="F8D956"/>
                        </a:solidFill>
                        <a:effectLst/>
                        <a:latin typeface="+mn-lt"/>
                      </a:endParaRPr>
                    </a:p>
                  </a:txBody>
                  <a:tcPr marL="0" marR="0" marT="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b="1" dirty="0">
                          <a:solidFill>
                            <a:srgbClr val="F8D956"/>
                          </a:solidFill>
                          <a:latin typeface="+mn-lt"/>
                        </a:rPr>
                        <a:t>330  984$</a:t>
                      </a:r>
                      <a:endParaRPr lang="en-CA" sz="1000" b="1" dirty="0">
                        <a:solidFill>
                          <a:srgbClr val="F8D956"/>
                        </a:solidFill>
                        <a:latin typeface="+mn-lt"/>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92493198"/>
                  </a:ext>
                </a:extLst>
              </a:tr>
              <a:tr h="252000">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CA" sz="800" dirty="0">
                        <a:solidFill>
                          <a:schemeClr val="bg1"/>
                        </a:solidFill>
                      </a:endParaRPr>
                    </a:p>
                  </a:txBody>
                  <a:tcPr marL="22860" marR="22860" marT="15240" marB="1524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08000" marR="0" lvl="0" indent="0" algn="l" defTabSz="914400" rtl="0" eaLnBrk="1" fontAlgn="b" latinLnBrk="0" hangingPunct="1">
                        <a:lnSpc>
                          <a:spcPct val="100000"/>
                        </a:lnSpc>
                        <a:spcBef>
                          <a:spcPts val="0"/>
                        </a:spcBef>
                        <a:spcAft>
                          <a:spcPts val="0"/>
                        </a:spcAft>
                        <a:buClrTx/>
                        <a:buSzTx/>
                        <a:buFontTx/>
                        <a:buNone/>
                        <a:tabLst/>
                        <a:defRPr/>
                      </a:pPr>
                      <a:r>
                        <a:rPr lang="fr-CA" sz="800" dirty="0">
                          <a:solidFill>
                            <a:schemeClr val="bg1"/>
                          </a:solidFill>
                        </a:rPr>
                        <a:t>***Certains frais financés</a:t>
                      </a:r>
                      <a:endParaRPr lang="en-CA" sz="800" dirty="0">
                        <a:solidFill>
                          <a:schemeClr val="bg1"/>
                        </a:solidFill>
                      </a:endParaRPr>
                    </a:p>
                  </a:txBody>
                  <a:tcPr marL="0" marR="0" marT="0"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b="1" dirty="0">
                        <a:solidFill>
                          <a:schemeClr val="bg1"/>
                        </a:solidFill>
                        <a:latin typeface="+mn-lt"/>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7940560"/>
                  </a:ext>
                </a:extLst>
              </a:tr>
              <a:tr h="252000">
                <a:tc>
                  <a:txBody>
                    <a:bodyPr/>
                    <a:lstStyle/>
                    <a:p>
                      <a:pPr rtl="0" fontAlgn="b">
                        <a:buNone/>
                      </a:pPr>
                      <a:endParaRPr lang="en-CA" sz="1000" dirty="0">
                        <a:solidFill>
                          <a:schemeClr val="bg1"/>
                        </a:solidFill>
                        <a:effectLst/>
                      </a:endParaRPr>
                    </a:p>
                  </a:txBody>
                  <a:tcPr marL="22860" marR="22860" marT="15240" marB="1524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08000" marR="0" lvl="0" indent="0" algn="l" defTabSz="914400" rtl="0" eaLnBrk="1" fontAlgn="b" latinLnBrk="0" hangingPunct="1">
                        <a:lnSpc>
                          <a:spcPct val="100000"/>
                        </a:lnSpc>
                        <a:spcBef>
                          <a:spcPts val="0"/>
                        </a:spcBef>
                        <a:spcAft>
                          <a:spcPts val="0"/>
                        </a:spcAft>
                        <a:buClrTx/>
                        <a:buSzTx/>
                        <a:buFontTx/>
                        <a:buNone/>
                        <a:tabLst/>
                        <a:defRPr/>
                      </a:pPr>
                      <a:endParaRPr lang="en-CA" sz="800" dirty="0">
                        <a:solidFill>
                          <a:schemeClr val="bg1"/>
                        </a:solidFill>
                      </a:endParaRPr>
                    </a:p>
                  </a:txBody>
                  <a:tcPr marL="0" marR="0" marT="0"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b="1" dirty="0">
                        <a:solidFill>
                          <a:schemeClr val="bg1"/>
                        </a:solidFill>
                        <a:latin typeface="+mn-lt"/>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3362282"/>
                  </a:ext>
                </a:extLst>
              </a:tr>
            </a:tbl>
          </a:graphicData>
        </a:graphic>
      </p:graphicFrame>
      <p:sp>
        <p:nvSpPr>
          <p:cNvPr id="2" name="Rectangle 1">
            <a:extLst>
              <a:ext uri="{FF2B5EF4-FFF2-40B4-BE49-F238E27FC236}">
                <a16:creationId xmlns:a16="http://schemas.microsoft.com/office/drawing/2014/main" id="{C43DAEE4-D26A-10F3-CA79-12957162688B}"/>
              </a:ext>
            </a:extLst>
          </p:cNvPr>
          <p:cNvSpPr/>
          <p:nvPr/>
        </p:nvSpPr>
        <p:spPr>
          <a:xfrm>
            <a:off x="5575899" y="3881775"/>
            <a:ext cx="1260000" cy="1080000"/>
          </a:xfrm>
          <a:prstGeom prst="rect">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 name="TextBox 3">
            <a:extLst>
              <a:ext uri="{FF2B5EF4-FFF2-40B4-BE49-F238E27FC236}">
                <a16:creationId xmlns:a16="http://schemas.microsoft.com/office/drawing/2014/main" id="{3A75DBC4-6512-730A-81FD-18140CBD6BE0}"/>
              </a:ext>
            </a:extLst>
          </p:cNvPr>
          <p:cNvSpPr txBox="1"/>
          <p:nvPr/>
        </p:nvSpPr>
        <p:spPr>
          <a:xfrm>
            <a:off x="4914882" y="5075115"/>
            <a:ext cx="2582029" cy="338554"/>
          </a:xfrm>
          <a:prstGeom prst="rect">
            <a:avLst/>
          </a:prstGeom>
          <a:noFill/>
        </p:spPr>
        <p:txBody>
          <a:bodyPr wrap="square" rtlCol="0">
            <a:spAutoFit/>
          </a:bodyPr>
          <a:lstStyle/>
          <a:p>
            <a:pPr algn="ctr"/>
            <a:r>
              <a:rPr lang="fr-CA" sz="1600" b="1" dirty="0">
                <a:solidFill>
                  <a:srgbClr val="F8D956"/>
                </a:solidFill>
              </a:rPr>
              <a:t>Frais de démarrage</a:t>
            </a:r>
            <a:endParaRPr lang="en-CA" sz="1600" b="1" dirty="0">
              <a:solidFill>
                <a:srgbClr val="F8D956"/>
              </a:solidFill>
            </a:endParaRPr>
          </a:p>
        </p:txBody>
      </p:sp>
      <p:cxnSp>
        <p:nvCxnSpPr>
          <p:cNvPr id="7" name="Straight Connector 6">
            <a:extLst>
              <a:ext uri="{FF2B5EF4-FFF2-40B4-BE49-F238E27FC236}">
                <a16:creationId xmlns:a16="http://schemas.microsoft.com/office/drawing/2014/main" id="{14F16DC8-005F-6B9E-9A95-541B21380C29}"/>
              </a:ext>
            </a:extLst>
          </p:cNvPr>
          <p:cNvCxnSpPr>
            <a:cxnSpLocks/>
          </p:cNvCxnSpPr>
          <p:nvPr/>
        </p:nvCxnSpPr>
        <p:spPr>
          <a:xfrm>
            <a:off x="5606250" y="5486909"/>
            <a:ext cx="1199297" cy="0"/>
          </a:xfrm>
          <a:prstGeom prst="line">
            <a:avLst/>
          </a:prstGeom>
          <a:ln w="9525">
            <a:solidFill>
              <a:schemeClr val="bg1"/>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6624CC7E-EF86-CDED-7F6A-E678ED33199D}"/>
              </a:ext>
            </a:extLst>
          </p:cNvPr>
          <p:cNvSpPr txBox="1"/>
          <p:nvPr/>
        </p:nvSpPr>
        <p:spPr>
          <a:xfrm>
            <a:off x="4914882" y="5538767"/>
            <a:ext cx="2582029" cy="307777"/>
          </a:xfrm>
          <a:prstGeom prst="rect">
            <a:avLst/>
          </a:prstGeom>
          <a:noFill/>
        </p:spPr>
        <p:txBody>
          <a:bodyPr wrap="square" rtlCol="0">
            <a:spAutoFit/>
          </a:bodyPr>
          <a:lstStyle/>
          <a:p>
            <a:pPr algn="ctr"/>
            <a:r>
              <a:rPr lang="fr-CA" sz="1400" b="1" dirty="0">
                <a:solidFill>
                  <a:schemeClr val="bg1"/>
                </a:solidFill>
              </a:rPr>
              <a:t>1 000 984$</a:t>
            </a:r>
          </a:p>
        </p:txBody>
      </p:sp>
      <p:pic>
        <p:nvPicPr>
          <p:cNvPr id="10" name="Graphic 9" descr="Hammer outline">
            <a:extLst>
              <a:ext uri="{FF2B5EF4-FFF2-40B4-BE49-F238E27FC236}">
                <a16:creationId xmlns:a16="http://schemas.microsoft.com/office/drawing/2014/main" id="{2B4CBFD9-8847-B3A1-45C1-9550FA17A1CE}"/>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5748698" y="3964575"/>
            <a:ext cx="914400" cy="914400"/>
          </a:xfrm>
          <a:prstGeom prst="rect">
            <a:avLst/>
          </a:prstGeom>
        </p:spPr>
      </p:pic>
    </p:spTree>
    <p:extLst>
      <p:ext uri="{BB962C8B-B14F-4D97-AF65-F5344CB8AC3E}">
        <p14:creationId xmlns:p14="http://schemas.microsoft.com/office/powerpoint/2010/main" val="29490468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a:extLst>
            <a:ext uri="{FF2B5EF4-FFF2-40B4-BE49-F238E27FC236}">
              <a16:creationId xmlns:a16="http://schemas.microsoft.com/office/drawing/2014/main" id="{53C64EB4-CBF2-02DE-D606-70552F00EA9F}"/>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EF6C664F-D3A3-07DA-AD5A-D3E74D618528}"/>
              </a:ext>
            </a:extLst>
          </p:cNvPr>
          <p:cNvSpPr txBox="1">
            <a:spLocks/>
          </p:cNvSpPr>
          <p:nvPr/>
        </p:nvSpPr>
        <p:spPr>
          <a:xfrm>
            <a:off x="791021" y="416577"/>
            <a:ext cx="7261157" cy="717279"/>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b="1" dirty="0">
                <a:solidFill>
                  <a:schemeClr val="bg1"/>
                </a:solidFill>
              </a:rPr>
              <a:t>FINANCES DU PROJET - REFINANCEMENT</a:t>
            </a:r>
            <a:endParaRPr lang="en-US" dirty="0"/>
          </a:p>
        </p:txBody>
      </p:sp>
      <p:sp>
        <p:nvSpPr>
          <p:cNvPr id="8" name="TextBox 7">
            <a:extLst>
              <a:ext uri="{FF2B5EF4-FFF2-40B4-BE49-F238E27FC236}">
                <a16:creationId xmlns:a16="http://schemas.microsoft.com/office/drawing/2014/main" id="{398BF150-D008-4BE7-8ED3-695075010350}"/>
              </a:ext>
            </a:extLst>
          </p:cNvPr>
          <p:cNvSpPr txBox="1"/>
          <p:nvPr/>
        </p:nvSpPr>
        <p:spPr>
          <a:xfrm>
            <a:off x="184326" y="6476025"/>
            <a:ext cx="596347" cy="276999"/>
          </a:xfrm>
          <a:prstGeom prst="rect">
            <a:avLst/>
          </a:prstGeom>
          <a:noFill/>
        </p:spPr>
        <p:txBody>
          <a:bodyPr wrap="square" rtlCol="0">
            <a:spAutoFit/>
          </a:bodyPr>
          <a:lstStyle/>
          <a:p>
            <a:r>
              <a:rPr lang="fr-CA" sz="1200" dirty="0">
                <a:solidFill>
                  <a:schemeClr val="bg1"/>
                </a:solidFill>
              </a:rPr>
              <a:t>10</a:t>
            </a:r>
            <a:endParaRPr lang="en-CA" sz="1200" dirty="0">
              <a:solidFill>
                <a:schemeClr val="bg1"/>
              </a:solidFill>
            </a:endParaRPr>
          </a:p>
        </p:txBody>
      </p:sp>
      <p:sp>
        <p:nvSpPr>
          <p:cNvPr id="24" name="Rectangle 23">
            <a:extLst>
              <a:ext uri="{FF2B5EF4-FFF2-40B4-BE49-F238E27FC236}">
                <a16:creationId xmlns:a16="http://schemas.microsoft.com/office/drawing/2014/main" id="{EA6913B9-9C8B-A239-63CF-F3856A2FA20B}"/>
              </a:ext>
            </a:extLst>
          </p:cNvPr>
          <p:cNvSpPr/>
          <p:nvPr/>
        </p:nvSpPr>
        <p:spPr>
          <a:xfrm>
            <a:off x="895060" y="971550"/>
            <a:ext cx="1929109" cy="85725"/>
          </a:xfrm>
          <a:prstGeom prst="rect">
            <a:avLst/>
          </a:prstGeom>
          <a:solidFill>
            <a:srgbClr val="F8D95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noFill/>
            </a:endParaRPr>
          </a:p>
        </p:txBody>
      </p:sp>
      <p:graphicFrame>
        <p:nvGraphicFramePr>
          <p:cNvPr id="3" name="Table 2">
            <a:extLst>
              <a:ext uri="{FF2B5EF4-FFF2-40B4-BE49-F238E27FC236}">
                <a16:creationId xmlns:a16="http://schemas.microsoft.com/office/drawing/2014/main" id="{FF571CF8-030A-F923-765C-F81B16A96B43}"/>
              </a:ext>
            </a:extLst>
          </p:cNvPr>
          <p:cNvGraphicFramePr>
            <a:graphicFrameLocks noGrp="1"/>
          </p:cNvGraphicFramePr>
          <p:nvPr>
            <p:extLst>
              <p:ext uri="{D42A27DB-BD31-4B8C-83A1-F6EECF244321}">
                <p14:modId xmlns:p14="http://schemas.microsoft.com/office/powerpoint/2010/main" val="2828574016"/>
              </p:ext>
            </p:extLst>
          </p:nvPr>
        </p:nvGraphicFramePr>
        <p:xfrm>
          <a:off x="895060" y="1216942"/>
          <a:ext cx="10548000" cy="2656080"/>
        </p:xfrm>
        <a:graphic>
          <a:graphicData uri="http://schemas.openxmlformats.org/drawingml/2006/table">
            <a:tbl>
              <a:tblPr firstRow="1" bandRow="1">
                <a:tableStyleId>{5C22544A-7EE6-4342-B048-85BDC9FD1C3A}</a:tableStyleId>
              </a:tblPr>
              <a:tblGrid>
                <a:gridCol w="1944000">
                  <a:extLst>
                    <a:ext uri="{9D8B030D-6E8A-4147-A177-3AD203B41FA5}">
                      <a16:colId xmlns:a16="http://schemas.microsoft.com/office/drawing/2014/main" val="4106015061"/>
                    </a:ext>
                  </a:extLst>
                </a:gridCol>
                <a:gridCol w="1260000">
                  <a:extLst>
                    <a:ext uri="{9D8B030D-6E8A-4147-A177-3AD203B41FA5}">
                      <a16:colId xmlns:a16="http://schemas.microsoft.com/office/drawing/2014/main" val="548826761"/>
                    </a:ext>
                  </a:extLst>
                </a:gridCol>
                <a:gridCol w="468000">
                  <a:extLst>
                    <a:ext uri="{9D8B030D-6E8A-4147-A177-3AD203B41FA5}">
                      <a16:colId xmlns:a16="http://schemas.microsoft.com/office/drawing/2014/main" val="2690998261"/>
                    </a:ext>
                  </a:extLst>
                </a:gridCol>
                <a:gridCol w="1944000">
                  <a:extLst>
                    <a:ext uri="{9D8B030D-6E8A-4147-A177-3AD203B41FA5}">
                      <a16:colId xmlns:a16="http://schemas.microsoft.com/office/drawing/2014/main" val="370342451"/>
                    </a:ext>
                  </a:extLst>
                </a:gridCol>
                <a:gridCol w="1260000">
                  <a:extLst>
                    <a:ext uri="{9D8B030D-6E8A-4147-A177-3AD203B41FA5}">
                      <a16:colId xmlns:a16="http://schemas.microsoft.com/office/drawing/2014/main" val="3942263200"/>
                    </a:ext>
                  </a:extLst>
                </a:gridCol>
                <a:gridCol w="468000">
                  <a:extLst>
                    <a:ext uri="{9D8B030D-6E8A-4147-A177-3AD203B41FA5}">
                      <a16:colId xmlns:a16="http://schemas.microsoft.com/office/drawing/2014/main" val="3777787221"/>
                    </a:ext>
                  </a:extLst>
                </a:gridCol>
                <a:gridCol w="1717740">
                  <a:extLst>
                    <a:ext uri="{9D8B030D-6E8A-4147-A177-3AD203B41FA5}">
                      <a16:colId xmlns:a16="http://schemas.microsoft.com/office/drawing/2014/main" val="1972732275"/>
                    </a:ext>
                  </a:extLst>
                </a:gridCol>
                <a:gridCol w="1486260">
                  <a:extLst>
                    <a:ext uri="{9D8B030D-6E8A-4147-A177-3AD203B41FA5}">
                      <a16:colId xmlns:a16="http://schemas.microsoft.com/office/drawing/2014/main" val="2101942095"/>
                    </a:ext>
                  </a:extLst>
                </a:gridCol>
              </a:tblGrid>
              <a:tr h="252000">
                <a:tc gridSpan="8">
                  <a:txBody>
                    <a:bodyPr/>
                    <a:lstStyle/>
                    <a:p>
                      <a:pPr algn="ctr"/>
                      <a:r>
                        <a:rPr lang="fr-CA" sz="1000" b="1" dirty="0">
                          <a:solidFill>
                            <a:schemeClr val="tx1"/>
                          </a:solidFill>
                        </a:rPr>
                        <a:t>Informations de refinancement</a:t>
                      </a:r>
                      <a:endParaRPr lang="en-CA" sz="1000" b="1" dirty="0">
                        <a:solidFill>
                          <a:schemeClr val="tx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8D956"/>
                    </a:solidFill>
                  </a:tcPr>
                </a:tc>
                <a:tc hMerge="1">
                  <a:txBody>
                    <a:bodyPr/>
                    <a:lstStyle/>
                    <a:p>
                      <a:endParaRPr lang="en-CA"/>
                    </a:p>
                  </a:txBody>
                  <a:tcPr/>
                </a:tc>
                <a:tc hMerge="1">
                  <a:txBody>
                    <a:bodyPr/>
                    <a:lstStyle/>
                    <a:p>
                      <a:pPr algn="ctr"/>
                      <a:endParaRPr lang="en-CA" sz="1000" b="1" dirty="0">
                        <a:solidFill>
                          <a:schemeClr val="tx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8D956"/>
                    </a:solidFill>
                  </a:tcPr>
                </a:tc>
                <a:tc hMerge="1">
                  <a:txBody>
                    <a:bodyPr/>
                    <a:lstStyle/>
                    <a:p>
                      <a:pPr algn="ctr"/>
                      <a:endParaRPr lang="en-CA" sz="1000" b="1" dirty="0">
                        <a:solidFill>
                          <a:schemeClr val="tx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8D956"/>
                    </a:solidFill>
                  </a:tcPr>
                </a:tc>
                <a:tc hMerge="1">
                  <a:txBody>
                    <a:bodyPr/>
                    <a:lstStyle/>
                    <a:p>
                      <a:pPr algn="ctr"/>
                      <a:endParaRPr lang="en-CA" sz="1000" b="1" dirty="0">
                        <a:solidFill>
                          <a:schemeClr val="tx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8D956"/>
                    </a:solidFill>
                  </a:tcPr>
                </a:tc>
                <a:tc hMerge="1">
                  <a:txBody>
                    <a:bodyPr/>
                    <a:lstStyle/>
                    <a:p>
                      <a:pPr algn="ctr"/>
                      <a:endParaRPr lang="en-CA" sz="1000" b="1" dirty="0">
                        <a:solidFill>
                          <a:schemeClr val="tx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8D956"/>
                    </a:solidFill>
                  </a:tcPr>
                </a:tc>
                <a:tc hMerge="1">
                  <a:txBody>
                    <a:bodyPr/>
                    <a:lstStyle/>
                    <a:p>
                      <a:pPr algn="ctr"/>
                      <a:endParaRPr lang="en-CA" sz="1000" b="1" dirty="0">
                        <a:solidFill>
                          <a:schemeClr val="tx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8D956"/>
                    </a:solidFill>
                  </a:tcPr>
                </a:tc>
                <a:tc hMerge="1">
                  <a:txBody>
                    <a:bodyPr/>
                    <a:lstStyle/>
                    <a:p>
                      <a:pPr algn="ctr"/>
                      <a:endParaRPr lang="en-CA" sz="1000" b="1" dirty="0">
                        <a:solidFill>
                          <a:schemeClr val="tx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8D956"/>
                    </a:solidFill>
                  </a:tcPr>
                </a:tc>
                <a:extLst>
                  <a:ext uri="{0D108BD9-81ED-4DB2-BD59-A6C34878D82A}">
                    <a16:rowId xmlns:a16="http://schemas.microsoft.com/office/drawing/2014/main" val="3874908426"/>
                  </a:ext>
                </a:extLst>
              </a:tr>
              <a:tr h="0">
                <a:tc gridSpan="2">
                  <a:txBody>
                    <a:bodyPr/>
                    <a:lstStyle/>
                    <a:p>
                      <a:pPr algn="ctr"/>
                      <a:r>
                        <a:rPr lang="fr-CA" sz="1000" b="1" dirty="0">
                          <a:solidFill>
                            <a:schemeClr val="bg1"/>
                          </a:solidFill>
                        </a:rPr>
                        <a:t>Informations financières (SCHL 50 PTS)</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8D956">
                        <a:alpha val="10000"/>
                      </a:srgbClr>
                    </a:solidFill>
                  </a:tcPr>
                </a:tc>
                <a:tc hMerge="1">
                  <a:txBody>
                    <a:bodyPr/>
                    <a:lstStyle/>
                    <a:p>
                      <a:endParaRPr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endParaRPr sz="10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gridSpan="2">
                  <a:txBody>
                    <a:bodyPr/>
                    <a:lstStyle/>
                    <a:p>
                      <a:pPr algn="ctr"/>
                      <a:r>
                        <a:rPr lang="fr-CA" sz="1000" b="1" dirty="0">
                          <a:solidFill>
                            <a:schemeClr val="bg1"/>
                          </a:solidFill>
                        </a:rPr>
                        <a:t>Scénario 1</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8D956">
                        <a:alpha val="10000"/>
                      </a:srgbClr>
                    </a:solidFill>
                  </a:tcPr>
                </a:tc>
                <a:tc hMerge="1">
                  <a:txBody>
                    <a:bodyPr/>
                    <a:lstStyle/>
                    <a:p>
                      <a:endParaRPr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8D956">
                        <a:alpha val="10000"/>
                      </a:srgbClr>
                    </a:solidFill>
                  </a:tcPr>
                </a:tc>
                <a:tc>
                  <a:txBody>
                    <a:bodyPr/>
                    <a:lstStyle/>
                    <a:p>
                      <a:pPr algn="ctr"/>
                      <a:endParaRPr lang="fr-CA" sz="1000" b="1" dirty="0">
                        <a:solidFill>
                          <a:schemeClr val="bg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gridSpan="2">
                  <a:txBody>
                    <a:bodyPr/>
                    <a:lstStyle/>
                    <a:p>
                      <a:pPr algn="ctr"/>
                      <a:r>
                        <a:rPr lang="fr-CA" sz="1000" b="1" dirty="0">
                          <a:solidFill>
                            <a:schemeClr val="bg1"/>
                          </a:solidFill>
                        </a:rPr>
                        <a:t>Scénario 2</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8D956">
                        <a:alpha val="10000"/>
                      </a:srgbClr>
                    </a:solidFill>
                  </a:tcPr>
                </a:tc>
                <a:tc hMerge="1">
                  <a:txBody>
                    <a:bodyPr/>
                    <a:lstStyle/>
                    <a:p>
                      <a:endParaRPr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8D956">
                        <a:alpha val="10000"/>
                      </a:srgbClr>
                    </a:solidFill>
                  </a:tcPr>
                </a:tc>
                <a:extLst>
                  <a:ext uri="{0D108BD9-81ED-4DB2-BD59-A6C34878D82A}">
                    <a16:rowId xmlns:a16="http://schemas.microsoft.com/office/drawing/2014/main" val="4216211834"/>
                  </a:ext>
                </a:extLst>
              </a:tr>
              <a:tr h="252000">
                <a:tc>
                  <a:txBody>
                    <a:bodyPr/>
                    <a:lstStyle/>
                    <a:p>
                      <a:r>
                        <a:rPr lang="fr-CA" sz="1000" dirty="0">
                          <a:solidFill>
                            <a:schemeClr val="bg1"/>
                          </a:solidFill>
                        </a:rPr>
                        <a:t>Dépenses d’opérations</a:t>
                      </a:r>
                    </a:p>
                  </a:txBody>
                  <a:tcPr anchor="ctr">
                    <a:lnL w="12700" cmpd="sng">
                      <a:noFill/>
                    </a:lnL>
                    <a:lnR w="12700" cmpd="sng">
                      <a:noFill/>
                    </a:lnR>
                    <a:lnT w="381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dirty="0">
                          <a:solidFill>
                            <a:schemeClr val="bg1"/>
                          </a:solidFill>
                        </a:rPr>
                        <a:t>61 254$</a:t>
                      </a:r>
                      <a:endParaRPr lang="en-CA" sz="1000" dirty="0">
                        <a:solidFill>
                          <a:schemeClr val="bg1"/>
                        </a:solidFill>
                      </a:endParaRPr>
                    </a:p>
                  </a:txBody>
                  <a:tcPr anchor="ctr">
                    <a:lnL w="12700" cmpd="sng">
                      <a:noFill/>
                    </a:lnL>
                    <a:lnR w="12700" cmpd="sng">
                      <a:noFill/>
                    </a:lnR>
                    <a:lnT w="381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CA" sz="1000" dirty="0">
                          <a:solidFill>
                            <a:schemeClr val="bg1"/>
                          </a:solidFill>
                        </a:rPr>
                        <a:t>Stratégie de financement</a:t>
                      </a:r>
                    </a:p>
                  </a:txBody>
                  <a:tcPr anchor="ctr">
                    <a:lnL w="12700" cmpd="sng">
                      <a:noFill/>
                    </a:lnL>
                    <a:lnR w="12700" cmpd="sng">
                      <a:noFill/>
                    </a:lnR>
                    <a:lnT w="381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dirty="0">
                          <a:solidFill>
                            <a:schemeClr val="bg1"/>
                          </a:solidFill>
                        </a:rPr>
                        <a:t>SCHL APH 50 PTS</a:t>
                      </a:r>
                      <a:endParaRPr lang="en-CA" sz="1000" dirty="0">
                        <a:solidFill>
                          <a:schemeClr val="bg1"/>
                        </a:solidFill>
                      </a:endParaRPr>
                    </a:p>
                  </a:txBody>
                  <a:tcPr anchor="ctr">
                    <a:lnL w="12700" cmpd="sng">
                      <a:noFill/>
                    </a:lnL>
                    <a:lnR w="12700" cmpd="sng">
                      <a:noFill/>
                    </a:lnR>
                    <a:lnT w="381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CA" sz="1000" dirty="0">
                          <a:solidFill>
                            <a:schemeClr val="bg1"/>
                          </a:solidFill>
                        </a:rPr>
                        <a:t>Stratégie de financement</a:t>
                      </a:r>
                    </a:p>
                  </a:txBody>
                  <a:tcPr anchor="ctr">
                    <a:lnL w="12700" cmpd="sng">
                      <a:noFill/>
                    </a:lnL>
                    <a:lnR w="12700" cmpd="sng">
                      <a:noFill/>
                    </a:lnR>
                    <a:lnT w="381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fr-CA" sz="1000" dirty="0">
                          <a:solidFill>
                            <a:schemeClr val="bg1"/>
                          </a:solidFill>
                        </a:rPr>
                        <a:t>SCHL STANDARD</a:t>
                      </a:r>
                    </a:p>
                  </a:txBody>
                  <a:tcPr anchor="ctr">
                    <a:lnL w="12700" cmpd="sng">
                      <a:noFill/>
                    </a:lnL>
                    <a:lnR w="12700" cmpd="sng">
                      <a:noFill/>
                    </a:lnR>
                    <a:lnT w="381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37654459"/>
                  </a:ext>
                </a:extLst>
              </a:tr>
              <a:tr h="252000">
                <a:tc>
                  <a:txBody>
                    <a:bodyPr/>
                    <a:lstStyle/>
                    <a:p>
                      <a:r>
                        <a:rPr lang="fr-CA" sz="1000" dirty="0">
                          <a:solidFill>
                            <a:schemeClr val="bg1"/>
                          </a:solidFill>
                        </a:rPr>
                        <a:t>Nouvelle moyenne locative</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dirty="0">
                          <a:solidFill>
                            <a:schemeClr val="bg1"/>
                          </a:solidFill>
                        </a:rPr>
                        <a:t>2200$</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sz="1000" dirty="0"/>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CA" sz="1000" dirty="0">
                          <a:solidFill>
                            <a:schemeClr val="bg1"/>
                          </a:solidFill>
                        </a:rPr>
                        <a:t>Ratio prêt/valeur</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dirty="0">
                          <a:solidFill>
                            <a:schemeClr val="bg1"/>
                          </a:solidFill>
                        </a:rPr>
                        <a:t>85%</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CA" sz="1000" dirty="0">
                          <a:solidFill>
                            <a:schemeClr val="bg1"/>
                          </a:solidFill>
                        </a:rPr>
                        <a:t>Ratio prêt/valeur</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dirty="0">
                          <a:solidFill>
                            <a:schemeClr val="bg1"/>
                          </a:solidFill>
                        </a:rPr>
                        <a:t>85%</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4021745"/>
                  </a:ext>
                </a:extLst>
              </a:tr>
              <a:tr h="252000">
                <a:tc>
                  <a:txBody>
                    <a:bodyPr/>
                    <a:lstStyle/>
                    <a:p>
                      <a:r>
                        <a:rPr lang="fr-CA" sz="1000" dirty="0">
                          <a:solidFill>
                            <a:schemeClr val="bg1"/>
                          </a:solidFill>
                        </a:rPr>
                        <a:t>Nouveaux revenus annuels</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b="0" dirty="0">
                          <a:solidFill>
                            <a:srgbClr val="F8D956"/>
                          </a:solidFill>
                        </a:rPr>
                        <a:t>211 200$</a:t>
                      </a:r>
                      <a:endParaRPr lang="en-CA" sz="1000" b="0" dirty="0">
                        <a:solidFill>
                          <a:srgbClr val="F8D956"/>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CA" sz="1000" dirty="0">
                          <a:solidFill>
                            <a:schemeClr val="bg1"/>
                          </a:solidFill>
                        </a:rPr>
                        <a:t>Ratio couverture de dette</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dirty="0">
                          <a:solidFill>
                            <a:schemeClr val="bg1"/>
                          </a:solidFill>
                        </a:rPr>
                        <a:t>1,10</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CA" sz="1000" dirty="0">
                          <a:solidFill>
                            <a:schemeClr val="bg1"/>
                          </a:solidFill>
                        </a:rPr>
                        <a:t>Ratio couverture de dette</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dirty="0">
                          <a:solidFill>
                            <a:schemeClr val="bg1"/>
                          </a:solidFill>
                        </a:rPr>
                        <a:t>1,30</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66100639"/>
                  </a:ext>
                </a:extLst>
              </a:tr>
              <a:tr h="252000">
                <a:tc>
                  <a:txBody>
                    <a:bodyPr/>
                    <a:lstStyle/>
                    <a:p>
                      <a:r>
                        <a:rPr lang="fr-CA" sz="1000" dirty="0">
                          <a:solidFill>
                            <a:schemeClr val="bg1"/>
                          </a:solidFill>
                        </a:rPr>
                        <a:t>Nombre de logements</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dirty="0">
                          <a:solidFill>
                            <a:schemeClr val="bg1"/>
                          </a:solidFill>
                        </a:rPr>
                        <a:t>8</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sz="1000" dirty="0"/>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CA" sz="1000" dirty="0">
                          <a:solidFill>
                            <a:schemeClr val="bg1"/>
                          </a:solidFill>
                        </a:rPr>
                        <a:t>Revenus nets</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dirty="0">
                          <a:solidFill>
                            <a:schemeClr val="bg1"/>
                          </a:solidFill>
                        </a:rPr>
                        <a:t>149 946$</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CA" sz="1000" dirty="0">
                          <a:solidFill>
                            <a:schemeClr val="bg1"/>
                          </a:solidFill>
                        </a:rPr>
                        <a:t>Revenus nets</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dirty="0">
                          <a:solidFill>
                            <a:schemeClr val="bg1"/>
                          </a:solidFill>
                        </a:rPr>
                        <a:t>150 706$</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9859489"/>
                  </a:ext>
                </a:extLst>
              </a:tr>
              <a:tr h="252000">
                <a:tc>
                  <a:txBody>
                    <a:bodyPr/>
                    <a:lstStyle/>
                    <a:p>
                      <a:r>
                        <a:rPr lang="fr-CA" sz="1000" dirty="0">
                          <a:solidFill>
                            <a:schemeClr val="bg1"/>
                          </a:solidFill>
                        </a:rPr>
                        <a:t>Ajout du wifi </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dirty="0">
                          <a:solidFill>
                            <a:schemeClr val="bg1"/>
                          </a:solidFill>
                        </a:rPr>
                        <a:t>OUI</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CA" sz="1000" dirty="0">
                          <a:solidFill>
                            <a:schemeClr val="bg1"/>
                          </a:solidFill>
                        </a:rPr>
                        <a:t>Amortissement</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dirty="0">
                          <a:solidFill>
                            <a:schemeClr val="bg1"/>
                          </a:solidFill>
                        </a:rPr>
                        <a:t>40 ans</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CA" sz="1000" dirty="0">
                          <a:solidFill>
                            <a:schemeClr val="bg1"/>
                          </a:solidFill>
                        </a:rPr>
                        <a:t>Amortissement</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dirty="0">
                          <a:solidFill>
                            <a:schemeClr val="bg1"/>
                          </a:solidFill>
                        </a:rPr>
                        <a:t>35 ans</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2659583"/>
                  </a:ext>
                </a:extLst>
              </a:tr>
              <a:tr h="252000">
                <a:tc>
                  <a:txBody>
                    <a:bodyPr/>
                    <a:lstStyle/>
                    <a:p>
                      <a:r>
                        <a:rPr lang="fr-CA" sz="1000" dirty="0">
                          <a:solidFill>
                            <a:schemeClr val="bg1"/>
                          </a:solidFill>
                        </a:rPr>
                        <a:t>Thermopompes (scénario 50 pts)</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dirty="0">
                          <a:solidFill>
                            <a:schemeClr val="bg1"/>
                          </a:solidFill>
                        </a:rPr>
                        <a:t>OUI (4)</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sz="1000" dirty="0"/>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CA" sz="1000" dirty="0">
                          <a:solidFill>
                            <a:schemeClr val="bg1"/>
                          </a:solidFill>
                        </a:rPr>
                        <a:t>Valeur économique retenue</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dirty="0">
                          <a:solidFill>
                            <a:schemeClr val="bg1"/>
                          </a:solidFill>
                        </a:rPr>
                        <a:t>3 334 723$</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CA" sz="1000" dirty="0">
                          <a:solidFill>
                            <a:schemeClr val="bg1"/>
                          </a:solidFill>
                        </a:rPr>
                        <a:t>Valeur économique retenue</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dirty="0">
                          <a:solidFill>
                            <a:schemeClr val="bg1"/>
                          </a:solidFill>
                        </a:rPr>
                        <a:t> 2 666 705$</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69556268"/>
                  </a:ext>
                </a:extLst>
              </a:tr>
              <a:tr h="252000">
                <a:tc>
                  <a:txBody>
                    <a:bodyPr/>
                    <a:lstStyle/>
                    <a:p>
                      <a:r>
                        <a:rPr lang="fr-CA" sz="1000" dirty="0">
                          <a:solidFill>
                            <a:schemeClr val="bg1"/>
                          </a:solidFill>
                        </a:rPr>
                        <a:t>Réduction de l’énergie</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dirty="0">
                          <a:solidFill>
                            <a:schemeClr val="bg1"/>
                          </a:solidFill>
                        </a:rPr>
                        <a:t>0%</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CA" sz="1000" dirty="0">
                          <a:solidFill>
                            <a:schemeClr val="bg1"/>
                          </a:solidFill>
                        </a:rPr>
                        <a:t>Prêt hypothécaire maximal</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dirty="0">
                          <a:solidFill>
                            <a:schemeClr val="bg1"/>
                          </a:solidFill>
                        </a:rPr>
                        <a:t>2 834 515 $</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CA" sz="1000" dirty="0">
                          <a:solidFill>
                            <a:schemeClr val="bg1"/>
                          </a:solidFill>
                        </a:rPr>
                        <a:t>Prêt hypothécaire maximal</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dirty="0">
                          <a:solidFill>
                            <a:schemeClr val="bg1"/>
                          </a:solidFill>
                        </a:rPr>
                        <a:t>2 266 700$</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42039135"/>
                  </a:ext>
                </a:extLst>
              </a:tr>
              <a:tr h="252000">
                <a:tc>
                  <a:txBody>
                    <a:bodyPr/>
                    <a:lstStyle/>
                    <a:p>
                      <a:r>
                        <a:rPr lang="fr-CA" sz="1000" dirty="0">
                          <a:solidFill>
                            <a:schemeClr val="bg1"/>
                          </a:solidFill>
                        </a:rPr>
                        <a:t>Taux d’intérêt du refinancement</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dirty="0">
                          <a:solidFill>
                            <a:schemeClr val="bg1"/>
                          </a:solidFill>
                        </a:rPr>
                        <a:t>3,75%</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CA" sz="1000" dirty="0">
                          <a:solidFill>
                            <a:srgbClr val="F8D956"/>
                          </a:solidFill>
                        </a:rPr>
                        <a:t>Équité dégagée</a:t>
                      </a:r>
                      <a:endParaRPr lang="en-CA" sz="1000" dirty="0">
                        <a:solidFill>
                          <a:srgbClr val="F8D956"/>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b="1" dirty="0">
                          <a:solidFill>
                            <a:srgbClr val="F8D956"/>
                          </a:solidFill>
                        </a:rPr>
                        <a:t>33 531$</a:t>
                      </a:r>
                      <a:endParaRPr lang="en-CA" sz="1000" b="1" dirty="0">
                        <a:solidFill>
                          <a:srgbClr val="F8D956"/>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CA" sz="1000"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b="0" dirty="0">
                          <a:solidFill>
                            <a:srgbClr val="F8D956"/>
                          </a:solidFill>
                        </a:rPr>
                        <a:t>Équité dégagée</a:t>
                      </a:r>
                      <a:endParaRPr lang="en-CA" sz="1000" b="0" dirty="0">
                        <a:solidFill>
                          <a:srgbClr val="F8D956"/>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fr-CA" sz="1000" b="1" dirty="0">
                          <a:solidFill>
                            <a:srgbClr val="F8D956"/>
                          </a:solidFill>
                        </a:rPr>
                        <a:t>- 534 884$</a:t>
                      </a:r>
                      <a:endParaRPr lang="en-CA" sz="1000" b="1" dirty="0">
                        <a:solidFill>
                          <a:srgbClr val="F8D956"/>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7992815"/>
                  </a:ext>
                </a:extLst>
              </a:tr>
            </a:tbl>
          </a:graphicData>
        </a:graphic>
      </p:graphicFrame>
      <p:pic>
        <p:nvPicPr>
          <p:cNvPr id="6" name="Picture 5">
            <a:extLst>
              <a:ext uri="{FF2B5EF4-FFF2-40B4-BE49-F238E27FC236}">
                <a16:creationId xmlns:a16="http://schemas.microsoft.com/office/drawing/2014/main" id="{04CE5A7C-7704-8162-9A40-E851F09309E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188861" y="6031860"/>
            <a:ext cx="998416" cy="998416"/>
          </a:xfrm>
          <a:prstGeom prst="rect">
            <a:avLst/>
          </a:prstGeom>
        </p:spPr>
      </p:pic>
      <p:sp>
        <p:nvSpPr>
          <p:cNvPr id="12" name="Rectangle 11">
            <a:extLst>
              <a:ext uri="{FF2B5EF4-FFF2-40B4-BE49-F238E27FC236}">
                <a16:creationId xmlns:a16="http://schemas.microsoft.com/office/drawing/2014/main" id="{C5498D90-0C79-2D52-B294-D47A02F4DE79}"/>
              </a:ext>
            </a:extLst>
          </p:cNvPr>
          <p:cNvSpPr/>
          <p:nvPr/>
        </p:nvSpPr>
        <p:spPr>
          <a:xfrm>
            <a:off x="1624872" y="4269393"/>
            <a:ext cx="1260000" cy="1080000"/>
          </a:xfrm>
          <a:prstGeom prst="rect">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Rectangle 12">
            <a:extLst>
              <a:ext uri="{FF2B5EF4-FFF2-40B4-BE49-F238E27FC236}">
                <a16:creationId xmlns:a16="http://schemas.microsoft.com/office/drawing/2014/main" id="{DCAEE62D-9C01-2381-71D8-A240C787FFE2}"/>
              </a:ext>
            </a:extLst>
          </p:cNvPr>
          <p:cNvSpPr/>
          <p:nvPr/>
        </p:nvSpPr>
        <p:spPr>
          <a:xfrm>
            <a:off x="4206901" y="4269393"/>
            <a:ext cx="1260000" cy="1080000"/>
          </a:xfrm>
          <a:prstGeom prst="rect">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Rectangle 13">
            <a:extLst>
              <a:ext uri="{FF2B5EF4-FFF2-40B4-BE49-F238E27FC236}">
                <a16:creationId xmlns:a16="http://schemas.microsoft.com/office/drawing/2014/main" id="{E60FEF96-40D5-11A6-ABAD-653B21796586}"/>
              </a:ext>
            </a:extLst>
          </p:cNvPr>
          <p:cNvSpPr/>
          <p:nvPr/>
        </p:nvSpPr>
        <p:spPr>
          <a:xfrm>
            <a:off x="6788930" y="4269393"/>
            <a:ext cx="1260000" cy="1080000"/>
          </a:xfrm>
          <a:prstGeom prst="rect">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Rectangle 14">
            <a:extLst>
              <a:ext uri="{FF2B5EF4-FFF2-40B4-BE49-F238E27FC236}">
                <a16:creationId xmlns:a16="http://schemas.microsoft.com/office/drawing/2014/main" id="{68F766DA-D733-D63F-F0A9-EF390F3B1934}"/>
              </a:ext>
            </a:extLst>
          </p:cNvPr>
          <p:cNvSpPr/>
          <p:nvPr/>
        </p:nvSpPr>
        <p:spPr>
          <a:xfrm>
            <a:off x="9370958" y="4269393"/>
            <a:ext cx="1260000" cy="1080000"/>
          </a:xfrm>
          <a:prstGeom prst="rect">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 name="TextBox 15">
            <a:extLst>
              <a:ext uri="{FF2B5EF4-FFF2-40B4-BE49-F238E27FC236}">
                <a16:creationId xmlns:a16="http://schemas.microsoft.com/office/drawing/2014/main" id="{F813BFB2-C49B-2A9D-6ACE-5740A4E2C0CF}"/>
              </a:ext>
            </a:extLst>
          </p:cNvPr>
          <p:cNvSpPr txBox="1"/>
          <p:nvPr/>
        </p:nvSpPr>
        <p:spPr>
          <a:xfrm>
            <a:off x="963855" y="5462733"/>
            <a:ext cx="2582029" cy="338554"/>
          </a:xfrm>
          <a:prstGeom prst="rect">
            <a:avLst/>
          </a:prstGeom>
          <a:noFill/>
        </p:spPr>
        <p:txBody>
          <a:bodyPr wrap="square" rtlCol="0">
            <a:spAutoFit/>
          </a:bodyPr>
          <a:lstStyle/>
          <a:p>
            <a:pPr algn="ctr"/>
            <a:r>
              <a:rPr lang="fr-CA" sz="1600" b="1" dirty="0">
                <a:solidFill>
                  <a:srgbClr val="F8D956"/>
                </a:solidFill>
              </a:rPr>
              <a:t>SCHL EFFICACITÉ 50 PTS</a:t>
            </a:r>
            <a:endParaRPr lang="en-CA" sz="1600" b="1" dirty="0">
              <a:solidFill>
                <a:srgbClr val="F8D956"/>
              </a:solidFill>
            </a:endParaRPr>
          </a:p>
        </p:txBody>
      </p:sp>
      <p:sp>
        <p:nvSpPr>
          <p:cNvPr id="17" name="TextBox 16">
            <a:extLst>
              <a:ext uri="{FF2B5EF4-FFF2-40B4-BE49-F238E27FC236}">
                <a16:creationId xmlns:a16="http://schemas.microsoft.com/office/drawing/2014/main" id="{85DF3A5A-1396-D38D-0259-65440AAFCB13}"/>
              </a:ext>
            </a:extLst>
          </p:cNvPr>
          <p:cNvSpPr txBox="1"/>
          <p:nvPr/>
        </p:nvSpPr>
        <p:spPr>
          <a:xfrm>
            <a:off x="4034099" y="5228196"/>
            <a:ext cx="1624869" cy="646331"/>
          </a:xfrm>
          <a:prstGeom prst="rect">
            <a:avLst/>
          </a:prstGeom>
          <a:noFill/>
        </p:spPr>
        <p:txBody>
          <a:bodyPr wrap="square" rtlCol="0">
            <a:spAutoFit/>
          </a:bodyPr>
          <a:lstStyle/>
          <a:p>
            <a:pPr algn="ctr"/>
            <a:r>
              <a:rPr lang="fr-CA" sz="800" b="1" dirty="0">
                <a:solidFill>
                  <a:srgbClr val="F8D956"/>
                </a:solidFill>
              </a:rPr>
              <a:t>Jusqu’à</a:t>
            </a:r>
            <a:r>
              <a:rPr lang="fr-CA" b="1" dirty="0">
                <a:solidFill>
                  <a:srgbClr val="F8D956"/>
                </a:solidFill>
              </a:rPr>
              <a:t> </a:t>
            </a:r>
          </a:p>
          <a:p>
            <a:pPr algn="ctr"/>
            <a:r>
              <a:rPr lang="fr-CA" b="1" dirty="0">
                <a:solidFill>
                  <a:srgbClr val="F8D956"/>
                </a:solidFill>
              </a:rPr>
              <a:t>3 334 723$</a:t>
            </a:r>
            <a:endParaRPr lang="en-CA" b="1" dirty="0">
              <a:solidFill>
                <a:srgbClr val="F8D956"/>
              </a:solidFill>
            </a:endParaRPr>
          </a:p>
        </p:txBody>
      </p:sp>
      <p:sp>
        <p:nvSpPr>
          <p:cNvPr id="18" name="TextBox 17">
            <a:extLst>
              <a:ext uri="{FF2B5EF4-FFF2-40B4-BE49-F238E27FC236}">
                <a16:creationId xmlns:a16="http://schemas.microsoft.com/office/drawing/2014/main" id="{436FB205-966B-7B32-8146-34F5052198F7}"/>
              </a:ext>
            </a:extLst>
          </p:cNvPr>
          <p:cNvSpPr txBox="1"/>
          <p:nvPr/>
        </p:nvSpPr>
        <p:spPr>
          <a:xfrm>
            <a:off x="6606494" y="5368385"/>
            <a:ext cx="1624869" cy="492443"/>
          </a:xfrm>
          <a:prstGeom prst="rect">
            <a:avLst/>
          </a:prstGeom>
          <a:noFill/>
        </p:spPr>
        <p:txBody>
          <a:bodyPr wrap="square" rtlCol="0">
            <a:spAutoFit/>
          </a:bodyPr>
          <a:lstStyle/>
          <a:p>
            <a:pPr algn="ctr"/>
            <a:r>
              <a:rPr lang="fr-CA" sz="800" b="1" dirty="0">
                <a:solidFill>
                  <a:srgbClr val="F8D956"/>
                </a:solidFill>
              </a:rPr>
              <a:t>Jusqu’à</a:t>
            </a:r>
          </a:p>
          <a:p>
            <a:pPr algn="ctr"/>
            <a:r>
              <a:rPr lang="fr-CA" b="1" dirty="0">
                <a:solidFill>
                  <a:srgbClr val="F8D956"/>
                </a:solidFill>
              </a:rPr>
              <a:t>2 834 515$</a:t>
            </a:r>
            <a:endParaRPr lang="en-CA" b="1" dirty="0">
              <a:solidFill>
                <a:srgbClr val="F8D956"/>
              </a:solidFill>
            </a:endParaRPr>
          </a:p>
        </p:txBody>
      </p:sp>
      <p:sp>
        <p:nvSpPr>
          <p:cNvPr id="19" name="TextBox 18">
            <a:extLst>
              <a:ext uri="{FF2B5EF4-FFF2-40B4-BE49-F238E27FC236}">
                <a16:creationId xmlns:a16="http://schemas.microsoft.com/office/drawing/2014/main" id="{0D42D459-B19D-A8DF-CFB7-BA3BE0331488}"/>
              </a:ext>
            </a:extLst>
          </p:cNvPr>
          <p:cNvSpPr txBox="1"/>
          <p:nvPr/>
        </p:nvSpPr>
        <p:spPr>
          <a:xfrm>
            <a:off x="9188523" y="5364453"/>
            <a:ext cx="1624869" cy="492443"/>
          </a:xfrm>
          <a:prstGeom prst="rect">
            <a:avLst/>
          </a:prstGeom>
          <a:noFill/>
        </p:spPr>
        <p:txBody>
          <a:bodyPr wrap="square" rtlCol="0">
            <a:spAutoFit/>
          </a:bodyPr>
          <a:lstStyle/>
          <a:p>
            <a:pPr algn="ctr"/>
            <a:r>
              <a:rPr lang="fr-CA" sz="800" b="1" dirty="0">
                <a:solidFill>
                  <a:srgbClr val="F8D956"/>
                </a:solidFill>
              </a:rPr>
              <a:t>Jusqu’à</a:t>
            </a:r>
          </a:p>
          <a:p>
            <a:pPr algn="ctr"/>
            <a:r>
              <a:rPr lang="fr-CA" b="1" dirty="0">
                <a:solidFill>
                  <a:srgbClr val="F8D956"/>
                </a:solidFill>
              </a:rPr>
              <a:t>33 531$</a:t>
            </a:r>
            <a:endParaRPr lang="en-CA" b="1" dirty="0">
              <a:solidFill>
                <a:srgbClr val="F8D956"/>
              </a:solidFill>
            </a:endParaRPr>
          </a:p>
        </p:txBody>
      </p:sp>
      <p:cxnSp>
        <p:nvCxnSpPr>
          <p:cNvPr id="20" name="Straight Connector 19">
            <a:extLst>
              <a:ext uri="{FF2B5EF4-FFF2-40B4-BE49-F238E27FC236}">
                <a16:creationId xmlns:a16="http://schemas.microsoft.com/office/drawing/2014/main" id="{B450EC18-C1D2-A396-37AD-885585807CFC}"/>
              </a:ext>
            </a:extLst>
          </p:cNvPr>
          <p:cNvCxnSpPr>
            <a:cxnSpLocks/>
          </p:cNvCxnSpPr>
          <p:nvPr/>
        </p:nvCxnSpPr>
        <p:spPr>
          <a:xfrm>
            <a:off x="1655223" y="5874527"/>
            <a:ext cx="1199297" cy="0"/>
          </a:xfrm>
          <a:prstGeom prst="line">
            <a:avLst/>
          </a:prstGeom>
          <a:ln w="9525">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E21FF3F9-D7BC-6373-08A9-A4DD8E54FCB1}"/>
              </a:ext>
            </a:extLst>
          </p:cNvPr>
          <p:cNvCxnSpPr>
            <a:cxnSpLocks/>
          </p:cNvCxnSpPr>
          <p:nvPr/>
        </p:nvCxnSpPr>
        <p:spPr>
          <a:xfrm>
            <a:off x="4237252" y="5874527"/>
            <a:ext cx="1199297" cy="0"/>
          </a:xfrm>
          <a:prstGeom prst="line">
            <a:avLst/>
          </a:prstGeom>
          <a:ln w="9525">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865E690C-6E01-1B13-3C09-05B5D8704618}"/>
              </a:ext>
            </a:extLst>
          </p:cNvPr>
          <p:cNvCxnSpPr>
            <a:cxnSpLocks/>
          </p:cNvCxnSpPr>
          <p:nvPr/>
        </p:nvCxnSpPr>
        <p:spPr>
          <a:xfrm>
            <a:off x="6819281" y="5874527"/>
            <a:ext cx="1199297" cy="0"/>
          </a:xfrm>
          <a:prstGeom prst="line">
            <a:avLst/>
          </a:prstGeom>
          <a:ln w="9525">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426ACFCA-3745-4B7B-EC71-6470406EA8B1}"/>
              </a:ext>
            </a:extLst>
          </p:cNvPr>
          <p:cNvCxnSpPr>
            <a:cxnSpLocks/>
          </p:cNvCxnSpPr>
          <p:nvPr/>
        </p:nvCxnSpPr>
        <p:spPr>
          <a:xfrm>
            <a:off x="9401310" y="5850080"/>
            <a:ext cx="1199297" cy="0"/>
          </a:xfrm>
          <a:prstGeom prst="line">
            <a:avLst/>
          </a:prstGeom>
          <a:ln w="9525">
            <a:solidFill>
              <a:schemeClr val="bg1"/>
            </a:solidFill>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A7E88DB7-9998-94DA-FEA5-026679804AD4}"/>
              </a:ext>
            </a:extLst>
          </p:cNvPr>
          <p:cNvSpPr txBox="1"/>
          <p:nvPr/>
        </p:nvSpPr>
        <p:spPr>
          <a:xfrm>
            <a:off x="963855" y="5926385"/>
            <a:ext cx="2582029" cy="461665"/>
          </a:xfrm>
          <a:prstGeom prst="rect">
            <a:avLst/>
          </a:prstGeom>
          <a:noFill/>
        </p:spPr>
        <p:txBody>
          <a:bodyPr wrap="square" rtlCol="0">
            <a:spAutoFit/>
          </a:bodyPr>
          <a:lstStyle/>
          <a:p>
            <a:pPr algn="ctr"/>
            <a:r>
              <a:rPr lang="fr-CA" sz="1400" dirty="0" err="1">
                <a:solidFill>
                  <a:schemeClr val="bg1"/>
                </a:solidFill>
              </a:rPr>
              <a:t>Takeout</a:t>
            </a:r>
            <a:r>
              <a:rPr lang="fr-CA" sz="1400" dirty="0">
                <a:solidFill>
                  <a:schemeClr val="bg1"/>
                </a:solidFill>
              </a:rPr>
              <a:t> priorisé</a:t>
            </a:r>
          </a:p>
          <a:p>
            <a:pPr algn="ctr"/>
            <a:r>
              <a:rPr lang="fr-CA" sz="1000" dirty="0">
                <a:solidFill>
                  <a:schemeClr val="bg1"/>
                </a:solidFill>
              </a:rPr>
              <a:t>50 pts efficacité énergétique</a:t>
            </a:r>
            <a:endParaRPr lang="en-CA" sz="1000" dirty="0">
              <a:solidFill>
                <a:schemeClr val="bg1"/>
              </a:solidFill>
            </a:endParaRPr>
          </a:p>
        </p:txBody>
      </p:sp>
      <p:sp>
        <p:nvSpPr>
          <p:cNvPr id="28" name="TextBox 27">
            <a:extLst>
              <a:ext uri="{FF2B5EF4-FFF2-40B4-BE49-F238E27FC236}">
                <a16:creationId xmlns:a16="http://schemas.microsoft.com/office/drawing/2014/main" id="{F1CF09A9-84CB-1194-B4EA-B8FE1A8D867F}"/>
              </a:ext>
            </a:extLst>
          </p:cNvPr>
          <p:cNvSpPr txBox="1"/>
          <p:nvPr/>
        </p:nvSpPr>
        <p:spPr>
          <a:xfrm>
            <a:off x="3722740" y="5926385"/>
            <a:ext cx="2228320" cy="307777"/>
          </a:xfrm>
          <a:prstGeom prst="rect">
            <a:avLst/>
          </a:prstGeom>
          <a:noFill/>
        </p:spPr>
        <p:txBody>
          <a:bodyPr wrap="square" rtlCol="0">
            <a:spAutoFit/>
          </a:bodyPr>
          <a:lstStyle/>
          <a:p>
            <a:pPr algn="ctr"/>
            <a:r>
              <a:rPr lang="fr-CA" sz="1400" dirty="0">
                <a:solidFill>
                  <a:schemeClr val="bg1"/>
                </a:solidFill>
              </a:rPr>
              <a:t>Valeur économique</a:t>
            </a:r>
            <a:endParaRPr lang="en-CA" sz="1400" dirty="0">
              <a:solidFill>
                <a:schemeClr val="bg1"/>
              </a:solidFill>
            </a:endParaRPr>
          </a:p>
        </p:txBody>
      </p:sp>
      <p:sp>
        <p:nvSpPr>
          <p:cNvPr id="29" name="TextBox 28">
            <a:extLst>
              <a:ext uri="{FF2B5EF4-FFF2-40B4-BE49-F238E27FC236}">
                <a16:creationId xmlns:a16="http://schemas.microsoft.com/office/drawing/2014/main" id="{1108DF93-1A35-AC22-567F-C717E551F71C}"/>
              </a:ext>
            </a:extLst>
          </p:cNvPr>
          <p:cNvSpPr txBox="1"/>
          <p:nvPr/>
        </p:nvSpPr>
        <p:spPr>
          <a:xfrm>
            <a:off x="6341641" y="5926385"/>
            <a:ext cx="2228320" cy="307777"/>
          </a:xfrm>
          <a:prstGeom prst="rect">
            <a:avLst/>
          </a:prstGeom>
          <a:noFill/>
        </p:spPr>
        <p:txBody>
          <a:bodyPr wrap="square" rtlCol="0">
            <a:spAutoFit/>
          </a:bodyPr>
          <a:lstStyle/>
          <a:p>
            <a:pPr algn="ctr"/>
            <a:r>
              <a:rPr lang="fr-CA" sz="1400" dirty="0">
                <a:solidFill>
                  <a:schemeClr val="bg1"/>
                </a:solidFill>
              </a:rPr>
              <a:t>Prêt maximal</a:t>
            </a:r>
            <a:endParaRPr lang="en-CA" sz="1400" dirty="0">
              <a:solidFill>
                <a:schemeClr val="bg1"/>
              </a:solidFill>
            </a:endParaRPr>
          </a:p>
        </p:txBody>
      </p:sp>
      <p:sp>
        <p:nvSpPr>
          <p:cNvPr id="30" name="TextBox 29">
            <a:extLst>
              <a:ext uri="{FF2B5EF4-FFF2-40B4-BE49-F238E27FC236}">
                <a16:creationId xmlns:a16="http://schemas.microsoft.com/office/drawing/2014/main" id="{B52AB4FD-E9EC-97BC-897E-4D6D13A0C1CD}"/>
              </a:ext>
            </a:extLst>
          </p:cNvPr>
          <p:cNvSpPr txBox="1"/>
          <p:nvPr/>
        </p:nvSpPr>
        <p:spPr>
          <a:xfrm>
            <a:off x="8886798" y="5926385"/>
            <a:ext cx="2228320" cy="307777"/>
          </a:xfrm>
          <a:prstGeom prst="rect">
            <a:avLst/>
          </a:prstGeom>
          <a:noFill/>
        </p:spPr>
        <p:txBody>
          <a:bodyPr wrap="square" rtlCol="0">
            <a:spAutoFit/>
          </a:bodyPr>
          <a:lstStyle/>
          <a:p>
            <a:pPr algn="ctr"/>
            <a:r>
              <a:rPr lang="fr-CA" sz="1400" dirty="0">
                <a:solidFill>
                  <a:schemeClr val="bg1"/>
                </a:solidFill>
              </a:rPr>
              <a:t>Équité dégagée</a:t>
            </a:r>
            <a:endParaRPr lang="en-CA" sz="1400" dirty="0">
              <a:solidFill>
                <a:schemeClr val="bg1"/>
              </a:solidFill>
            </a:endParaRPr>
          </a:p>
        </p:txBody>
      </p:sp>
      <p:pic>
        <p:nvPicPr>
          <p:cNvPr id="32" name="Graphic 31" descr="Bank outline">
            <a:extLst>
              <a:ext uri="{FF2B5EF4-FFF2-40B4-BE49-F238E27FC236}">
                <a16:creationId xmlns:a16="http://schemas.microsoft.com/office/drawing/2014/main" id="{97B9C88D-DF96-0B0D-6193-3BAB1F9ABAA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97671" y="4352193"/>
            <a:ext cx="914400" cy="914400"/>
          </a:xfrm>
          <a:prstGeom prst="rect">
            <a:avLst/>
          </a:prstGeom>
        </p:spPr>
      </p:pic>
      <p:pic>
        <p:nvPicPr>
          <p:cNvPr id="34" name="Graphic 33" descr="Coins outline">
            <a:extLst>
              <a:ext uri="{FF2B5EF4-FFF2-40B4-BE49-F238E27FC236}">
                <a16:creationId xmlns:a16="http://schemas.microsoft.com/office/drawing/2014/main" id="{3A4AF340-D30F-6665-6377-22AC390FCE0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61729" y="4352193"/>
            <a:ext cx="914400" cy="914400"/>
          </a:xfrm>
          <a:prstGeom prst="rect">
            <a:avLst/>
          </a:prstGeom>
        </p:spPr>
      </p:pic>
      <p:pic>
        <p:nvPicPr>
          <p:cNvPr id="36" name="Graphic 35" descr="Money outline">
            <a:extLst>
              <a:ext uri="{FF2B5EF4-FFF2-40B4-BE49-F238E27FC236}">
                <a16:creationId xmlns:a16="http://schemas.microsoft.com/office/drawing/2014/main" id="{D629A474-0F04-2849-21DC-F42A10CC433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543758" y="4352193"/>
            <a:ext cx="914400" cy="914400"/>
          </a:xfrm>
          <a:prstGeom prst="rect">
            <a:avLst/>
          </a:prstGeom>
        </p:spPr>
      </p:pic>
      <p:pic>
        <p:nvPicPr>
          <p:cNvPr id="38" name="Graphic 37" descr="Bank check outline">
            <a:extLst>
              <a:ext uri="{FF2B5EF4-FFF2-40B4-BE49-F238E27FC236}">
                <a16:creationId xmlns:a16="http://schemas.microsoft.com/office/drawing/2014/main" id="{F8D64797-C370-F939-6D7F-1FAE5567EED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379700" y="4352193"/>
            <a:ext cx="914400" cy="914400"/>
          </a:xfrm>
          <a:prstGeom prst="rect">
            <a:avLst/>
          </a:prstGeom>
        </p:spPr>
      </p:pic>
    </p:spTree>
    <p:extLst>
      <p:ext uri="{BB962C8B-B14F-4D97-AF65-F5344CB8AC3E}">
        <p14:creationId xmlns:p14="http://schemas.microsoft.com/office/powerpoint/2010/main" val="37178543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a:extLst>
            <a:ext uri="{FF2B5EF4-FFF2-40B4-BE49-F238E27FC236}">
              <a16:creationId xmlns:a16="http://schemas.microsoft.com/office/drawing/2014/main" id="{DEAECC41-C11A-E25B-5953-F491192A7CF1}"/>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977D90B0-5743-E697-FE2E-8262C48C836F}"/>
              </a:ext>
            </a:extLst>
          </p:cNvPr>
          <p:cNvSpPr txBox="1">
            <a:spLocks/>
          </p:cNvSpPr>
          <p:nvPr/>
        </p:nvSpPr>
        <p:spPr>
          <a:xfrm>
            <a:off x="791021" y="416577"/>
            <a:ext cx="7261157" cy="717279"/>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2400" b="1" dirty="0">
                <a:solidFill>
                  <a:prstClr val="white"/>
                </a:solidFill>
                <a:latin typeface="Aptos Display" panose="02110004020202020204"/>
              </a:rPr>
              <a:t>VOTRE RETOUR SUR INVESTISSEMENT</a:t>
            </a:r>
            <a:endParaRPr kumimoji="0" lang="en-US" sz="4400" b="0" i="0" u="none" strike="noStrike" kern="1200" cap="none" spc="0" normalizeH="0" baseline="0" noProof="0" dirty="0">
              <a:ln>
                <a:noFill/>
              </a:ln>
              <a:solidFill>
                <a:prstClr val="black"/>
              </a:solidFill>
              <a:effectLst/>
              <a:uLnTx/>
              <a:uFillTx/>
              <a:latin typeface="Aptos Display" panose="02110004020202020204"/>
              <a:ea typeface="+mj-ea"/>
              <a:cs typeface="+mj-cs"/>
            </a:endParaRPr>
          </a:p>
        </p:txBody>
      </p:sp>
      <p:sp>
        <p:nvSpPr>
          <p:cNvPr id="8" name="TextBox 7">
            <a:extLst>
              <a:ext uri="{FF2B5EF4-FFF2-40B4-BE49-F238E27FC236}">
                <a16:creationId xmlns:a16="http://schemas.microsoft.com/office/drawing/2014/main" id="{0ECD45A4-CA55-715B-94E8-6C633EFADAE6}"/>
              </a:ext>
            </a:extLst>
          </p:cNvPr>
          <p:cNvSpPr txBox="1"/>
          <p:nvPr/>
        </p:nvSpPr>
        <p:spPr>
          <a:xfrm>
            <a:off x="184326" y="6476025"/>
            <a:ext cx="596347"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200" dirty="0">
                <a:solidFill>
                  <a:prstClr val="white"/>
                </a:solidFill>
                <a:latin typeface="Aptos" panose="02110004020202020204"/>
              </a:rPr>
              <a:t>11</a:t>
            </a:r>
            <a:endParaRPr kumimoji="0" lang="en-CA" sz="12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4" name="Rectangle 23">
            <a:extLst>
              <a:ext uri="{FF2B5EF4-FFF2-40B4-BE49-F238E27FC236}">
                <a16:creationId xmlns:a16="http://schemas.microsoft.com/office/drawing/2014/main" id="{BCFE6580-B0E6-31E5-FADE-4BE38102B9A2}"/>
              </a:ext>
            </a:extLst>
          </p:cNvPr>
          <p:cNvSpPr/>
          <p:nvPr/>
        </p:nvSpPr>
        <p:spPr>
          <a:xfrm>
            <a:off x="895060" y="971550"/>
            <a:ext cx="1929109" cy="85725"/>
          </a:xfrm>
          <a:prstGeom prst="rect">
            <a:avLst/>
          </a:prstGeom>
          <a:solidFill>
            <a:srgbClr val="F8D95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noFill/>
              <a:effectLst/>
              <a:uLnTx/>
              <a:uFillTx/>
              <a:latin typeface="Aptos" panose="02110004020202020204"/>
              <a:ea typeface="+mn-ea"/>
              <a:cs typeface="+mn-cs"/>
            </a:endParaRPr>
          </a:p>
        </p:txBody>
      </p:sp>
      <p:pic>
        <p:nvPicPr>
          <p:cNvPr id="3" name="Picture 2">
            <a:extLst>
              <a:ext uri="{FF2B5EF4-FFF2-40B4-BE49-F238E27FC236}">
                <a16:creationId xmlns:a16="http://schemas.microsoft.com/office/drawing/2014/main" id="{379586CA-444B-7084-6821-53B6DA7CE0C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188861" y="6031860"/>
            <a:ext cx="998416" cy="998416"/>
          </a:xfrm>
          <a:prstGeom prst="rect">
            <a:avLst/>
          </a:prstGeom>
        </p:spPr>
      </p:pic>
      <p:sp>
        <p:nvSpPr>
          <p:cNvPr id="42" name="Rectangle 41">
            <a:extLst>
              <a:ext uri="{FF2B5EF4-FFF2-40B4-BE49-F238E27FC236}">
                <a16:creationId xmlns:a16="http://schemas.microsoft.com/office/drawing/2014/main" id="{9EB99E30-E831-5CF9-9242-B637E6CBAC6B}"/>
              </a:ext>
            </a:extLst>
          </p:cNvPr>
          <p:cNvSpPr/>
          <p:nvPr/>
        </p:nvSpPr>
        <p:spPr>
          <a:xfrm>
            <a:off x="3035902" y="1385131"/>
            <a:ext cx="1260000" cy="1080000"/>
          </a:xfrm>
          <a:prstGeom prst="rect">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3" name="Rectangle 42">
            <a:extLst>
              <a:ext uri="{FF2B5EF4-FFF2-40B4-BE49-F238E27FC236}">
                <a16:creationId xmlns:a16="http://schemas.microsoft.com/office/drawing/2014/main" id="{8521BBDC-7D15-059E-831F-486294C90A07}"/>
              </a:ext>
            </a:extLst>
          </p:cNvPr>
          <p:cNvSpPr/>
          <p:nvPr/>
        </p:nvSpPr>
        <p:spPr>
          <a:xfrm>
            <a:off x="5204180" y="1385131"/>
            <a:ext cx="1260000" cy="1080000"/>
          </a:xfrm>
          <a:prstGeom prst="rect">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58" name="Graphic 57" descr="Stopwatch outline">
            <a:extLst>
              <a:ext uri="{FF2B5EF4-FFF2-40B4-BE49-F238E27FC236}">
                <a16:creationId xmlns:a16="http://schemas.microsoft.com/office/drawing/2014/main" id="{02AFC66F-EF82-8B12-D108-ECB3785738C2}"/>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3208701" y="1467931"/>
            <a:ext cx="914400" cy="914400"/>
          </a:xfrm>
          <a:prstGeom prst="rect">
            <a:avLst/>
          </a:prstGeom>
        </p:spPr>
      </p:pic>
      <p:pic>
        <p:nvPicPr>
          <p:cNvPr id="61" name="Graphic 60" descr="Badge outline">
            <a:extLst>
              <a:ext uri="{FF2B5EF4-FFF2-40B4-BE49-F238E27FC236}">
                <a16:creationId xmlns:a16="http://schemas.microsoft.com/office/drawing/2014/main" id="{B13D5904-E39A-8487-8DEA-235BE7FF975D}"/>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5376979" y="1467931"/>
            <a:ext cx="914400" cy="914400"/>
          </a:xfrm>
          <a:prstGeom prst="rect">
            <a:avLst/>
          </a:prstGeom>
        </p:spPr>
      </p:pic>
      <p:sp>
        <p:nvSpPr>
          <p:cNvPr id="78" name="TextBox 77">
            <a:extLst>
              <a:ext uri="{FF2B5EF4-FFF2-40B4-BE49-F238E27FC236}">
                <a16:creationId xmlns:a16="http://schemas.microsoft.com/office/drawing/2014/main" id="{F813BFB2-C49B-2A9D-6ACE-5740A4E2C0CF}"/>
              </a:ext>
            </a:extLst>
          </p:cNvPr>
          <p:cNvSpPr txBox="1"/>
          <p:nvPr/>
        </p:nvSpPr>
        <p:spPr>
          <a:xfrm>
            <a:off x="2126287" y="2547931"/>
            <a:ext cx="3079227" cy="584775"/>
          </a:xfrm>
          <a:prstGeom prst="rect">
            <a:avLst/>
          </a:prstGeom>
          <a:noFill/>
        </p:spPr>
        <p:txBody>
          <a:bodyPr wrap="square" rtlCol="0">
            <a:spAutoFit/>
          </a:bodyPr>
          <a:lstStyle/>
          <a:p>
            <a:pPr algn="ctr"/>
            <a:r>
              <a:rPr lang="fr-CA" sz="1600" b="1" dirty="0">
                <a:solidFill>
                  <a:srgbClr val="F8D956"/>
                </a:solidFill>
              </a:rPr>
              <a:t>Lancement</a:t>
            </a:r>
            <a:endParaRPr lang="en-CA" sz="1600" b="1" dirty="0">
              <a:solidFill>
                <a:srgbClr val="F8D956"/>
              </a:solidFill>
            </a:endParaRPr>
          </a:p>
          <a:p>
            <a:pPr algn="ctr"/>
            <a:endParaRPr lang="en-CA" sz="1600" b="1" dirty="0">
              <a:solidFill>
                <a:srgbClr val="F8D956"/>
              </a:solidFill>
            </a:endParaRPr>
          </a:p>
        </p:txBody>
      </p:sp>
      <p:sp>
        <p:nvSpPr>
          <p:cNvPr id="81" name="TextBox 80">
            <a:extLst>
              <a:ext uri="{FF2B5EF4-FFF2-40B4-BE49-F238E27FC236}">
                <a16:creationId xmlns:a16="http://schemas.microsoft.com/office/drawing/2014/main" id="{8BBF3524-1DAC-C7DF-6AC1-E27908CBEEE0}"/>
              </a:ext>
            </a:extLst>
          </p:cNvPr>
          <p:cNvSpPr txBox="1"/>
          <p:nvPr/>
        </p:nvSpPr>
        <p:spPr>
          <a:xfrm>
            <a:off x="4294565" y="2547931"/>
            <a:ext cx="3079227" cy="338554"/>
          </a:xfrm>
          <a:prstGeom prst="rect">
            <a:avLst/>
          </a:prstGeom>
          <a:noFill/>
        </p:spPr>
        <p:txBody>
          <a:bodyPr wrap="square" rtlCol="0">
            <a:spAutoFit/>
          </a:bodyPr>
          <a:lstStyle/>
          <a:p>
            <a:pPr algn="ctr"/>
            <a:r>
              <a:rPr lang="fr-CA" sz="1600" b="1" dirty="0">
                <a:solidFill>
                  <a:srgbClr val="F8D956"/>
                </a:solidFill>
              </a:rPr>
              <a:t>Année 2</a:t>
            </a:r>
            <a:endParaRPr lang="en-CA" sz="1600" b="1" dirty="0">
              <a:solidFill>
                <a:srgbClr val="F8D956"/>
              </a:solidFill>
            </a:endParaRPr>
          </a:p>
        </p:txBody>
      </p:sp>
      <p:graphicFrame>
        <p:nvGraphicFramePr>
          <p:cNvPr id="84" name="Table 83">
            <a:extLst>
              <a:ext uri="{FF2B5EF4-FFF2-40B4-BE49-F238E27FC236}">
                <a16:creationId xmlns:a16="http://schemas.microsoft.com/office/drawing/2014/main" id="{A154E383-9124-C77F-DA97-27CEE43918D4}"/>
              </a:ext>
            </a:extLst>
          </p:cNvPr>
          <p:cNvGraphicFramePr>
            <a:graphicFrameLocks noGrp="1"/>
          </p:cNvGraphicFramePr>
          <p:nvPr>
            <p:extLst>
              <p:ext uri="{D42A27DB-BD31-4B8C-83A1-F6EECF244321}">
                <p14:modId xmlns:p14="http://schemas.microsoft.com/office/powerpoint/2010/main" val="1526257752"/>
              </p:ext>
            </p:extLst>
          </p:nvPr>
        </p:nvGraphicFramePr>
        <p:xfrm>
          <a:off x="710869" y="2924181"/>
          <a:ext cx="10547796" cy="3421920"/>
        </p:xfrm>
        <a:graphic>
          <a:graphicData uri="http://schemas.openxmlformats.org/drawingml/2006/table">
            <a:tbl>
              <a:tblPr firstRow="1" bandRow="1">
                <a:tableStyleId>{5C22544A-7EE6-4342-B048-85BDC9FD1C3A}</a:tableStyleId>
              </a:tblPr>
              <a:tblGrid>
                <a:gridCol w="1907796">
                  <a:extLst>
                    <a:ext uri="{9D8B030D-6E8A-4147-A177-3AD203B41FA5}">
                      <a16:colId xmlns:a16="http://schemas.microsoft.com/office/drawing/2014/main" val="1749988254"/>
                    </a:ext>
                  </a:extLst>
                </a:gridCol>
                <a:gridCol w="2160000">
                  <a:extLst>
                    <a:ext uri="{9D8B030D-6E8A-4147-A177-3AD203B41FA5}">
                      <a16:colId xmlns:a16="http://schemas.microsoft.com/office/drawing/2014/main" val="4106015061"/>
                    </a:ext>
                  </a:extLst>
                </a:gridCol>
                <a:gridCol w="2160000">
                  <a:extLst>
                    <a:ext uri="{9D8B030D-6E8A-4147-A177-3AD203B41FA5}">
                      <a16:colId xmlns:a16="http://schemas.microsoft.com/office/drawing/2014/main" val="370342451"/>
                    </a:ext>
                  </a:extLst>
                </a:gridCol>
                <a:gridCol w="2160000">
                  <a:extLst>
                    <a:ext uri="{9D8B030D-6E8A-4147-A177-3AD203B41FA5}">
                      <a16:colId xmlns:a16="http://schemas.microsoft.com/office/drawing/2014/main" val="1477112335"/>
                    </a:ext>
                  </a:extLst>
                </a:gridCol>
                <a:gridCol w="2160000">
                  <a:extLst>
                    <a:ext uri="{9D8B030D-6E8A-4147-A177-3AD203B41FA5}">
                      <a16:colId xmlns:a16="http://schemas.microsoft.com/office/drawing/2014/main" val="2800859399"/>
                    </a:ext>
                  </a:extLst>
                </a:gridCol>
              </a:tblGrid>
              <a:tr h="252000">
                <a:tc>
                  <a:txBody>
                    <a:bodyPr/>
                    <a:lstStyle/>
                    <a:p>
                      <a:pPr rtl="0" fontAlgn="b">
                        <a:buNone/>
                      </a:pPr>
                      <a:r>
                        <a:rPr lang="fr-CA" sz="1200" dirty="0">
                          <a:solidFill>
                            <a:srgbClr val="F8D956"/>
                          </a:solidFill>
                          <a:effectLst/>
                        </a:rPr>
                        <a:t>Capital à injecter</a:t>
                      </a:r>
                    </a:p>
                    <a:p>
                      <a:pPr rtl="0" fontAlgn="b">
                        <a:buNone/>
                      </a:pPr>
                      <a:r>
                        <a:rPr lang="fr-CA" sz="1200" b="0" dirty="0">
                          <a:solidFill>
                            <a:srgbClr val="F8D956"/>
                          </a:solidFill>
                          <a:effectLst/>
                        </a:rPr>
                        <a:t>(votre mise initiale)</a:t>
                      </a:r>
                      <a:endParaRPr lang="en-CA" sz="1200" b="0" dirty="0">
                        <a:solidFill>
                          <a:srgbClr val="F8D956"/>
                        </a:solidFill>
                        <a:effectLst/>
                      </a:endParaRPr>
                    </a:p>
                  </a:txBody>
                  <a:tcPr marL="22860" marR="22860" marT="15240" marB="15240" anchor="ctr">
                    <a:lnL w="12700" cmpd="sng">
                      <a:noFill/>
                    </a:lnL>
                    <a:lnR w="12700" cmpd="sng">
                      <a:noFill/>
                    </a:lnR>
                    <a:lnT w="381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fr-CA" sz="1200" b="0" dirty="0">
                          <a:solidFill>
                            <a:schemeClr val="bg1"/>
                          </a:solidFill>
                          <a:effectLst/>
                          <a:latin typeface="+mn-lt"/>
                        </a:rPr>
                        <a:t>300 000$</a:t>
                      </a:r>
                      <a:endParaRPr lang="en-CA" sz="1200" b="0" dirty="0">
                        <a:solidFill>
                          <a:schemeClr val="bg1"/>
                        </a:solidFill>
                        <a:effectLst/>
                        <a:latin typeface="+mn-lt"/>
                      </a:endParaRPr>
                    </a:p>
                  </a:txBody>
                  <a:tcPr marL="22860" marR="22860" marT="15240" marB="15240" anchor="ctr">
                    <a:lnL w="12700" cmpd="sng">
                      <a:noFill/>
                    </a:lnL>
                    <a:lnR w="12700" cmpd="sng">
                      <a:noFill/>
                    </a:lnR>
                    <a:lnT w="381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CA" sz="1200" b="0" dirty="0">
                          <a:solidFill>
                            <a:schemeClr val="bg1"/>
                          </a:solidFill>
                          <a:effectLst/>
                          <a:latin typeface="+mn-lt"/>
                        </a:rPr>
                        <a:t>0$</a:t>
                      </a:r>
                      <a:endParaRPr lang="en-CA" sz="1200" b="0" dirty="0">
                        <a:solidFill>
                          <a:schemeClr val="bg1"/>
                        </a:solidFill>
                        <a:effectLst/>
                        <a:latin typeface="+mn-lt"/>
                      </a:endParaRPr>
                    </a:p>
                  </a:txBody>
                  <a:tcPr anchor="ctr">
                    <a:lnL w="12700" cmpd="sng">
                      <a:noFill/>
                    </a:lnL>
                    <a:lnR w="12700" cmpd="sng">
                      <a:noFill/>
                    </a:lnR>
                    <a:lnT w="381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1200" b="0" dirty="0">
                          <a:solidFill>
                            <a:schemeClr val="bg1"/>
                          </a:solidFill>
                          <a:effectLst/>
                          <a:latin typeface="+mn-lt"/>
                        </a:rPr>
                        <a:t>0$</a:t>
                      </a:r>
                      <a:endParaRPr lang="en-CA" sz="1200" b="0" dirty="0">
                        <a:solidFill>
                          <a:schemeClr val="bg1"/>
                        </a:solidFill>
                        <a:effectLst/>
                        <a:latin typeface="+mn-lt"/>
                      </a:endParaRPr>
                    </a:p>
                  </a:txBody>
                  <a:tcPr anchor="ctr">
                    <a:lnL w="12700" cmpd="sng">
                      <a:noFill/>
                    </a:lnL>
                    <a:lnR w="12700" cmpd="sng">
                      <a:noFill/>
                    </a:lnR>
                    <a:lnT w="381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CA" sz="1200" b="0" dirty="0">
                          <a:solidFill>
                            <a:schemeClr val="bg1"/>
                          </a:solidFill>
                          <a:effectLst/>
                          <a:latin typeface="+mn-lt"/>
                        </a:rPr>
                        <a:t>0$</a:t>
                      </a:r>
                      <a:endParaRPr lang="en-CA" sz="1200" b="0" dirty="0">
                        <a:solidFill>
                          <a:schemeClr val="bg1"/>
                        </a:solidFill>
                        <a:effectLst/>
                        <a:latin typeface="+mn-lt"/>
                      </a:endParaRPr>
                    </a:p>
                  </a:txBody>
                  <a:tcPr anchor="ctr">
                    <a:lnL w="12700" cmpd="sng">
                      <a:noFill/>
                    </a:lnL>
                    <a:lnR w="12700" cmpd="sng">
                      <a:noFill/>
                    </a:lnR>
                    <a:lnT w="381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37654459"/>
                  </a:ext>
                </a:extLst>
              </a:tr>
              <a:tr h="234720">
                <a:tc>
                  <a:txBody>
                    <a:bodyPr/>
                    <a:lstStyle/>
                    <a:p>
                      <a:pPr rtl="0" fontAlgn="b">
                        <a:buNone/>
                      </a:pPr>
                      <a:endParaRPr lang="en-CA" sz="1200" b="1" dirty="0">
                        <a:solidFill>
                          <a:srgbClr val="F8D956"/>
                        </a:solidFill>
                        <a:effectLst/>
                      </a:endParaRPr>
                    </a:p>
                  </a:txBody>
                  <a:tcPr marL="22860" marR="22860" marT="15240" marB="1524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endParaRPr lang="en-CA" sz="1200" dirty="0">
                        <a:solidFill>
                          <a:schemeClr val="bg1"/>
                        </a:solidFill>
                        <a:effectLst/>
                        <a:latin typeface="+mn-lt"/>
                      </a:endParaRPr>
                    </a:p>
                  </a:txBody>
                  <a:tcPr marL="22860" marR="22860" marT="15240" marB="1524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CA" sz="1200" dirty="0">
                        <a:solidFill>
                          <a:schemeClr val="bg1"/>
                        </a:solidFill>
                        <a:effectLst/>
                        <a:latin typeface="+mn-lt"/>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CA" sz="1200" dirty="0">
                        <a:solidFill>
                          <a:schemeClr val="bg1"/>
                        </a:solidFill>
                        <a:effectLst/>
                        <a:latin typeface="+mn-lt"/>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CA" sz="1200" dirty="0">
                        <a:solidFill>
                          <a:schemeClr val="bg1"/>
                        </a:solidFill>
                        <a:effectLst/>
                        <a:latin typeface="+mn-lt"/>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06244318"/>
                  </a:ext>
                </a:extLst>
              </a:tr>
              <a:tr h="252000">
                <a:tc>
                  <a:txBody>
                    <a:bodyPr/>
                    <a:lstStyle/>
                    <a:p>
                      <a:pPr rtl="0" fontAlgn="b">
                        <a:buNone/>
                      </a:pPr>
                      <a:r>
                        <a:rPr lang="fr-CA" sz="1200" b="1" dirty="0">
                          <a:solidFill>
                            <a:srgbClr val="F8D956"/>
                          </a:solidFill>
                          <a:effectLst/>
                        </a:rPr>
                        <a:t>Cash retourné à vous </a:t>
                      </a:r>
                    </a:p>
                    <a:p>
                      <a:pPr rtl="0" fontAlgn="b">
                        <a:buNone/>
                      </a:pPr>
                      <a:r>
                        <a:rPr lang="fr-CA" sz="1200" b="0" dirty="0">
                          <a:solidFill>
                            <a:srgbClr val="F8D956"/>
                          </a:solidFill>
                          <a:effectLst/>
                        </a:rPr>
                        <a:t>(ponctuel)</a:t>
                      </a:r>
                      <a:endParaRPr lang="en-CA" sz="1200" b="1" dirty="0">
                        <a:solidFill>
                          <a:srgbClr val="F8D956"/>
                        </a:solidFill>
                        <a:effectLst/>
                      </a:endParaRPr>
                    </a:p>
                  </a:txBody>
                  <a:tcPr marL="22860" marR="22860" marT="15240" marB="15240" anchor="ctr">
                    <a:lnL w="12700" cmpd="sng">
                      <a:noFill/>
                    </a:lnL>
                    <a:lnR w="12700" cmpd="sng">
                      <a:noFill/>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fr-CA" sz="1200" dirty="0">
                          <a:solidFill>
                            <a:schemeClr val="bg1"/>
                          </a:solidFill>
                          <a:effectLst/>
                          <a:latin typeface="+mn-lt"/>
                        </a:rPr>
                        <a:t>0$</a:t>
                      </a:r>
                      <a:endParaRPr lang="en-CA" sz="1200" dirty="0">
                        <a:solidFill>
                          <a:schemeClr val="bg1"/>
                        </a:solidFill>
                        <a:effectLst/>
                        <a:latin typeface="+mn-lt"/>
                      </a:endParaRPr>
                    </a:p>
                  </a:txBody>
                  <a:tcPr marL="22860" marR="22860" marT="15240" marB="15240" anchor="ctr">
                    <a:lnL w="12700" cmpd="sng">
                      <a:noFill/>
                    </a:lnL>
                    <a:lnR w="12700" cmpd="sng">
                      <a:noFill/>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1200" dirty="0">
                          <a:solidFill>
                            <a:schemeClr val="bg1"/>
                          </a:solidFill>
                          <a:effectLst/>
                          <a:latin typeface="+mn-lt"/>
                        </a:rPr>
                        <a:t>316  765$</a:t>
                      </a:r>
                      <a:endParaRPr lang="en-CA" sz="1200" dirty="0">
                        <a:solidFill>
                          <a:schemeClr val="bg1"/>
                        </a:solidFill>
                        <a:effectLst/>
                        <a:latin typeface="+mn-lt"/>
                      </a:endParaRP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1200" dirty="0">
                          <a:solidFill>
                            <a:schemeClr val="bg1"/>
                          </a:solidFill>
                          <a:effectLst/>
                          <a:latin typeface="+mn-lt"/>
                        </a:rPr>
                        <a:t>310 331$</a:t>
                      </a:r>
                      <a:endParaRPr lang="en-CA" sz="1200" dirty="0">
                        <a:solidFill>
                          <a:schemeClr val="bg1"/>
                        </a:solidFill>
                        <a:effectLst/>
                        <a:latin typeface="+mn-lt"/>
                      </a:endParaRP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1200" dirty="0">
                          <a:solidFill>
                            <a:schemeClr val="bg1"/>
                          </a:solidFill>
                          <a:effectLst/>
                          <a:latin typeface="+mn-lt"/>
                        </a:rPr>
                        <a:t>359 758$</a:t>
                      </a:r>
                      <a:endParaRPr lang="en-CA" sz="1200" dirty="0">
                        <a:solidFill>
                          <a:schemeClr val="bg1"/>
                        </a:solidFill>
                        <a:effectLst/>
                        <a:latin typeface="+mn-lt"/>
                      </a:endParaRP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58573881"/>
                  </a:ext>
                </a:extLst>
              </a:tr>
              <a:tr h="252000">
                <a:tc>
                  <a:txBody>
                    <a:bodyPr/>
                    <a:lstStyle/>
                    <a:p>
                      <a:pPr rtl="0" fontAlgn="b">
                        <a:buNone/>
                      </a:pPr>
                      <a:endParaRPr lang="en-CA" sz="1200" b="1" dirty="0">
                        <a:solidFill>
                          <a:srgbClr val="F8D956"/>
                        </a:solidFill>
                        <a:effectLst/>
                      </a:endParaRPr>
                    </a:p>
                  </a:txBody>
                  <a:tcPr marL="22860" marR="22860" marT="15240" marB="1524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endParaRPr lang="en-CA" sz="1200" dirty="0">
                        <a:solidFill>
                          <a:schemeClr val="bg1"/>
                        </a:solidFill>
                        <a:effectLst/>
                        <a:latin typeface="+mn-lt"/>
                      </a:endParaRPr>
                    </a:p>
                  </a:txBody>
                  <a:tcPr marL="22860" marR="22860" marT="15240" marB="1524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CA" sz="1200" dirty="0">
                        <a:solidFill>
                          <a:schemeClr val="bg1"/>
                        </a:solidFill>
                        <a:effectLst/>
                        <a:latin typeface="+mn-lt"/>
                      </a:endParaRPr>
                    </a:p>
                  </a:txBody>
                  <a:tcPr marL="0" marR="0" marT="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CA" sz="1200" dirty="0">
                        <a:solidFill>
                          <a:schemeClr val="bg1"/>
                        </a:solidFill>
                        <a:effectLst/>
                        <a:latin typeface="+mn-lt"/>
                      </a:endParaRPr>
                    </a:p>
                  </a:txBody>
                  <a:tcPr marL="0" marR="0" marT="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CA" sz="1200" dirty="0">
                        <a:solidFill>
                          <a:schemeClr val="bg1"/>
                        </a:solidFill>
                        <a:effectLst/>
                        <a:latin typeface="+mn-lt"/>
                      </a:endParaRPr>
                    </a:p>
                  </a:txBody>
                  <a:tcPr marL="0" marR="0" marT="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0087813"/>
                  </a:ext>
                </a:extLst>
              </a:tr>
              <a:tr h="252000">
                <a:tc>
                  <a:txBody>
                    <a:bodyPr/>
                    <a:lstStyle/>
                    <a:p>
                      <a:pPr rtl="0" fontAlgn="b">
                        <a:buNone/>
                      </a:pPr>
                      <a:r>
                        <a:rPr lang="fr-CA" sz="1200" b="1" dirty="0">
                          <a:solidFill>
                            <a:srgbClr val="F8D956"/>
                          </a:solidFill>
                          <a:effectLst/>
                        </a:rPr>
                        <a:t>Valeur de votre part dans le projet</a:t>
                      </a:r>
                    </a:p>
                    <a:p>
                      <a:pPr rtl="0" fontAlgn="b">
                        <a:buNone/>
                      </a:pPr>
                      <a:r>
                        <a:rPr lang="fr-CA" sz="1200" b="1" dirty="0">
                          <a:solidFill>
                            <a:srgbClr val="F8D956"/>
                          </a:solidFill>
                          <a:effectLst/>
                        </a:rPr>
                        <a:t> </a:t>
                      </a:r>
                      <a:r>
                        <a:rPr lang="fr-CA" sz="1200" b="0" dirty="0">
                          <a:solidFill>
                            <a:srgbClr val="F8D956"/>
                          </a:solidFill>
                          <a:effectLst/>
                        </a:rPr>
                        <a:t>(50% des parts)</a:t>
                      </a:r>
                      <a:endParaRPr lang="en-CA" sz="1200" b="1" dirty="0">
                        <a:solidFill>
                          <a:srgbClr val="F8D956"/>
                        </a:solidFill>
                        <a:effectLst/>
                      </a:endParaRPr>
                    </a:p>
                  </a:txBody>
                  <a:tcPr marL="22860" marR="22860" marT="15240" marB="15240" anchor="ctr">
                    <a:lnL w="12700" cmpd="sng">
                      <a:noFill/>
                    </a:lnL>
                    <a:lnR w="12700" cmpd="sng">
                      <a:noFill/>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fr-CA" sz="1200" dirty="0">
                          <a:solidFill>
                            <a:schemeClr val="bg1"/>
                          </a:solidFill>
                          <a:effectLst/>
                          <a:latin typeface="+mn-lt"/>
                        </a:rPr>
                        <a:t>300 000$</a:t>
                      </a:r>
                      <a:endParaRPr lang="en-CA" sz="1200" dirty="0">
                        <a:solidFill>
                          <a:schemeClr val="bg1"/>
                        </a:solidFill>
                        <a:effectLst/>
                        <a:latin typeface="+mn-lt"/>
                      </a:endParaRPr>
                    </a:p>
                  </a:txBody>
                  <a:tcPr marL="22860" marR="22860" marT="15240" marB="15240" anchor="ctr">
                    <a:lnL w="12700" cmpd="sng">
                      <a:noFill/>
                    </a:lnL>
                    <a:lnR w="12700" cmpd="sng">
                      <a:noFill/>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1200" dirty="0">
                          <a:solidFill>
                            <a:schemeClr val="bg1"/>
                          </a:solidFill>
                          <a:effectLst/>
                          <a:latin typeface="+mn-lt"/>
                        </a:rPr>
                        <a:t>250 104$</a:t>
                      </a:r>
                      <a:endParaRPr lang="en-CA" sz="1200" dirty="0">
                        <a:solidFill>
                          <a:schemeClr val="bg1"/>
                        </a:solidFill>
                        <a:effectLst/>
                        <a:latin typeface="+mn-lt"/>
                      </a:endParaRP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1200" dirty="0">
                          <a:solidFill>
                            <a:schemeClr val="bg1"/>
                          </a:solidFill>
                          <a:effectLst/>
                          <a:latin typeface="+mn-lt"/>
                        </a:rPr>
                        <a:t>289 939$</a:t>
                      </a:r>
                      <a:endParaRPr lang="en-CA" sz="1200" dirty="0">
                        <a:solidFill>
                          <a:schemeClr val="bg1"/>
                        </a:solidFill>
                        <a:effectLst/>
                        <a:latin typeface="+mn-lt"/>
                      </a:endParaRP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1200" dirty="0">
                          <a:solidFill>
                            <a:schemeClr val="bg1"/>
                          </a:solidFill>
                          <a:effectLst/>
                          <a:latin typeface="+mn-lt"/>
                        </a:rPr>
                        <a:t>336 119$</a:t>
                      </a:r>
                      <a:endParaRPr lang="en-CA" sz="1200" dirty="0">
                        <a:solidFill>
                          <a:schemeClr val="bg1"/>
                        </a:solidFill>
                        <a:effectLst/>
                        <a:latin typeface="+mn-lt"/>
                      </a:endParaRP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3328407"/>
                  </a:ext>
                </a:extLst>
              </a:tr>
              <a:tr h="252000">
                <a:tc>
                  <a:txBody>
                    <a:bodyPr/>
                    <a:lstStyle/>
                    <a:p>
                      <a:pPr rtl="0" fontAlgn="b">
                        <a:buNone/>
                      </a:pPr>
                      <a:endParaRPr lang="en-CA" sz="1200" b="1" dirty="0">
                        <a:solidFill>
                          <a:srgbClr val="F8D956"/>
                        </a:solidFill>
                        <a:effectLst/>
                      </a:endParaRPr>
                    </a:p>
                  </a:txBody>
                  <a:tcPr marL="22860" marR="22860" marT="15240" marB="1524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endParaRPr lang="en-CA" sz="1200" dirty="0">
                        <a:solidFill>
                          <a:schemeClr val="bg1"/>
                        </a:solidFill>
                        <a:effectLst/>
                        <a:latin typeface="+mn-lt"/>
                      </a:endParaRPr>
                    </a:p>
                  </a:txBody>
                  <a:tcPr marL="22860" marR="22860" marT="15240" marB="1524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CA" sz="1200" dirty="0">
                        <a:solidFill>
                          <a:schemeClr val="bg1"/>
                        </a:solidFill>
                        <a:effectLst/>
                        <a:latin typeface="+mn-lt"/>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CA" sz="1200" dirty="0">
                        <a:solidFill>
                          <a:schemeClr val="bg1"/>
                        </a:solidFill>
                        <a:effectLst/>
                        <a:latin typeface="+mn-lt"/>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CA" sz="1200" dirty="0">
                        <a:solidFill>
                          <a:schemeClr val="bg1"/>
                        </a:solidFill>
                        <a:effectLst/>
                        <a:latin typeface="+mn-lt"/>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55468578"/>
                  </a:ext>
                </a:extLst>
              </a:tr>
              <a:tr h="252000">
                <a:tc>
                  <a:txBody>
                    <a:bodyPr/>
                    <a:lstStyle/>
                    <a:p>
                      <a:pPr rtl="0" fontAlgn="b">
                        <a:buNone/>
                      </a:pPr>
                      <a:r>
                        <a:rPr lang="fr-CA" sz="1200" b="1" dirty="0">
                          <a:solidFill>
                            <a:srgbClr val="F8D956"/>
                          </a:solidFill>
                          <a:effectLst/>
                        </a:rPr>
                        <a:t>Patrimoine total </a:t>
                      </a:r>
                    </a:p>
                    <a:p>
                      <a:pPr rtl="0" fontAlgn="b">
                        <a:buNone/>
                      </a:pPr>
                      <a:r>
                        <a:rPr lang="fr-CA" sz="1200" b="0" dirty="0">
                          <a:solidFill>
                            <a:srgbClr val="F8D956"/>
                          </a:solidFill>
                          <a:effectLst/>
                        </a:rPr>
                        <a:t>(cash retourné + valeur de vos parts)</a:t>
                      </a:r>
                      <a:endParaRPr lang="en-CA" sz="1200" b="1" dirty="0">
                        <a:solidFill>
                          <a:srgbClr val="F8D956"/>
                        </a:solidFill>
                        <a:effectLst/>
                      </a:endParaRPr>
                    </a:p>
                  </a:txBody>
                  <a:tcPr marL="22860" marR="22860" marT="15240" marB="15240" anchor="ctr">
                    <a:lnL w="12700" cmpd="sng">
                      <a:noFill/>
                    </a:lnL>
                    <a:lnR w="12700" cmpd="sng">
                      <a:noFill/>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fr-CA" sz="1200" dirty="0">
                          <a:solidFill>
                            <a:schemeClr val="bg1"/>
                          </a:solidFill>
                          <a:effectLst/>
                          <a:latin typeface="+mn-lt"/>
                        </a:rPr>
                        <a:t>300 000$</a:t>
                      </a:r>
                      <a:endParaRPr lang="en-CA" sz="1200" dirty="0">
                        <a:solidFill>
                          <a:schemeClr val="bg1"/>
                        </a:solidFill>
                        <a:effectLst/>
                        <a:latin typeface="+mn-lt"/>
                      </a:endParaRPr>
                    </a:p>
                  </a:txBody>
                  <a:tcPr marL="22860" marR="22860" marT="15240" marB="15240" anchor="ctr">
                    <a:lnL w="12700" cmpd="sng">
                      <a:noFill/>
                    </a:lnL>
                    <a:lnR w="12700" cmpd="sng">
                      <a:noFill/>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1200" dirty="0">
                          <a:solidFill>
                            <a:schemeClr val="bg1"/>
                          </a:solidFill>
                          <a:effectLst/>
                          <a:latin typeface="+mn-lt"/>
                        </a:rPr>
                        <a:t>566 870$</a:t>
                      </a:r>
                      <a:endParaRPr lang="en-CA" sz="1200" dirty="0">
                        <a:solidFill>
                          <a:schemeClr val="bg1"/>
                        </a:solidFill>
                        <a:effectLst/>
                        <a:latin typeface="+mn-lt"/>
                      </a:endParaRP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1200" dirty="0">
                          <a:solidFill>
                            <a:schemeClr val="bg1"/>
                          </a:solidFill>
                          <a:effectLst/>
                          <a:latin typeface="+mn-lt"/>
                        </a:rPr>
                        <a:t>600 270$</a:t>
                      </a: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1200" dirty="0">
                          <a:solidFill>
                            <a:schemeClr val="bg1"/>
                          </a:solidFill>
                          <a:effectLst/>
                          <a:latin typeface="+mn-lt"/>
                        </a:rPr>
                        <a:t>695 878$</a:t>
                      </a: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92929033"/>
                  </a:ext>
                </a:extLst>
              </a:tr>
              <a:tr h="252000">
                <a:tc>
                  <a:txBody>
                    <a:bodyPr/>
                    <a:lstStyle/>
                    <a:p>
                      <a:pPr rtl="0" fontAlgn="b">
                        <a:buNone/>
                      </a:pPr>
                      <a:endParaRPr lang="en-CA" sz="1200" b="1" dirty="0">
                        <a:solidFill>
                          <a:srgbClr val="F8D956"/>
                        </a:solidFill>
                        <a:effectLst/>
                      </a:endParaRPr>
                    </a:p>
                  </a:txBody>
                  <a:tcPr marL="22860" marR="22860" marT="15240" marB="1524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endParaRPr lang="en-CA" sz="1200" dirty="0">
                        <a:solidFill>
                          <a:schemeClr val="bg1"/>
                        </a:solidFill>
                        <a:effectLst/>
                        <a:latin typeface="+mn-lt"/>
                      </a:endParaRPr>
                    </a:p>
                  </a:txBody>
                  <a:tcPr marL="22860" marR="22860" marT="15240" marB="1524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CA" sz="1200" dirty="0">
                        <a:solidFill>
                          <a:schemeClr val="bg1"/>
                        </a:solidFill>
                        <a:effectLst/>
                        <a:latin typeface="+mn-lt"/>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CA" sz="1200" dirty="0">
                        <a:solidFill>
                          <a:schemeClr val="bg1"/>
                        </a:solidFill>
                        <a:effectLst/>
                        <a:latin typeface="+mn-lt"/>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CA" sz="1200" dirty="0">
                        <a:solidFill>
                          <a:schemeClr val="bg1"/>
                        </a:solidFill>
                        <a:effectLst/>
                        <a:latin typeface="+mn-lt"/>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87307473"/>
                  </a:ext>
                </a:extLst>
              </a:tr>
              <a:tr h="252000">
                <a:tc>
                  <a:txBody>
                    <a:bodyPr/>
                    <a:lstStyle/>
                    <a:p>
                      <a:pPr rtl="0" fontAlgn="b">
                        <a:buNone/>
                      </a:pPr>
                      <a:r>
                        <a:rPr lang="fr-CA" sz="1200" b="1" dirty="0">
                          <a:solidFill>
                            <a:srgbClr val="F8D956"/>
                          </a:solidFill>
                          <a:effectLst/>
                        </a:rPr>
                        <a:t>Taux de rendement interne</a:t>
                      </a:r>
                    </a:p>
                    <a:p>
                      <a:pPr rtl="0" fontAlgn="b">
                        <a:buNone/>
                      </a:pPr>
                      <a:r>
                        <a:rPr lang="fr-CA" sz="1200" b="0" dirty="0">
                          <a:solidFill>
                            <a:srgbClr val="F8D956"/>
                          </a:solidFill>
                          <a:effectLst/>
                        </a:rPr>
                        <a:t>(TRI avec Horizon)</a:t>
                      </a:r>
                      <a:endParaRPr lang="en-CA" sz="1200" b="0" dirty="0">
                        <a:solidFill>
                          <a:srgbClr val="F8D956"/>
                        </a:solidFill>
                        <a:effectLst/>
                      </a:endParaRPr>
                    </a:p>
                  </a:txBody>
                  <a:tcPr marL="22860" marR="22860" marT="15240" marB="15240" anchor="ctr">
                    <a:lnL w="12700" cmpd="sng">
                      <a:noFill/>
                    </a:lnL>
                    <a:lnR w="12700" cmpd="sng">
                      <a:noFill/>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CA" sz="1200">
                          <a:solidFill>
                            <a:schemeClr val="bg1"/>
                          </a:solidFill>
                        </a:rPr>
                        <a:t>—</a:t>
                      </a:r>
                    </a:p>
                  </a:txBody>
                  <a:tcPr marL="22860" marR="22860" marT="15240" marB="15240" anchor="ctr">
                    <a:lnL w="12700" cmpd="sng">
                      <a:noFill/>
                    </a:lnL>
                    <a:lnR w="12700" cmpd="sng">
                      <a:noFill/>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1200" dirty="0">
                          <a:solidFill>
                            <a:schemeClr val="bg1"/>
                          </a:solidFill>
                          <a:effectLst/>
                          <a:latin typeface="+mn-lt"/>
                        </a:rPr>
                        <a:t>37,5%</a:t>
                      </a:r>
                      <a:endParaRPr lang="en-CA" sz="1200" dirty="0">
                        <a:solidFill>
                          <a:schemeClr val="bg1"/>
                        </a:solidFill>
                        <a:effectLst/>
                        <a:latin typeface="+mn-lt"/>
                      </a:endParaRP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1200" dirty="0">
                          <a:solidFill>
                            <a:schemeClr val="bg1"/>
                          </a:solidFill>
                          <a:effectLst/>
                          <a:latin typeface="+mn-lt"/>
                        </a:rPr>
                        <a:t>28,0%</a:t>
                      </a:r>
                      <a:endParaRPr lang="en-CA" sz="1200" dirty="0">
                        <a:solidFill>
                          <a:schemeClr val="bg1"/>
                        </a:solidFill>
                        <a:effectLst/>
                        <a:latin typeface="+mn-lt"/>
                      </a:endParaRP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1200" dirty="0">
                          <a:solidFill>
                            <a:schemeClr val="bg1"/>
                          </a:solidFill>
                          <a:effectLst/>
                          <a:latin typeface="+mn-lt"/>
                        </a:rPr>
                        <a:t>26,4%</a:t>
                      </a:r>
                      <a:endParaRPr lang="en-CA" sz="1200" dirty="0">
                        <a:solidFill>
                          <a:schemeClr val="bg1"/>
                        </a:solidFill>
                        <a:effectLst/>
                        <a:latin typeface="+mn-lt"/>
                      </a:endParaRP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86596031"/>
                  </a:ext>
                </a:extLst>
              </a:tr>
            </a:tbl>
          </a:graphicData>
        </a:graphic>
      </p:graphicFrame>
      <p:sp>
        <p:nvSpPr>
          <p:cNvPr id="2" name="Rectangle 1">
            <a:extLst>
              <a:ext uri="{FF2B5EF4-FFF2-40B4-BE49-F238E27FC236}">
                <a16:creationId xmlns:a16="http://schemas.microsoft.com/office/drawing/2014/main" id="{CA6429A0-31A1-7D6B-6D06-462E190F6D98}"/>
              </a:ext>
            </a:extLst>
          </p:cNvPr>
          <p:cNvSpPr/>
          <p:nvPr/>
        </p:nvSpPr>
        <p:spPr>
          <a:xfrm>
            <a:off x="7354198" y="1385131"/>
            <a:ext cx="1260000" cy="1080000"/>
          </a:xfrm>
          <a:prstGeom prst="rect">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6" name="Graphic 5" descr="Badge 7 outline">
            <a:extLst>
              <a:ext uri="{FF2B5EF4-FFF2-40B4-BE49-F238E27FC236}">
                <a16:creationId xmlns:a16="http://schemas.microsoft.com/office/drawing/2014/main" id="{91F40342-BF8A-2223-1D19-3CE086E54F87}"/>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7526997" y="1467931"/>
            <a:ext cx="914400" cy="914400"/>
          </a:xfrm>
          <a:prstGeom prst="rect">
            <a:avLst/>
          </a:prstGeom>
        </p:spPr>
      </p:pic>
      <p:sp>
        <p:nvSpPr>
          <p:cNvPr id="7" name="TextBox 6">
            <a:extLst>
              <a:ext uri="{FF2B5EF4-FFF2-40B4-BE49-F238E27FC236}">
                <a16:creationId xmlns:a16="http://schemas.microsoft.com/office/drawing/2014/main" id="{7018A231-2E42-B2E0-280A-913D2BE63EAD}"/>
              </a:ext>
            </a:extLst>
          </p:cNvPr>
          <p:cNvSpPr txBox="1"/>
          <p:nvPr/>
        </p:nvSpPr>
        <p:spPr>
          <a:xfrm>
            <a:off x="6444583" y="2547931"/>
            <a:ext cx="3079227" cy="338554"/>
          </a:xfrm>
          <a:prstGeom prst="rect">
            <a:avLst/>
          </a:prstGeom>
          <a:noFill/>
        </p:spPr>
        <p:txBody>
          <a:bodyPr wrap="square" rtlCol="0">
            <a:spAutoFit/>
          </a:bodyPr>
          <a:lstStyle/>
          <a:p>
            <a:pPr algn="ctr"/>
            <a:r>
              <a:rPr lang="fr-CA" sz="1600" b="1" dirty="0">
                <a:solidFill>
                  <a:srgbClr val="F8D956"/>
                </a:solidFill>
              </a:rPr>
              <a:t>Année 7</a:t>
            </a:r>
            <a:endParaRPr lang="en-CA" sz="1600" b="1" dirty="0">
              <a:solidFill>
                <a:srgbClr val="F8D956"/>
              </a:solidFill>
            </a:endParaRPr>
          </a:p>
        </p:txBody>
      </p:sp>
      <p:sp>
        <p:nvSpPr>
          <p:cNvPr id="4" name="Rectangle 3">
            <a:extLst>
              <a:ext uri="{FF2B5EF4-FFF2-40B4-BE49-F238E27FC236}">
                <a16:creationId xmlns:a16="http://schemas.microsoft.com/office/drawing/2014/main" id="{F6C5CF62-5382-7C2C-3A12-5BEC9B7EE904}"/>
              </a:ext>
            </a:extLst>
          </p:cNvPr>
          <p:cNvSpPr/>
          <p:nvPr/>
        </p:nvSpPr>
        <p:spPr>
          <a:xfrm>
            <a:off x="9523810" y="1385131"/>
            <a:ext cx="1260000" cy="1080000"/>
          </a:xfrm>
          <a:prstGeom prst="rect">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9" name="Graphic 8" descr="End outline">
            <a:extLst>
              <a:ext uri="{FF2B5EF4-FFF2-40B4-BE49-F238E27FC236}">
                <a16:creationId xmlns:a16="http://schemas.microsoft.com/office/drawing/2014/main" id="{E943A747-B984-1E5D-02F3-3634BE842417}"/>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9696609" y="1467931"/>
            <a:ext cx="914400" cy="914400"/>
          </a:xfrm>
          <a:prstGeom prst="rect">
            <a:avLst/>
          </a:prstGeom>
        </p:spPr>
      </p:pic>
      <p:sp>
        <p:nvSpPr>
          <p:cNvPr id="10" name="TextBox 9">
            <a:extLst>
              <a:ext uri="{FF2B5EF4-FFF2-40B4-BE49-F238E27FC236}">
                <a16:creationId xmlns:a16="http://schemas.microsoft.com/office/drawing/2014/main" id="{5C43379E-B063-09E7-FB24-732CA5655277}"/>
              </a:ext>
            </a:extLst>
          </p:cNvPr>
          <p:cNvSpPr txBox="1"/>
          <p:nvPr/>
        </p:nvSpPr>
        <p:spPr>
          <a:xfrm>
            <a:off x="8614195" y="2547931"/>
            <a:ext cx="3079227" cy="338554"/>
          </a:xfrm>
          <a:prstGeom prst="rect">
            <a:avLst/>
          </a:prstGeom>
          <a:noFill/>
        </p:spPr>
        <p:txBody>
          <a:bodyPr wrap="square" rtlCol="0">
            <a:spAutoFit/>
          </a:bodyPr>
          <a:lstStyle/>
          <a:p>
            <a:pPr algn="ctr"/>
            <a:r>
              <a:rPr lang="fr-CA" sz="1600" b="1" dirty="0">
                <a:solidFill>
                  <a:srgbClr val="F8D956"/>
                </a:solidFill>
              </a:rPr>
              <a:t>Année 12</a:t>
            </a:r>
            <a:endParaRPr lang="en-CA" sz="1600" b="1" dirty="0">
              <a:solidFill>
                <a:srgbClr val="F8D956"/>
              </a:solidFill>
            </a:endParaRPr>
          </a:p>
        </p:txBody>
      </p:sp>
      <p:pic>
        <p:nvPicPr>
          <p:cNvPr id="11" name="Graphic 10" descr="Stopwatch outline">
            <a:extLst>
              <a:ext uri="{FF2B5EF4-FFF2-40B4-BE49-F238E27FC236}">
                <a16:creationId xmlns:a16="http://schemas.microsoft.com/office/drawing/2014/main" id="{8BFBAF3E-4A45-9B33-9FB9-692CED101310}"/>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3207367" y="1467931"/>
            <a:ext cx="914400" cy="914400"/>
          </a:xfrm>
          <a:prstGeom prst="rect">
            <a:avLst/>
          </a:prstGeom>
        </p:spPr>
      </p:pic>
      <p:sp>
        <p:nvSpPr>
          <p:cNvPr id="12" name="TextBox 11">
            <a:extLst>
              <a:ext uri="{FF2B5EF4-FFF2-40B4-BE49-F238E27FC236}">
                <a16:creationId xmlns:a16="http://schemas.microsoft.com/office/drawing/2014/main" id="{2FA3F8F7-0E75-FD50-DEB5-FA368DF64697}"/>
              </a:ext>
            </a:extLst>
          </p:cNvPr>
          <p:cNvSpPr txBox="1"/>
          <p:nvPr/>
        </p:nvSpPr>
        <p:spPr>
          <a:xfrm>
            <a:off x="2124953" y="2547931"/>
            <a:ext cx="3079227" cy="584775"/>
          </a:xfrm>
          <a:prstGeom prst="rect">
            <a:avLst/>
          </a:prstGeom>
          <a:noFill/>
        </p:spPr>
        <p:txBody>
          <a:bodyPr wrap="square" rtlCol="0">
            <a:spAutoFit/>
          </a:bodyPr>
          <a:lstStyle/>
          <a:p>
            <a:pPr algn="ctr"/>
            <a:r>
              <a:rPr lang="fr-CA" sz="1600" b="1" dirty="0">
                <a:solidFill>
                  <a:srgbClr val="F8D956"/>
                </a:solidFill>
              </a:rPr>
              <a:t>Lancement</a:t>
            </a:r>
            <a:endParaRPr lang="en-CA" sz="1600" b="1" dirty="0">
              <a:solidFill>
                <a:srgbClr val="F8D956"/>
              </a:solidFill>
            </a:endParaRPr>
          </a:p>
          <a:p>
            <a:pPr algn="ctr"/>
            <a:endParaRPr lang="en-CA" sz="1600" b="1" dirty="0">
              <a:solidFill>
                <a:srgbClr val="F8D956"/>
              </a:solidFill>
            </a:endParaRPr>
          </a:p>
        </p:txBody>
      </p:sp>
    </p:spTree>
    <p:extLst>
      <p:ext uri="{BB962C8B-B14F-4D97-AF65-F5344CB8AC3E}">
        <p14:creationId xmlns:p14="http://schemas.microsoft.com/office/powerpoint/2010/main" val="29210775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a:extLst>
            <a:ext uri="{FF2B5EF4-FFF2-40B4-BE49-F238E27FC236}">
              <a16:creationId xmlns:a16="http://schemas.microsoft.com/office/drawing/2014/main" id="{7FBE544D-ADC8-23EB-C267-7DE81825ACAD}"/>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1CCD20C6-B129-9D48-3106-D36EF3FBC4F2}"/>
              </a:ext>
            </a:extLst>
          </p:cNvPr>
          <p:cNvSpPr txBox="1">
            <a:spLocks/>
          </p:cNvSpPr>
          <p:nvPr/>
        </p:nvSpPr>
        <p:spPr>
          <a:xfrm>
            <a:off x="791021" y="416577"/>
            <a:ext cx="7261157" cy="717279"/>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b="1" dirty="0">
                <a:solidFill>
                  <a:schemeClr val="bg1"/>
                </a:solidFill>
              </a:rPr>
              <a:t>TENDANCES — MONTRÉAL</a:t>
            </a:r>
            <a:endParaRPr lang="en-US" dirty="0"/>
          </a:p>
        </p:txBody>
      </p:sp>
      <p:sp>
        <p:nvSpPr>
          <p:cNvPr id="8" name="TextBox 7">
            <a:extLst>
              <a:ext uri="{FF2B5EF4-FFF2-40B4-BE49-F238E27FC236}">
                <a16:creationId xmlns:a16="http://schemas.microsoft.com/office/drawing/2014/main" id="{76EBBA46-A57B-5C21-F9EC-C08B526CAE66}"/>
              </a:ext>
            </a:extLst>
          </p:cNvPr>
          <p:cNvSpPr txBox="1"/>
          <p:nvPr/>
        </p:nvSpPr>
        <p:spPr>
          <a:xfrm>
            <a:off x="184326" y="6476025"/>
            <a:ext cx="596347" cy="276999"/>
          </a:xfrm>
          <a:prstGeom prst="rect">
            <a:avLst/>
          </a:prstGeom>
          <a:noFill/>
        </p:spPr>
        <p:txBody>
          <a:bodyPr wrap="square" rtlCol="0">
            <a:spAutoFit/>
          </a:bodyPr>
          <a:lstStyle/>
          <a:p>
            <a:r>
              <a:rPr lang="fr-CA" sz="1200" dirty="0">
                <a:solidFill>
                  <a:schemeClr val="bg1"/>
                </a:solidFill>
              </a:rPr>
              <a:t>12</a:t>
            </a:r>
            <a:endParaRPr lang="en-CA" sz="1200" dirty="0">
              <a:solidFill>
                <a:schemeClr val="bg1"/>
              </a:solidFill>
            </a:endParaRPr>
          </a:p>
        </p:txBody>
      </p:sp>
      <p:sp>
        <p:nvSpPr>
          <p:cNvPr id="24" name="Rectangle 23">
            <a:extLst>
              <a:ext uri="{FF2B5EF4-FFF2-40B4-BE49-F238E27FC236}">
                <a16:creationId xmlns:a16="http://schemas.microsoft.com/office/drawing/2014/main" id="{A35C0671-0B24-2EEA-982D-11100A2115AA}"/>
              </a:ext>
            </a:extLst>
          </p:cNvPr>
          <p:cNvSpPr/>
          <p:nvPr/>
        </p:nvSpPr>
        <p:spPr>
          <a:xfrm>
            <a:off x="895060" y="971550"/>
            <a:ext cx="1929109" cy="85725"/>
          </a:xfrm>
          <a:prstGeom prst="rect">
            <a:avLst/>
          </a:prstGeom>
          <a:solidFill>
            <a:srgbClr val="F8D95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noFill/>
            </a:endParaRPr>
          </a:p>
        </p:txBody>
      </p:sp>
      <p:pic>
        <p:nvPicPr>
          <p:cNvPr id="2" name="Picture 1">
            <a:extLst>
              <a:ext uri="{FF2B5EF4-FFF2-40B4-BE49-F238E27FC236}">
                <a16:creationId xmlns:a16="http://schemas.microsoft.com/office/drawing/2014/main" id="{A7509DEB-1C21-3C24-066C-90CEB7ED9E2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188861" y="6031860"/>
            <a:ext cx="998416" cy="998416"/>
          </a:xfrm>
          <a:prstGeom prst="rect">
            <a:avLst/>
          </a:prstGeom>
        </p:spPr>
      </p:pic>
      <p:sp>
        <p:nvSpPr>
          <p:cNvPr id="15" name="TextBox 14">
            <a:extLst>
              <a:ext uri="{FF2B5EF4-FFF2-40B4-BE49-F238E27FC236}">
                <a16:creationId xmlns:a16="http://schemas.microsoft.com/office/drawing/2014/main" id="{E7CAF93F-F1AB-7AD2-4AD5-D2EBAE4955F3}"/>
              </a:ext>
            </a:extLst>
          </p:cNvPr>
          <p:cNvSpPr txBox="1"/>
          <p:nvPr/>
        </p:nvSpPr>
        <p:spPr>
          <a:xfrm>
            <a:off x="1452617" y="2066296"/>
            <a:ext cx="4852166" cy="307777"/>
          </a:xfrm>
          <a:prstGeom prst="rect">
            <a:avLst/>
          </a:prstGeom>
          <a:noFill/>
        </p:spPr>
        <p:txBody>
          <a:bodyPr wrap="square" rtlCol="0">
            <a:spAutoFit/>
          </a:bodyPr>
          <a:lstStyle/>
          <a:p>
            <a:pPr algn="ctr"/>
            <a:r>
              <a:rPr lang="fr-CA" sz="1400" b="1" dirty="0">
                <a:solidFill>
                  <a:srgbClr val="F8D956"/>
                </a:solidFill>
              </a:rPr>
              <a:t>Moyenne locative actuelle du quartier</a:t>
            </a:r>
            <a:endParaRPr lang="en-CA" sz="1400" b="1" dirty="0">
              <a:solidFill>
                <a:srgbClr val="F8D956"/>
              </a:solidFill>
            </a:endParaRPr>
          </a:p>
        </p:txBody>
      </p:sp>
      <p:graphicFrame>
        <p:nvGraphicFramePr>
          <p:cNvPr id="21" name="Chart 20">
            <a:extLst>
              <a:ext uri="{FF2B5EF4-FFF2-40B4-BE49-F238E27FC236}">
                <a16:creationId xmlns:a16="http://schemas.microsoft.com/office/drawing/2014/main" id="{4C624E22-A2A6-B6F2-E267-1A8F83949C5E}"/>
              </a:ext>
            </a:extLst>
          </p:cNvPr>
          <p:cNvGraphicFramePr/>
          <p:nvPr>
            <p:extLst>
              <p:ext uri="{D42A27DB-BD31-4B8C-83A1-F6EECF244321}">
                <p14:modId xmlns:p14="http://schemas.microsoft.com/office/powerpoint/2010/main" val="2679884980"/>
              </p:ext>
            </p:extLst>
          </p:nvPr>
        </p:nvGraphicFramePr>
        <p:xfrm>
          <a:off x="7272842" y="2395018"/>
          <a:ext cx="3202609" cy="2269114"/>
        </p:xfrm>
        <a:graphic>
          <a:graphicData uri="http://schemas.openxmlformats.org/drawingml/2006/chart">
            <c:chart xmlns:c="http://schemas.openxmlformats.org/drawingml/2006/chart" xmlns:r="http://schemas.openxmlformats.org/officeDocument/2006/relationships" r:id="rId3"/>
          </a:graphicData>
        </a:graphic>
      </p:graphicFrame>
      <p:sp>
        <p:nvSpPr>
          <p:cNvPr id="26" name="TextBox 25">
            <a:extLst>
              <a:ext uri="{FF2B5EF4-FFF2-40B4-BE49-F238E27FC236}">
                <a16:creationId xmlns:a16="http://schemas.microsoft.com/office/drawing/2014/main" id="{518E405E-7681-027E-F663-26D06C0EC75E}"/>
              </a:ext>
            </a:extLst>
          </p:cNvPr>
          <p:cNvSpPr txBox="1"/>
          <p:nvPr/>
        </p:nvSpPr>
        <p:spPr>
          <a:xfrm>
            <a:off x="2587685" y="4851190"/>
            <a:ext cx="2582029" cy="215444"/>
          </a:xfrm>
          <a:prstGeom prst="rect">
            <a:avLst/>
          </a:prstGeom>
          <a:noFill/>
        </p:spPr>
        <p:txBody>
          <a:bodyPr wrap="square" rtlCol="0">
            <a:spAutoFit/>
          </a:bodyPr>
          <a:lstStyle/>
          <a:p>
            <a:pPr algn="ctr"/>
            <a:r>
              <a:rPr lang="fr-FR" sz="800" i="1" dirty="0" err="1">
                <a:solidFill>
                  <a:schemeClr val="bg1"/>
                </a:solidFill>
              </a:rPr>
              <a:t>Zipplex</a:t>
            </a:r>
            <a:r>
              <a:rPr lang="fr-FR" sz="800" i="1" dirty="0">
                <a:solidFill>
                  <a:schemeClr val="bg1"/>
                </a:solidFill>
              </a:rPr>
              <a:t>, données Q2 2026 — secteur Hochelaga</a:t>
            </a:r>
            <a:endParaRPr lang="en-CA" sz="800" i="1" dirty="0">
              <a:solidFill>
                <a:schemeClr val="bg1"/>
              </a:solidFill>
            </a:endParaRPr>
          </a:p>
        </p:txBody>
      </p:sp>
      <p:sp>
        <p:nvSpPr>
          <p:cNvPr id="28" name="Speech Bubble: Oval 27">
            <a:extLst>
              <a:ext uri="{FF2B5EF4-FFF2-40B4-BE49-F238E27FC236}">
                <a16:creationId xmlns:a16="http://schemas.microsoft.com/office/drawing/2014/main" id="{99CC2492-8F25-8491-04F5-7DB996235820}"/>
              </a:ext>
            </a:extLst>
          </p:cNvPr>
          <p:cNvSpPr/>
          <p:nvPr/>
        </p:nvSpPr>
        <p:spPr>
          <a:xfrm>
            <a:off x="10526812" y="3207474"/>
            <a:ext cx="874930" cy="546424"/>
          </a:xfrm>
          <a:prstGeom prst="wedgeEllipseCallout">
            <a:avLst>
              <a:gd name="adj1" fmla="val -59931"/>
              <a:gd name="adj2" fmla="val 28790"/>
            </a:avLst>
          </a:prstGeom>
          <a:solidFill>
            <a:srgbClr val="F8D956">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1200" dirty="0"/>
              <a:t>+800$</a:t>
            </a:r>
            <a:endParaRPr lang="en-CA" sz="1200" dirty="0"/>
          </a:p>
        </p:txBody>
      </p:sp>
      <p:pic>
        <p:nvPicPr>
          <p:cNvPr id="4" name="Picture 3">
            <a:extLst>
              <a:ext uri="{FF2B5EF4-FFF2-40B4-BE49-F238E27FC236}">
                <a16:creationId xmlns:a16="http://schemas.microsoft.com/office/drawing/2014/main" id="{C3E45C3A-F456-ABE2-F62E-7D515F59CEF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5490" y="2450654"/>
            <a:ext cx="6326421" cy="2371360"/>
          </a:xfrm>
          <a:prstGeom prst="rect">
            <a:avLst/>
          </a:prstGeom>
        </p:spPr>
      </p:pic>
    </p:spTree>
    <p:extLst>
      <p:ext uri="{BB962C8B-B14F-4D97-AF65-F5344CB8AC3E}">
        <p14:creationId xmlns:p14="http://schemas.microsoft.com/office/powerpoint/2010/main" val="31872190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a:extLst>
            <a:ext uri="{FF2B5EF4-FFF2-40B4-BE49-F238E27FC236}">
              <a16:creationId xmlns:a16="http://schemas.microsoft.com/office/drawing/2014/main" id="{C7EED7F6-1F7F-0FD9-5046-73BCA3177D3E}"/>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613DCD9F-CB8E-B39D-F5E9-B4C4A3D2C619}"/>
              </a:ext>
            </a:extLst>
          </p:cNvPr>
          <p:cNvSpPr txBox="1">
            <a:spLocks/>
          </p:cNvSpPr>
          <p:nvPr/>
        </p:nvSpPr>
        <p:spPr>
          <a:xfrm>
            <a:off x="791021" y="416577"/>
            <a:ext cx="7261157" cy="717279"/>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b="1" dirty="0">
                <a:solidFill>
                  <a:schemeClr val="bg1"/>
                </a:solidFill>
              </a:rPr>
              <a:t>VALEUR AJOUTÉE POUR L’INVESTISSEUR</a:t>
            </a:r>
            <a:endParaRPr lang="en-US" dirty="0"/>
          </a:p>
        </p:txBody>
      </p:sp>
      <p:sp>
        <p:nvSpPr>
          <p:cNvPr id="8" name="TextBox 7">
            <a:extLst>
              <a:ext uri="{FF2B5EF4-FFF2-40B4-BE49-F238E27FC236}">
                <a16:creationId xmlns:a16="http://schemas.microsoft.com/office/drawing/2014/main" id="{7CA8C5E6-46C9-BC50-110C-241BA380E64D}"/>
              </a:ext>
            </a:extLst>
          </p:cNvPr>
          <p:cNvSpPr txBox="1"/>
          <p:nvPr/>
        </p:nvSpPr>
        <p:spPr>
          <a:xfrm>
            <a:off x="184326" y="6476025"/>
            <a:ext cx="596347" cy="276999"/>
          </a:xfrm>
          <a:prstGeom prst="rect">
            <a:avLst/>
          </a:prstGeom>
          <a:noFill/>
        </p:spPr>
        <p:txBody>
          <a:bodyPr wrap="square" rtlCol="0">
            <a:spAutoFit/>
          </a:bodyPr>
          <a:lstStyle/>
          <a:p>
            <a:r>
              <a:rPr lang="fr-CA" sz="1200" dirty="0">
                <a:solidFill>
                  <a:schemeClr val="bg1"/>
                </a:solidFill>
              </a:rPr>
              <a:t>13</a:t>
            </a:r>
            <a:endParaRPr lang="en-CA" sz="1200" dirty="0">
              <a:solidFill>
                <a:schemeClr val="bg1"/>
              </a:solidFill>
            </a:endParaRPr>
          </a:p>
        </p:txBody>
      </p:sp>
      <p:sp>
        <p:nvSpPr>
          <p:cNvPr id="24" name="Rectangle 23">
            <a:extLst>
              <a:ext uri="{FF2B5EF4-FFF2-40B4-BE49-F238E27FC236}">
                <a16:creationId xmlns:a16="http://schemas.microsoft.com/office/drawing/2014/main" id="{0A5442D8-1B74-7604-A36F-44A93635A26A}"/>
              </a:ext>
            </a:extLst>
          </p:cNvPr>
          <p:cNvSpPr/>
          <p:nvPr/>
        </p:nvSpPr>
        <p:spPr>
          <a:xfrm>
            <a:off x="895060" y="971550"/>
            <a:ext cx="1929109" cy="85725"/>
          </a:xfrm>
          <a:prstGeom prst="rect">
            <a:avLst/>
          </a:prstGeom>
          <a:solidFill>
            <a:srgbClr val="F8D95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noFill/>
            </a:endParaRPr>
          </a:p>
        </p:txBody>
      </p:sp>
      <p:pic>
        <p:nvPicPr>
          <p:cNvPr id="6" name="Picture 5">
            <a:extLst>
              <a:ext uri="{FF2B5EF4-FFF2-40B4-BE49-F238E27FC236}">
                <a16:creationId xmlns:a16="http://schemas.microsoft.com/office/drawing/2014/main" id="{272E6352-B0C6-0655-60AC-F7D056BF256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188861" y="6031860"/>
            <a:ext cx="998416" cy="998416"/>
          </a:xfrm>
          <a:prstGeom prst="rect">
            <a:avLst/>
          </a:prstGeom>
        </p:spPr>
      </p:pic>
      <p:graphicFrame>
        <p:nvGraphicFramePr>
          <p:cNvPr id="7" name="Chart 6">
            <a:extLst>
              <a:ext uri="{FF2B5EF4-FFF2-40B4-BE49-F238E27FC236}">
                <a16:creationId xmlns:a16="http://schemas.microsoft.com/office/drawing/2014/main" id="{91A36AE8-3B7E-F3C5-FEE4-A6E90269CFC5}"/>
              </a:ext>
            </a:extLst>
          </p:cNvPr>
          <p:cNvGraphicFramePr/>
          <p:nvPr>
            <p:extLst>
              <p:ext uri="{D42A27DB-BD31-4B8C-83A1-F6EECF244321}">
                <p14:modId xmlns:p14="http://schemas.microsoft.com/office/powerpoint/2010/main" val="3255023725"/>
              </p:ext>
            </p:extLst>
          </p:nvPr>
        </p:nvGraphicFramePr>
        <p:xfrm>
          <a:off x="3803622" y="2633339"/>
          <a:ext cx="4584756" cy="3288176"/>
        </p:xfrm>
        <a:graphic>
          <a:graphicData uri="http://schemas.openxmlformats.org/drawingml/2006/chart">
            <c:chart xmlns:c="http://schemas.openxmlformats.org/drawingml/2006/chart" xmlns:r="http://schemas.openxmlformats.org/officeDocument/2006/relationships" r:id="rId3"/>
          </a:graphicData>
        </a:graphic>
      </p:graphicFrame>
      <p:pic>
        <p:nvPicPr>
          <p:cNvPr id="10" name="Graphic 9" descr="Hierarchy outline">
            <a:extLst>
              <a:ext uri="{FF2B5EF4-FFF2-40B4-BE49-F238E27FC236}">
                <a16:creationId xmlns:a16="http://schemas.microsoft.com/office/drawing/2014/main" id="{C4C09FF4-F4FD-318A-2E08-A1B50A38B1A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02904" y="4333492"/>
            <a:ext cx="540000" cy="540000"/>
          </a:xfrm>
          <a:prstGeom prst="rect">
            <a:avLst/>
          </a:prstGeom>
        </p:spPr>
      </p:pic>
      <p:pic>
        <p:nvPicPr>
          <p:cNvPr id="21" name="Graphic 20" descr="Vacation outline">
            <a:extLst>
              <a:ext uri="{FF2B5EF4-FFF2-40B4-BE49-F238E27FC236}">
                <a16:creationId xmlns:a16="http://schemas.microsoft.com/office/drawing/2014/main" id="{E79D7BFC-D441-D386-D50B-C4E03C41082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748280" y="4328174"/>
            <a:ext cx="540000" cy="540000"/>
          </a:xfrm>
          <a:prstGeom prst="rect">
            <a:avLst/>
          </a:prstGeom>
        </p:spPr>
      </p:pic>
      <p:pic>
        <p:nvPicPr>
          <p:cNvPr id="31" name="Graphic 30" descr="Document outline">
            <a:extLst>
              <a:ext uri="{FF2B5EF4-FFF2-40B4-BE49-F238E27FC236}">
                <a16:creationId xmlns:a16="http://schemas.microsoft.com/office/drawing/2014/main" id="{E555C23F-AEDB-9202-6851-D8965FE42AA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902904" y="2865143"/>
            <a:ext cx="540000" cy="540000"/>
          </a:xfrm>
          <a:prstGeom prst="rect">
            <a:avLst/>
          </a:prstGeom>
        </p:spPr>
      </p:pic>
      <p:pic>
        <p:nvPicPr>
          <p:cNvPr id="35" name="Graphic 34" descr="Contract outline">
            <a:extLst>
              <a:ext uri="{FF2B5EF4-FFF2-40B4-BE49-F238E27FC236}">
                <a16:creationId xmlns:a16="http://schemas.microsoft.com/office/drawing/2014/main" id="{BFE6B6CB-E14B-8602-2C84-D7A498B5C02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749096" y="2865143"/>
            <a:ext cx="540000" cy="540000"/>
          </a:xfrm>
          <a:prstGeom prst="rect">
            <a:avLst/>
          </a:prstGeom>
        </p:spPr>
      </p:pic>
      <p:pic>
        <p:nvPicPr>
          <p:cNvPr id="39" name="Graphic 38" descr="Linear Graph outline">
            <a:extLst>
              <a:ext uri="{FF2B5EF4-FFF2-40B4-BE49-F238E27FC236}">
                <a16:creationId xmlns:a16="http://schemas.microsoft.com/office/drawing/2014/main" id="{AB31DD13-A77F-1B0E-7925-73200843B56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903720" y="1360076"/>
            <a:ext cx="540000" cy="540000"/>
          </a:xfrm>
          <a:prstGeom prst="rect">
            <a:avLst/>
          </a:prstGeom>
        </p:spPr>
      </p:pic>
      <p:pic>
        <p:nvPicPr>
          <p:cNvPr id="41" name="Graphic 40" descr="Daily calendar outline">
            <a:extLst>
              <a:ext uri="{FF2B5EF4-FFF2-40B4-BE49-F238E27FC236}">
                <a16:creationId xmlns:a16="http://schemas.microsoft.com/office/drawing/2014/main" id="{67391555-FBA6-9E03-49A8-9B4A7C63E0C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748280" y="1360076"/>
            <a:ext cx="540000" cy="540000"/>
          </a:xfrm>
          <a:prstGeom prst="rect">
            <a:avLst/>
          </a:prstGeom>
        </p:spPr>
      </p:pic>
      <p:pic>
        <p:nvPicPr>
          <p:cNvPr id="43" name="Graphic 42" descr="Building outline">
            <a:extLst>
              <a:ext uri="{FF2B5EF4-FFF2-40B4-BE49-F238E27FC236}">
                <a16:creationId xmlns:a16="http://schemas.microsoft.com/office/drawing/2014/main" id="{05A12BF7-8206-28A0-9506-C1F10AE46F67}"/>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833338" y="1360076"/>
            <a:ext cx="540000" cy="540000"/>
          </a:xfrm>
          <a:prstGeom prst="rect">
            <a:avLst/>
          </a:prstGeom>
        </p:spPr>
      </p:pic>
      <p:sp>
        <p:nvSpPr>
          <p:cNvPr id="44" name="TextBox 43">
            <a:extLst>
              <a:ext uri="{FF2B5EF4-FFF2-40B4-BE49-F238E27FC236}">
                <a16:creationId xmlns:a16="http://schemas.microsoft.com/office/drawing/2014/main" id="{15602913-FA84-3BF0-0075-3E0F9A6EEA34}"/>
              </a:ext>
            </a:extLst>
          </p:cNvPr>
          <p:cNvSpPr txBox="1">
            <a:spLocks/>
          </p:cNvSpPr>
          <p:nvPr/>
        </p:nvSpPr>
        <p:spPr>
          <a:xfrm>
            <a:off x="579096" y="1874862"/>
            <a:ext cx="2880000"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dirty="0">
                <a:ln>
                  <a:noFill/>
                </a:ln>
                <a:solidFill>
                  <a:srgbClr val="F8D956"/>
                </a:solidFill>
                <a:effectLst/>
                <a:uLnTx/>
                <a:uFillTx/>
                <a:latin typeface="Aptos" panose="02110004020202020204"/>
                <a:ea typeface="+mn-ea"/>
                <a:cs typeface="+mn-cs"/>
              </a:rPr>
              <a:t>Capital récupéré</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dirty="0">
                <a:ln>
                  <a:noFill/>
                </a:ln>
                <a:solidFill>
                  <a:prstClr val="white"/>
                </a:solidFill>
                <a:effectLst/>
                <a:uLnTx/>
                <a:uFillTx/>
                <a:latin typeface="Aptos" panose="02110004020202020204"/>
                <a:ea typeface="+mn-ea"/>
                <a:cs typeface="+mn-cs"/>
              </a:rPr>
              <a:t>Votre mise initiale est récupérée lors du refinancement, tout en conservant votre part du projet.</a:t>
            </a:r>
            <a:endParaRPr kumimoji="0" lang="fr-CA" sz="10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48" name="TextBox 47">
            <a:extLst>
              <a:ext uri="{FF2B5EF4-FFF2-40B4-BE49-F238E27FC236}">
                <a16:creationId xmlns:a16="http://schemas.microsoft.com/office/drawing/2014/main" id="{597FDBC6-A429-82F9-1A93-A3A63B0F21F0}"/>
              </a:ext>
            </a:extLst>
          </p:cNvPr>
          <p:cNvSpPr txBox="1">
            <a:spLocks/>
          </p:cNvSpPr>
          <p:nvPr/>
        </p:nvSpPr>
        <p:spPr>
          <a:xfrm>
            <a:off x="4267338" y="1867119"/>
            <a:ext cx="3672000" cy="55399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dirty="0">
                <a:ln>
                  <a:noFill/>
                </a:ln>
                <a:solidFill>
                  <a:srgbClr val="F8D956"/>
                </a:solidFill>
                <a:effectLst/>
                <a:uLnTx/>
                <a:uFillTx/>
                <a:latin typeface="Aptos" panose="02110004020202020204"/>
                <a:ea typeface="+mn-ea"/>
                <a:cs typeface="+mn-cs"/>
              </a:rPr>
              <a:t>Un actif autonome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dirty="0">
                <a:ln>
                  <a:noFill/>
                </a:ln>
                <a:solidFill>
                  <a:prstClr val="white"/>
                </a:solidFill>
                <a:effectLst/>
                <a:uLnTx/>
                <a:uFillTx/>
                <a:latin typeface="Aptos" panose="02110004020202020204"/>
                <a:ea typeface="+mn-ea"/>
                <a:cs typeface="+mn-cs"/>
              </a:rPr>
              <a:t>Après 2 ans, l’immeuble s’autofinance entièrement et continue de prendre de la valeur avec le temps.</a:t>
            </a:r>
            <a:endParaRPr kumimoji="0" lang="fr-CA" sz="10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49" name="TextBox 48">
            <a:extLst>
              <a:ext uri="{FF2B5EF4-FFF2-40B4-BE49-F238E27FC236}">
                <a16:creationId xmlns:a16="http://schemas.microsoft.com/office/drawing/2014/main" id="{F652F0D5-4C6A-E716-4629-7B5AFB2D841C}"/>
              </a:ext>
            </a:extLst>
          </p:cNvPr>
          <p:cNvSpPr txBox="1">
            <a:spLocks/>
          </p:cNvSpPr>
          <p:nvPr/>
        </p:nvSpPr>
        <p:spPr>
          <a:xfrm>
            <a:off x="8732904" y="1872843"/>
            <a:ext cx="2880000" cy="55399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dirty="0">
                <a:ln>
                  <a:noFill/>
                </a:ln>
                <a:solidFill>
                  <a:srgbClr val="F8D956"/>
                </a:solidFill>
                <a:effectLst/>
                <a:uLnTx/>
                <a:uFillTx/>
                <a:latin typeface="Aptos" panose="02110004020202020204"/>
                <a:ea typeface="+mn-ea"/>
                <a:cs typeface="+mn-cs"/>
              </a:rPr>
              <a:t>Croissance du patrimoine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dirty="0">
                <a:ln>
                  <a:noFill/>
                </a:ln>
                <a:solidFill>
                  <a:prstClr val="white"/>
                </a:solidFill>
                <a:effectLst/>
                <a:uLnTx/>
                <a:uFillTx/>
                <a:latin typeface="Aptos" panose="02110004020202020204"/>
                <a:ea typeface="+mn-ea"/>
                <a:cs typeface="+mn-cs"/>
              </a:rPr>
              <a:t>Vous profitez de la création de valeur sans avoir à gérer les opérations quotidiennes.</a:t>
            </a:r>
            <a:endParaRPr kumimoji="0" lang="fr-CA" sz="10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50" name="TextBox 49">
            <a:extLst>
              <a:ext uri="{FF2B5EF4-FFF2-40B4-BE49-F238E27FC236}">
                <a16:creationId xmlns:a16="http://schemas.microsoft.com/office/drawing/2014/main" id="{FDBF75E6-A8D2-55D3-226C-EE255EE6F900}"/>
              </a:ext>
            </a:extLst>
          </p:cNvPr>
          <p:cNvSpPr txBox="1">
            <a:spLocks/>
          </p:cNvSpPr>
          <p:nvPr/>
        </p:nvSpPr>
        <p:spPr>
          <a:xfrm>
            <a:off x="579096" y="3368174"/>
            <a:ext cx="2880000" cy="55399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dirty="0">
                <a:ln>
                  <a:noFill/>
                </a:ln>
                <a:solidFill>
                  <a:srgbClr val="F8D956"/>
                </a:solidFill>
                <a:effectLst/>
                <a:uLnTx/>
                <a:uFillTx/>
                <a:latin typeface="Aptos" panose="02110004020202020204"/>
                <a:ea typeface="+mn-ea"/>
                <a:cs typeface="+mn-cs"/>
              </a:rPr>
              <a:t>Protection légale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dirty="0">
                <a:ln>
                  <a:noFill/>
                </a:ln>
                <a:solidFill>
                  <a:prstClr val="white"/>
                </a:solidFill>
                <a:effectLst/>
                <a:uLnTx/>
                <a:uFillTx/>
                <a:latin typeface="Aptos" panose="02110004020202020204"/>
                <a:ea typeface="+mn-ea"/>
                <a:cs typeface="+mn-cs"/>
              </a:rPr>
              <a:t>Une convention d’actionnaires rédigée par avocat encadre le projet et sécurise vos intérêts.</a:t>
            </a:r>
            <a:endParaRPr kumimoji="0" lang="fr-CA" sz="10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51" name="TextBox 50">
            <a:extLst>
              <a:ext uri="{FF2B5EF4-FFF2-40B4-BE49-F238E27FC236}">
                <a16:creationId xmlns:a16="http://schemas.microsoft.com/office/drawing/2014/main" id="{03F83199-F1BB-1A2A-0C47-4C270FD12128}"/>
              </a:ext>
            </a:extLst>
          </p:cNvPr>
          <p:cNvSpPr txBox="1">
            <a:spLocks/>
          </p:cNvSpPr>
          <p:nvPr/>
        </p:nvSpPr>
        <p:spPr>
          <a:xfrm>
            <a:off x="8732904" y="3368174"/>
            <a:ext cx="2880000" cy="55399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dirty="0">
                <a:ln>
                  <a:noFill/>
                </a:ln>
                <a:solidFill>
                  <a:srgbClr val="F8D956"/>
                </a:solidFill>
                <a:effectLst/>
                <a:uLnTx/>
                <a:uFillTx/>
                <a:latin typeface="Aptos" panose="02110004020202020204"/>
                <a:ea typeface="+mn-ea"/>
                <a:cs typeface="+mn-cs"/>
              </a:rPr>
              <a:t>Suivi mensuel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dirty="0">
                <a:ln>
                  <a:noFill/>
                </a:ln>
                <a:solidFill>
                  <a:prstClr val="white"/>
                </a:solidFill>
                <a:effectLst/>
                <a:uLnTx/>
                <a:uFillTx/>
                <a:latin typeface="Aptos" panose="02110004020202020204"/>
                <a:ea typeface="+mn-ea"/>
                <a:cs typeface="+mn-cs"/>
              </a:rPr>
              <a:t>Recevez chaque mois un rapport clair sur l’avancement, les finances et les étapes clés.</a:t>
            </a:r>
            <a:endParaRPr kumimoji="0" lang="fr-CA" sz="10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52" name="TextBox 51">
            <a:extLst>
              <a:ext uri="{FF2B5EF4-FFF2-40B4-BE49-F238E27FC236}">
                <a16:creationId xmlns:a16="http://schemas.microsoft.com/office/drawing/2014/main" id="{F417E020-253E-DE51-EDEC-11E1146AFF4D}"/>
              </a:ext>
            </a:extLst>
          </p:cNvPr>
          <p:cNvSpPr txBox="1">
            <a:spLocks/>
          </p:cNvSpPr>
          <p:nvPr/>
        </p:nvSpPr>
        <p:spPr>
          <a:xfrm>
            <a:off x="8732904" y="4845203"/>
            <a:ext cx="2880000" cy="55399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dirty="0">
                <a:ln>
                  <a:noFill/>
                </a:ln>
                <a:solidFill>
                  <a:srgbClr val="F8D956"/>
                </a:solidFill>
                <a:effectLst/>
                <a:uLnTx/>
                <a:uFillTx/>
                <a:latin typeface="Aptos" panose="02110004020202020204"/>
                <a:ea typeface="+mn-ea"/>
                <a:cs typeface="+mn-cs"/>
              </a:rPr>
              <a:t>Accès privilégié</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dirty="0">
                <a:ln>
                  <a:noFill/>
                </a:ln>
                <a:solidFill>
                  <a:prstClr val="white"/>
                </a:solidFill>
                <a:effectLst/>
                <a:uLnTx/>
                <a:uFillTx/>
                <a:latin typeface="Aptos" panose="02110004020202020204"/>
                <a:ea typeface="+mn-ea"/>
                <a:cs typeface="+mn-cs"/>
              </a:rPr>
              <a:t>Bénéficiez d’opportunités exclusives et d’un effet de levier collectif à long terme.</a:t>
            </a:r>
            <a:endParaRPr kumimoji="0" lang="fr-CA" sz="10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53" name="TextBox 52">
            <a:extLst>
              <a:ext uri="{FF2B5EF4-FFF2-40B4-BE49-F238E27FC236}">
                <a16:creationId xmlns:a16="http://schemas.microsoft.com/office/drawing/2014/main" id="{628579E8-CB2D-AE42-0D6F-54B87CB861F1}"/>
              </a:ext>
            </a:extLst>
          </p:cNvPr>
          <p:cNvSpPr txBox="1">
            <a:spLocks/>
          </p:cNvSpPr>
          <p:nvPr/>
        </p:nvSpPr>
        <p:spPr>
          <a:xfrm>
            <a:off x="579096" y="4845203"/>
            <a:ext cx="2880000" cy="55399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dirty="0">
                <a:ln>
                  <a:noFill/>
                </a:ln>
                <a:solidFill>
                  <a:srgbClr val="F8D956"/>
                </a:solidFill>
                <a:effectLst/>
                <a:uLnTx/>
                <a:uFillTx/>
                <a:latin typeface="Aptos" panose="02110004020202020204"/>
                <a:ea typeface="+mn-ea"/>
                <a:cs typeface="+mn-cs"/>
              </a:rPr>
              <a:t>Investissement 100 % passif</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dirty="0">
                <a:ln>
                  <a:noFill/>
                </a:ln>
                <a:solidFill>
                  <a:prstClr val="white"/>
                </a:solidFill>
                <a:effectLst/>
                <a:uLnTx/>
                <a:uFillTx/>
                <a:latin typeface="Aptos" panose="02110004020202020204"/>
                <a:ea typeface="+mn-ea"/>
                <a:cs typeface="+mn-cs"/>
              </a:rPr>
              <a:t>Nous gérons chaque aspect du projet — vous récoltez les bénéfices, sans effort.</a:t>
            </a:r>
            <a:endParaRPr kumimoji="0" lang="fr-CA" sz="10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55" name="Speech Bubble: Oval 54">
            <a:extLst>
              <a:ext uri="{FF2B5EF4-FFF2-40B4-BE49-F238E27FC236}">
                <a16:creationId xmlns:a16="http://schemas.microsoft.com/office/drawing/2014/main" id="{AED8811E-8669-78FC-3914-C525590A14D3}"/>
              </a:ext>
            </a:extLst>
          </p:cNvPr>
          <p:cNvSpPr/>
          <p:nvPr/>
        </p:nvSpPr>
        <p:spPr>
          <a:xfrm>
            <a:off x="5686971" y="3261400"/>
            <a:ext cx="1231944" cy="276318"/>
          </a:xfrm>
          <a:prstGeom prst="wedgeEllipseCallout">
            <a:avLst>
              <a:gd name="adj1" fmla="val 10556"/>
              <a:gd name="adj2" fmla="val 75393"/>
            </a:avLst>
          </a:prstGeom>
          <a:solidFill>
            <a:srgbClr val="F8D956">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800" dirty="0"/>
              <a:t>Refinancement</a:t>
            </a:r>
            <a:endParaRPr lang="en-CA" sz="800" dirty="0"/>
          </a:p>
        </p:txBody>
      </p:sp>
    </p:spTree>
    <p:extLst>
      <p:ext uri="{BB962C8B-B14F-4D97-AF65-F5344CB8AC3E}">
        <p14:creationId xmlns:p14="http://schemas.microsoft.com/office/powerpoint/2010/main" val="34504553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a:extLst>
            <a:ext uri="{FF2B5EF4-FFF2-40B4-BE49-F238E27FC236}">
              <a16:creationId xmlns:a16="http://schemas.microsoft.com/office/drawing/2014/main" id="{49D8E50E-42B0-0B8B-0362-C34DA365B30F}"/>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FC392D19-5DF3-5C8E-3A7D-48851871A77E}"/>
              </a:ext>
            </a:extLst>
          </p:cNvPr>
          <p:cNvSpPr txBox="1">
            <a:spLocks/>
          </p:cNvSpPr>
          <p:nvPr/>
        </p:nvSpPr>
        <p:spPr>
          <a:xfrm>
            <a:off x="791021" y="416577"/>
            <a:ext cx="7261157" cy="717279"/>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b="1" dirty="0">
                <a:solidFill>
                  <a:schemeClr val="bg1"/>
                </a:solidFill>
              </a:rPr>
              <a:t>RISQUES &amp; STRATÉGIES D’ATTÉNUATION</a:t>
            </a:r>
            <a:endParaRPr lang="en-US" dirty="0"/>
          </a:p>
        </p:txBody>
      </p:sp>
      <p:sp>
        <p:nvSpPr>
          <p:cNvPr id="8" name="TextBox 7">
            <a:extLst>
              <a:ext uri="{FF2B5EF4-FFF2-40B4-BE49-F238E27FC236}">
                <a16:creationId xmlns:a16="http://schemas.microsoft.com/office/drawing/2014/main" id="{D05EA654-DE71-7373-7F85-540D06BD85CA}"/>
              </a:ext>
            </a:extLst>
          </p:cNvPr>
          <p:cNvSpPr txBox="1"/>
          <p:nvPr/>
        </p:nvSpPr>
        <p:spPr>
          <a:xfrm>
            <a:off x="184326" y="6476025"/>
            <a:ext cx="596347" cy="276999"/>
          </a:xfrm>
          <a:prstGeom prst="rect">
            <a:avLst/>
          </a:prstGeom>
          <a:noFill/>
        </p:spPr>
        <p:txBody>
          <a:bodyPr wrap="square" rtlCol="0">
            <a:spAutoFit/>
          </a:bodyPr>
          <a:lstStyle/>
          <a:p>
            <a:r>
              <a:rPr lang="fr-CA" sz="1200" dirty="0">
                <a:solidFill>
                  <a:schemeClr val="bg1"/>
                </a:solidFill>
              </a:rPr>
              <a:t>14</a:t>
            </a:r>
            <a:endParaRPr lang="en-CA" sz="1200" dirty="0">
              <a:solidFill>
                <a:schemeClr val="bg1"/>
              </a:solidFill>
            </a:endParaRPr>
          </a:p>
        </p:txBody>
      </p:sp>
      <p:sp>
        <p:nvSpPr>
          <p:cNvPr id="24" name="Rectangle 23">
            <a:extLst>
              <a:ext uri="{FF2B5EF4-FFF2-40B4-BE49-F238E27FC236}">
                <a16:creationId xmlns:a16="http://schemas.microsoft.com/office/drawing/2014/main" id="{6B9D39DC-360F-868A-8D54-7B107C3224B2}"/>
              </a:ext>
            </a:extLst>
          </p:cNvPr>
          <p:cNvSpPr/>
          <p:nvPr/>
        </p:nvSpPr>
        <p:spPr>
          <a:xfrm>
            <a:off x="895060" y="971550"/>
            <a:ext cx="1929109" cy="85725"/>
          </a:xfrm>
          <a:prstGeom prst="rect">
            <a:avLst/>
          </a:prstGeom>
          <a:solidFill>
            <a:srgbClr val="F8D95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noFill/>
            </a:endParaRPr>
          </a:p>
        </p:txBody>
      </p:sp>
      <p:graphicFrame>
        <p:nvGraphicFramePr>
          <p:cNvPr id="3" name="Table 2">
            <a:extLst>
              <a:ext uri="{FF2B5EF4-FFF2-40B4-BE49-F238E27FC236}">
                <a16:creationId xmlns:a16="http://schemas.microsoft.com/office/drawing/2014/main" id="{54D27F02-AFEB-C4A6-8A00-20D958E24628}"/>
              </a:ext>
            </a:extLst>
          </p:cNvPr>
          <p:cNvGraphicFramePr>
            <a:graphicFrameLocks noGrp="1"/>
          </p:cNvGraphicFramePr>
          <p:nvPr>
            <p:extLst>
              <p:ext uri="{D42A27DB-BD31-4B8C-83A1-F6EECF244321}">
                <p14:modId xmlns:p14="http://schemas.microsoft.com/office/powerpoint/2010/main" val="748251122"/>
              </p:ext>
            </p:extLst>
          </p:nvPr>
        </p:nvGraphicFramePr>
        <p:xfrm>
          <a:off x="4184261" y="2069566"/>
          <a:ext cx="6834582" cy="2477040"/>
        </p:xfrm>
        <a:graphic>
          <a:graphicData uri="http://schemas.openxmlformats.org/drawingml/2006/table">
            <a:tbl>
              <a:tblPr firstRow="1" bandRow="1">
                <a:tableStyleId>{5C22544A-7EE6-4342-B048-85BDC9FD1C3A}</a:tableStyleId>
              </a:tblPr>
              <a:tblGrid>
                <a:gridCol w="2278194">
                  <a:extLst>
                    <a:ext uri="{9D8B030D-6E8A-4147-A177-3AD203B41FA5}">
                      <a16:colId xmlns:a16="http://schemas.microsoft.com/office/drawing/2014/main" val="4106015061"/>
                    </a:ext>
                  </a:extLst>
                </a:gridCol>
                <a:gridCol w="2278194">
                  <a:extLst>
                    <a:ext uri="{9D8B030D-6E8A-4147-A177-3AD203B41FA5}">
                      <a16:colId xmlns:a16="http://schemas.microsoft.com/office/drawing/2014/main" val="370342451"/>
                    </a:ext>
                  </a:extLst>
                </a:gridCol>
                <a:gridCol w="2278194">
                  <a:extLst>
                    <a:ext uri="{9D8B030D-6E8A-4147-A177-3AD203B41FA5}">
                      <a16:colId xmlns:a16="http://schemas.microsoft.com/office/drawing/2014/main" val="1972732275"/>
                    </a:ext>
                  </a:extLst>
                </a:gridCol>
              </a:tblGrid>
              <a:tr h="252000">
                <a:tc gridSpan="3">
                  <a:txBody>
                    <a:bodyPr/>
                    <a:lstStyle/>
                    <a:p>
                      <a:pPr algn="ctr"/>
                      <a:r>
                        <a:rPr lang="fr-FR" sz="1000" b="1" dirty="0">
                          <a:solidFill>
                            <a:schemeClr val="tx1"/>
                          </a:solidFill>
                        </a:rPr>
                        <a:t>Principaux risques opérationnels et financiers</a:t>
                      </a:r>
                      <a:endParaRPr lang="en-CA" sz="1000" b="1" dirty="0">
                        <a:solidFill>
                          <a:schemeClr val="tx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8D956"/>
                    </a:solidFill>
                  </a:tcPr>
                </a:tc>
                <a:tc hMerge="1">
                  <a:txBody>
                    <a:bodyPr/>
                    <a:lstStyle/>
                    <a:p>
                      <a:pPr algn="ctr"/>
                      <a:endParaRPr lang="en-CA" sz="1000" b="1" dirty="0">
                        <a:solidFill>
                          <a:schemeClr val="tx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8D956"/>
                    </a:solidFill>
                  </a:tcPr>
                </a:tc>
                <a:tc hMerge="1">
                  <a:txBody>
                    <a:bodyPr/>
                    <a:lstStyle/>
                    <a:p>
                      <a:pPr algn="ctr"/>
                      <a:endParaRPr lang="en-CA" sz="1000" b="1" dirty="0">
                        <a:solidFill>
                          <a:schemeClr val="tx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8D956"/>
                    </a:solidFill>
                  </a:tcPr>
                </a:tc>
                <a:extLst>
                  <a:ext uri="{0D108BD9-81ED-4DB2-BD59-A6C34878D82A}">
                    <a16:rowId xmlns:a16="http://schemas.microsoft.com/office/drawing/2014/main" val="3874908426"/>
                  </a:ext>
                </a:extLst>
              </a:tr>
              <a:tr h="0">
                <a:tc>
                  <a:txBody>
                    <a:bodyPr/>
                    <a:lstStyle/>
                    <a:p>
                      <a:pPr algn="ctr"/>
                      <a:r>
                        <a:rPr lang="fr-CA" sz="1000" b="1" dirty="0">
                          <a:solidFill>
                            <a:schemeClr val="bg1"/>
                          </a:solidFill>
                        </a:rPr>
                        <a:t>Risque identifié</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8D956">
                        <a:alpha val="10000"/>
                      </a:srgbClr>
                    </a:solidFill>
                  </a:tcPr>
                </a:tc>
                <a:tc>
                  <a:txBody>
                    <a:bodyPr/>
                    <a:lstStyle/>
                    <a:p>
                      <a:pPr algn="ctr"/>
                      <a:r>
                        <a:rPr lang="fr-CA" sz="1000" b="1" dirty="0">
                          <a:solidFill>
                            <a:schemeClr val="bg1"/>
                          </a:solidFill>
                        </a:rPr>
                        <a:t>Impact potentiel</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8D956">
                        <a:alpha val="10000"/>
                      </a:srgbClr>
                    </a:solidFill>
                  </a:tcPr>
                </a:tc>
                <a:tc>
                  <a:txBody>
                    <a:bodyPr/>
                    <a:lstStyle/>
                    <a:p>
                      <a:pPr algn="ctr"/>
                      <a:r>
                        <a:rPr lang="fr-CA" sz="1000" b="1" dirty="0">
                          <a:solidFill>
                            <a:schemeClr val="bg1"/>
                          </a:solidFill>
                        </a:rPr>
                        <a:t>Stratégie d’atténuation</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8D956">
                        <a:alpha val="10000"/>
                      </a:srgbClr>
                    </a:solidFill>
                  </a:tcPr>
                </a:tc>
                <a:extLst>
                  <a:ext uri="{0D108BD9-81ED-4DB2-BD59-A6C34878D82A}">
                    <a16:rowId xmlns:a16="http://schemas.microsoft.com/office/drawing/2014/main" val="4216211834"/>
                  </a:ext>
                </a:extLst>
              </a:tr>
              <a:tr h="252000">
                <a:tc>
                  <a:txBody>
                    <a:bodyPr/>
                    <a:lstStyle/>
                    <a:p>
                      <a:r>
                        <a:rPr lang="en-CA" sz="1000" dirty="0"/>
                        <a:t>💰</a:t>
                      </a:r>
                      <a:r>
                        <a:rPr lang="fr-CA" sz="1000" dirty="0">
                          <a:solidFill>
                            <a:schemeClr val="bg1"/>
                          </a:solidFill>
                        </a:rPr>
                        <a:t>Hausse des taux d’intérêt</a:t>
                      </a:r>
                    </a:p>
                  </a:txBody>
                  <a:tcPr anchor="ctr">
                    <a:lnL w="12700" cmpd="sng">
                      <a:noFill/>
                    </a:lnL>
                    <a:lnR w="12700" cmpd="sng">
                      <a:noFill/>
                    </a:lnR>
                    <a:lnT w="381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CA" sz="1000" dirty="0">
                          <a:solidFill>
                            <a:schemeClr val="bg1"/>
                          </a:solidFill>
                        </a:rPr>
                        <a:t>Moins de levier au refinancement</a:t>
                      </a:r>
                    </a:p>
                  </a:txBody>
                  <a:tcPr anchor="ctr">
                    <a:lnL w="12700" cmpd="sng">
                      <a:noFill/>
                    </a:lnL>
                    <a:lnR w="12700" cmpd="sng">
                      <a:noFill/>
                    </a:lnR>
                    <a:lnT w="381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CA" sz="1000" dirty="0">
                          <a:solidFill>
                            <a:schemeClr val="bg1"/>
                          </a:solidFill>
                        </a:rPr>
                        <a:t>Marges de manœuvre suffisantes dégagées lors de l’optimisation</a:t>
                      </a:r>
                    </a:p>
                  </a:txBody>
                  <a:tcPr anchor="ctr">
                    <a:lnL w="12700" cmpd="sng">
                      <a:noFill/>
                    </a:lnL>
                    <a:lnR w="12700" cmpd="sng">
                      <a:noFill/>
                    </a:lnR>
                    <a:lnT w="381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37654459"/>
                  </a:ext>
                </a:extLst>
              </a:tr>
              <a:tr h="252000">
                <a:tc>
                  <a:txBody>
                    <a:bodyPr/>
                    <a:lstStyle/>
                    <a:p>
                      <a:r>
                        <a:rPr lang="en-CA" sz="1000" dirty="0"/>
                        <a:t>🏠</a:t>
                      </a:r>
                      <a:r>
                        <a:rPr lang="fr-CA" sz="1000" dirty="0">
                          <a:solidFill>
                            <a:schemeClr val="bg1"/>
                          </a:solidFill>
                        </a:rPr>
                        <a:t>Vacance locative temporaire</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CA" sz="1000" dirty="0">
                          <a:solidFill>
                            <a:schemeClr val="bg1"/>
                          </a:solidFill>
                        </a:rPr>
                        <a:t>Cashflow temporairement réduit</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FR" sz="1000" dirty="0">
                          <a:solidFill>
                            <a:schemeClr val="bg1"/>
                          </a:solidFill>
                        </a:rPr>
                        <a:t>Fonds de roulement prévu + quartier à forte demande</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66100639"/>
                  </a:ext>
                </a:extLst>
              </a:tr>
              <a:tr h="252000">
                <a:tc>
                  <a:txBody>
                    <a:bodyPr/>
                    <a:lstStyle/>
                    <a:p>
                      <a:r>
                        <a:rPr lang="en-CA" sz="1000" dirty="0"/>
                        <a:t>🔧</a:t>
                      </a:r>
                      <a:r>
                        <a:rPr lang="fr-CA" sz="1000" dirty="0">
                          <a:solidFill>
                            <a:schemeClr val="bg1"/>
                          </a:solidFill>
                        </a:rPr>
                        <a:t>Hausse des coûts de matériaux</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dirty="0">
                          <a:solidFill>
                            <a:schemeClr val="bg1"/>
                          </a:solidFill>
                        </a:rPr>
                        <a:t>Dépassement de budget</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solidFill>
                            <a:schemeClr val="bg1"/>
                          </a:solidFill>
                        </a:rPr>
                        <a:t>Gestionnaire de projet dédié + marge de contingence </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9859489"/>
                  </a:ext>
                </a:extLst>
              </a:tr>
              <a:tr h="252000">
                <a:tc>
                  <a:txBody>
                    <a:bodyPr/>
                    <a:lstStyle/>
                    <a:p>
                      <a:r>
                        <a:rPr kumimoji="0" lang="fr-FR" sz="1000" b="0" i="0" u="none" strike="noStrike" kern="1200" cap="none" spc="0" normalizeH="0" baseline="0" noProof="0" dirty="0">
                          <a:ln>
                            <a:noFill/>
                          </a:ln>
                          <a:solidFill>
                            <a:prstClr val="white"/>
                          </a:solidFill>
                          <a:effectLst/>
                          <a:uLnTx/>
                          <a:uFillTx/>
                          <a:latin typeface="+mn-lt"/>
                          <a:ea typeface="+mn-ea"/>
                          <a:cs typeface="+mn-cs"/>
                        </a:rPr>
                        <a:t>🏗️</a:t>
                      </a:r>
                      <a:r>
                        <a:rPr lang="fr-CA" sz="1000" dirty="0">
                          <a:solidFill>
                            <a:schemeClr val="bg1"/>
                          </a:solidFill>
                        </a:rPr>
                        <a:t>Imprévus structurels (majeurs)</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CA" sz="1000" dirty="0">
                          <a:solidFill>
                            <a:schemeClr val="bg1"/>
                          </a:solidFill>
                        </a:rPr>
                        <a:t>Coût imprévu sur le CAPEX</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CA" sz="1000" dirty="0">
                          <a:solidFill>
                            <a:schemeClr val="bg1"/>
                          </a:solidFill>
                        </a:rPr>
                        <a:t>Inspection préachat complète + budget préventif intégré</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2659583"/>
                  </a:ext>
                </a:extLst>
              </a:tr>
              <a:tr h="252000">
                <a:tc>
                  <a:txBody>
                    <a:bodyPr/>
                    <a:lstStyle/>
                    <a:p>
                      <a:r>
                        <a:rPr lang="en-CA" sz="1000" dirty="0"/>
                        <a:t>📄</a:t>
                      </a:r>
                      <a:r>
                        <a:rPr lang="fr-CA" sz="1000" dirty="0">
                          <a:solidFill>
                            <a:schemeClr val="bg1"/>
                          </a:solidFill>
                        </a:rPr>
                        <a:t>Refus au refinancement SCHL</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CA" sz="1000" dirty="0">
                          <a:solidFill>
                            <a:schemeClr val="bg1"/>
                          </a:solidFill>
                        </a:rPr>
                        <a:t>Ralentissement du cycle BRRRR</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FR" sz="1000" dirty="0">
                          <a:solidFill>
                            <a:schemeClr val="bg1"/>
                          </a:solidFill>
                        </a:rPr>
                        <a:t>Plan B établi : refinancement conventionnel ou vente</a:t>
                      </a:r>
                      <a:endParaRPr lang="en-CA" sz="1000" dirty="0">
                        <a:solidFill>
                          <a:schemeClr val="bg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69556268"/>
                  </a:ext>
                </a:extLst>
              </a:tr>
            </a:tbl>
          </a:graphicData>
        </a:graphic>
      </p:graphicFrame>
      <p:pic>
        <p:nvPicPr>
          <p:cNvPr id="6" name="Picture 5">
            <a:extLst>
              <a:ext uri="{FF2B5EF4-FFF2-40B4-BE49-F238E27FC236}">
                <a16:creationId xmlns:a16="http://schemas.microsoft.com/office/drawing/2014/main" id="{3221CC30-9C86-6EE0-10BE-B9F73E4A838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188861" y="6031860"/>
            <a:ext cx="998416" cy="998416"/>
          </a:xfrm>
          <a:prstGeom prst="rect">
            <a:avLst/>
          </a:prstGeom>
        </p:spPr>
      </p:pic>
      <p:sp>
        <p:nvSpPr>
          <p:cNvPr id="2" name="TextBox 1">
            <a:extLst>
              <a:ext uri="{FF2B5EF4-FFF2-40B4-BE49-F238E27FC236}">
                <a16:creationId xmlns:a16="http://schemas.microsoft.com/office/drawing/2014/main" id="{355B0EAF-D19C-C9BE-4FA4-5107E889B142}"/>
              </a:ext>
            </a:extLst>
          </p:cNvPr>
          <p:cNvSpPr txBox="1"/>
          <p:nvPr/>
        </p:nvSpPr>
        <p:spPr>
          <a:xfrm>
            <a:off x="823911" y="1267739"/>
            <a:ext cx="11005297" cy="523220"/>
          </a:xfrm>
          <a:prstGeom prst="rect">
            <a:avLst/>
          </a:prstGeom>
          <a:noFill/>
        </p:spPr>
        <p:txBody>
          <a:bodyPr wrap="square" rtlCol="0">
            <a:spAutoFit/>
          </a:bodyPr>
          <a:lstStyle/>
          <a:p>
            <a:r>
              <a:rPr lang="fr-FR" sz="1400" dirty="0">
                <a:solidFill>
                  <a:schemeClr val="bg1"/>
                </a:solidFill>
              </a:rPr>
              <a:t>Nous considérons la gestion du risque comme une composante essentielle de la création de valeur. Chez Horizon, chaque projet est structuré pour résister aux variations du marché et protéger le rendement de nos partenaires.</a:t>
            </a:r>
            <a:endParaRPr lang="en-CA" sz="1400" dirty="0">
              <a:solidFill>
                <a:schemeClr val="bg1"/>
              </a:solidFill>
            </a:endParaRPr>
          </a:p>
        </p:txBody>
      </p:sp>
      <p:sp>
        <p:nvSpPr>
          <p:cNvPr id="4" name="Oval 3">
            <a:extLst>
              <a:ext uri="{FF2B5EF4-FFF2-40B4-BE49-F238E27FC236}">
                <a16:creationId xmlns:a16="http://schemas.microsoft.com/office/drawing/2014/main" id="{CA688EF3-EF22-DD44-8DCE-6B3EAC5B0415}"/>
              </a:ext>
            </a:extLst>
          </p:cNvPr>
          <p:cNvSpPr/>
          <p:nvPr/>
        </p:nvSpPr>
        <p:spPr>
          <a:xfrm>
            <a:off x="875720" y="2232754"/>
            <a:ext cx="720000" cy="720000"/>
          </a:xfrm>
          <a:prstGeom prst="ellipse">
            <a:avLst/>
          </a:prstGeom>
          <a:noFill/>
          <a:ln>
            <a:solidFill>
              <a:srgbClr val="F8D95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7" name="Graphic 6" descr="Coins outline">
            <a:extLst>
              <a:ext uri="{FF2B5EF4-FFF2-40B4-BE49-F238E27FC236}">
                <a16:creationId xmlns:a16="http://schemas.microsoft.com/office/drawing/2014/main" id="{5054FD54-94DA-180F-1E6E-D3CEC478B7B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83720" y="2340754"/>
            <a:ext cx="504000" cy="504000"/>
          </a:xfrm>
          <a:prstGeom prst="rect">
            <a:avLst/>
          </a:prstGeom>
        </p:spPr>
      </p:pic>
      <p:pic>
        <p:nvPicPr>
          <p:cNvPr id="9" name="Graphic 8" descr="Money outline">
            <a:extLst>
              <a:ext uri="{FF2B5EF4-FFF2-40B4-BE49-F238E27FC236}">
                <a16:creationId xmlns:a16="http://schemas.microsoft.com/office/drawing/2014/main" id="{E8CCE4A5-D4A1-5907-B0F7-92578717B4F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0494" y="3578342"/>
            <a:ext cx="504000" cy="504000"/>
          </a:xfrm>
          <a:prstGeom prst="rect">
            <a:avLst/>
          </a:prstGeom>
        </p:spPr>
      </p:pic>
      <p:sp>
        <p:nvSpPr>
          <p:cNvPr id="10" name="Oval 9">
            <a:extLst>
              <a:ext uri="{FF2B5EF4-FFF2-40B4-BE49-F238E27FC236}">
                <a16:creationId xmlns:a16="http://schemas.microsoft.com/office/drawing/2014/main" id="{63E7CDA3-97BD-E47E-EC6C-6C36F16F9C64}"/>
              </a:ext>
            </a:extLst>
          </p:cNvPr>
          <p:cNvSpPr/>
          <p:nvPr/>
        </p:nvSpPr>
        <p:spPr>
          <a:xfrm>
            <a:off x="875720" y="3470342"/>
            <a:ext cx="720000" cy="720000"/>
          </a:xfrm>
          <a:prstGeom prst="ellipse">
            <a:avLst/>
          </a:prstGeom>
          <a:noFill/>
          <a:ln>
            <a:solidFill>
              <a:srgbClr val="F8D95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 name="TextBox 10">
            <a:extLst>
              <a:ext uri="{FF2B5EF4-FFF2-40B4-BE49-F238E27FC236}">
                <a16:creationId xmlns:a16="http://schemas.microsoft.com/office/drawing/2014/main" id="{0A026FAC-AC83-67DF-4A80-4E1293334369}"/>
              </a:ext>
            </a:extLst>
          </p:cNvPr>
          <p:cNvSpPr txBox="1"/>
          <p:nvPr/>
        </p:nvSpPr>
        <p:spPr>
          <a:xfrm>
            <a:off x="1710494" y="3676453"/>
            <a:ext cx="2063859" cy="523220"/>
          </a:xfrm>
          <a:prstGeom prst="rect">
            <a:avLst/>
          </a:prstGeom>
          <a:noFill/>
        </p:spPr>
        <p:txBody>
          <a:bodyPr wrap="square" rtlCol="0">
            <a:spAutoFit/>
          </a:bodyPr>
          <a:lstStyle/>
          <a:p>
            <a:pPr algn="ctr"/>
            <a:r>
              <a:rPr lang="fr-CA" sz="1400" b="1" dirty="0">
                <a:solidFill>
                  <a:srgbClr val="F8D956"/>
                </a:solidFill>
              </a:rPr>
              <a:t>Fonds de roulement </a:t>
            </a:r>
          </a:p>
          <a:p>
            <a:pPr algn="ctr"/>
            <a:r>
              <a:rPr lang="fr-CA" sz="1400" b="1" dirty="0">
                <a:solidFill>
                  <a:schemeClr val="bg1"/>
                </a:solidFill>
              </a:rPr>
              <a:t>4 mois</a:t>
            </a:r>
            <a:endParaRPr lang="en-CA" sz="1400" b="1" dirty="0">
              <a:solidFill>
                <a:schemeClr val="bg1"/>
              </a:solidFill>
            </a:endParaRPr>
          </a:p>
        </p:txBody>
      </p:sp>
      <p:sp>
        <p:nvSpPr>
          <p:cNvPr id="21" name="TextBox 20">
            <a:extLst>
              <a:ext uri="{FF2B5EF4-FFF2-40B4-BE49-F238E27FC236}">
                <a16:creationId xmlns:a16="http://schemas.microsoft.com/office/drawing/2014/main" id="{9AA67831-1D48-D2AF-952B-1F32770B929F}"/>
              </a:ext>
            </a:extLst>
          </p:cNvPr>
          <p:cNvSpPr txBox="1"/>
          <p:nvPr/>
        </p:nvSpPr>
        <p:spPr>
          <a:xfrm>
            <a:off x="1710494" y="2438865"/>
            <a:ext cx="2063859" cy="523220"/>
          </a:xfrm>
          <a:prstGeom prst="rect">
            <a:avLst/>
          </a:prstGeom>
          <a:noFill/>
        </p:spPr>
        <p:txBody>
          <a:bodyPr wrap="square" rtlCol="0">
            <a:spAutoFit/>
          </a:bodyPr>
          <a:lstStyle/>
          <a:p>
            <a:pPr algn="ctr"/>
            <a:r>
              <a:rPr lang="fr-CA" sz="1400" b="1" dirty="0">
                <a:solidFill>
                  <a:srgbClr val="F8D956"/>
                </a:solidFill>
              </a:rPr>
              <a:t>Marge de contingence </a:t>
            </a:r>
            <a:r>
              <a:rPr lang="fr-CA" sz="1400" b="1" dirty="0">
                <a:solidFill>
                  <a:schemeClr val="bg1"/>
                </a:solidFill>
              </a:rPr>
              <a:t>10%</a:t>
            </a:r>
            <a:endParaRPr lang="en-CA" sz="1400" b="1" dirty="0">
              <a:solidFill>
                <a:schemeClr val="bg1"/>
              </a:solidFill>
            </a:endParaRPr>
          </a:p>
        </p:txBody>
      </p:sp>
      <p:cxnSp>
        <p:nvCxnSpPr>
          <p:cNvPr id="22" name="Straight Connector 21">
            <a:extLst>
              <a:ext uri="{FF2B5EF4-FFF2-40B4-BE49-F238E27FC236}">
                <a16:creationId xmlns:a16="http://schemas.microsoft.com/office/drawing/2014/main" id="{9149C59C-CE8D-06E7-8D21-53C791BD30D8}"/>
              </a:ext>
            </a:extLst>
          </p:cNvPr>
          <p:cNvCxnSpPr>
            <a:cxnSpLocks/>
          </p:cNvCxnSpPr>
          <p:nvPr/>
        </p:nvCxnSpPr>
        <p:spPr>
          <a:xfrm>
            <a:off x="2191710" y="4966705"/>
            <a:ext cx="7808581" cy="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B4702E77-4BB2-D91B-6288-51DEBC437921}"/>
              </a:ext>
            </a:extLst>
          </p:cNvPr>
          <p:cNvSpPr txBox="1"/>
          <p:nvPr/>
        </p:nvSpPr>
        <p:spPr>
          <a:xfrm>
            <a:off x="1480886" y="5260974"/>
            <a:ext cx="9230229" cy="461665"/>
          </a:xfrm>
          <a:prstGeom prst="rect">
            <a:avLst/>
          </a:prstGeom>
          <a:noFill/>
        </p:spPr>
        <p:txBody>
          <a:bodyPr wrap="square" rtlCol="0">
            <a:spAutoFit/>
          </a:bodyPr>
          <a:lstStyle/>
          <a:p>
            <a:pPr algn="ctr"/>
            <a:r>
              <a:rPr lang="fr-CA" sz="1400" b="1" dirty="0">
                <a:solidFill>
                  <a:srgbClr val="F8D956"/>
                </a:solidFill>
              </a:rPr>
              <a:t>« </a:t>
            </a:r>
            <a:r>
              <a:rPr lang="fr-FR" sz="1400" b="1" dirty="0">
                <a:solidFill>
                  <a:srgbClr val="F8D956"/>
                </a:solidFill>
              </a:rPr>
              <a:t>Notre rigueur opérationnelle et nos marges de sécurité protègent le capital à chaque étape du cycle BRRRR. »</a:t>
            </a:r>
          </a:p>
          <a:p>
            <a:pPr algn="ctr"/>
            <a:r>
              <a:rPr lang="fr-FR" sz="1000" i="1" dirty="0">
                <a:solidFill>
                  <a:schemeClr val="bg1"/>
                </a:solidFill>
              </a:rPr>
              <a:t>- L’équipe d’Horizon</a:t>
            </a:r>
            <a:endParaRPr lang="en-CA" sz="1000" i="1" dirty="0">
              <a:solidFill>
                <a:schemeClr val="bg1"/>
              </a:solidFill>
            </a:endParaRPr>
          </a:p>
        </p:txBody>
      </p:sp>
      <p:pic>
        <p:nvPicPr>
          <p:cNvPr id="39" name="Graphic 38" descr="Shield Cross outline">
            <a:extLst>
              <a:ext uri="{FF2B5EF4-FFF2-40B4-BE49-F238E27FC236}">
                <a16:creationId xmlns:a16="http://schemas.microsoft.com/office/drawing/2014/main" id="{FF888805-1D12-D94C-5E56-A31C26834C99}"/>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6363032" y="2069564"/>
            <a:ext cx="2477041" cy="2477041"/>
          </a:xfrm>
          <a:prstGeom prst="rect">
            <a:avLst/>
          </a:prstGeom>
        </p:spPr>
      </p:pic>
      <p:pic>
        <p:nvPicPr>
          <p:cNvPr id="40" name="Graphic 39" descr="Shield outline">
            <a:extLst>
              <a:ext uri="{FF2B5EF4-FFF2-40B4-BE49-F238E27FC236}">
                <a16:creationId xmlns:a16="http://schemas.microsoft.com/office/drawing/2014/main" id="{4BB1F927-3E7E-1142-A83B-C8C2DD958FC0}"/>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4184261" y="2069563"/>
            <a:ext cx="2477041" cy="2477041"/>
          </a:xfrm>
          <a:prstGeom prst="rect">
            <a:avLst/>
          </a:prstGeom>
        </p:spPr>
      </p:pic>
      <p:pic>
        <p:nvPicPr>
          <p:cNvPr id="42" name="Graphic 41" descr="Shield Tick outline">
            <a:extLst>
              <a:ext uri="{FF2B5EF4-FFF2-40B4-BE49-F238E27FC236}">
                <a16:creationId xmlns:a16="http://schemas.microsoft.com/office/drawing/2014/main" id="{BDBC4BAB-8EA1-BE08-0787-3D47E037DC3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541802" y="2069562"/>
            <a:ext cx="2477041" cy="2477041"/>
          </a:xfrm>
          <a:prstGeom prst="rect">
            <a:avLst/>
          </a:prstGeom>
        </p:spPr>
      </p:pic>
    </p:spTree>
    <p:extLst>
      <p:ext uri="{BB962C8B-B14F-4D97-AF65-F5344CB8AC3E}">
        <p14:creationId xmlns:p14="http://schemas.microsoft.com/office/powerpoint/2010/main" val="29652997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a:extLst>
            <a:ext uri="{FF2B5EF4-FFF2-40B4-BE49-F238E27FC236}">
              <a16:creationId xmlns:a16="http://schemas.microsoft.com/office/drawing/2014/main" id="{4DBF1B25-E21F-40E9-C1B8-534E45BB049D}"/>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EE67CF35-1FD5-3034-CA11-EDB8E0CE8D7C}"/>
              </a:ext>
            </a:extLst>
          </p:cNvPr>
          <p:cNvSpPr txBox="1"/>
          <p:nvPr/>
        </p:nvSpPr>
        <p:spPr>
          <a:xfrm>
            <a:off x="184326" y="6476025"/>
            <a:ext cx="596347" cy="276999"/>
          </a:xfrm>
          <a:prstGeom prst="rect">
            <a:avLst/>
          </a:prstGeom>
          <a:noFill/>
        </p:spPr>
        <p:txBody>
          <a:bodyPr wrap="square" rtlCol="0">
            <a:spAutoFit/>
          </a:bodyPr>
          <a:lstStyle/>
          <a:p>
            <a:r>
              <a:rPr lang="fr-CA" sz="1200" dirty="0">
                <a:solidFill>
                  <a:schemeClr val="bg1"/>
                </a:solidFill>
              </a:rPr>
              <a:t>15</a:t>
            </a:r>
            <a:endParaRPr lang="en-CA" sz="1200" dirty="0">
              <a:solidFill>
                <a:schemeClr val="bg1"/>
              </a:solidFill>
            </a:endParaRPr>
          </a:p>
        </p:txBody>
      </p:sp>
      <p:pic>
        <p:nvPicPr>
          <p:cNvPr id="6" name="Picture 5">
            <a:extLst>
              <a:ext uri="{FF2B5EF4-FFF2-40B4-BE49-F238E27FC236}">
                <a16:creationId xmlns:a16="http://schemas.microsoft.com/office/drawing/2014/main" id="{716EFB8C-295F-3520-B113-262FC5C9A69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188861" y="6031860"/>
            <a:ext cx="998416" cy="998416"/>
          </a:xfrm>
          <a:prstGeom prst="rect">
            <a:avLst/>
          </a:prstGeom>
        </p:spPr>
      </p:pic>
      <p:sp>
        <p:nvSpPr>
          <p:cNvPr id="3" name="Title 1">
            <a:extLst>
              <a:ext uri="{FF2B5EF4-FFF2-40B4-BE49-F238E27FC236}">
                <a16:creationId xmlns:a16="http://schemas.microsoft.com/office/drawing/2014/main" id="{5900A5CB-2238-DAD4-F373-975C1AB127C5}"/>
              </a:ext>
            </a:extLst>
          </p:cNvPr>
          <p:cNvSpPr txBox="1">
            <a:spLocks/>
          </p:cNvSpPr>
          <p:nvPr/>
        </p:nvSpPr>
        <p:spPr>
          <a:xfrm>
            <a:off x="791021" y="416577"/>
            <a:ext cx="7261157" cy="717279"/>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2400" b="1" dirty="0">
                <a:solidFill>
                  <a:schemeClr val="bg1"/>
                </a:solidFill>
              </a:rPr>
              <a:t>NOTRE ÉQUIPE ET PROFESSIONNELS</a:t>
            </a:r>
            <a:endParaRPr lang="en-US" dirty="0"/>
          </a:p>
        </p:txBody>
      </p:sp>
      <p:sp>
        <p:nvSpPr>
          <p:cNvPr id="7" name="Rectangle 6">
            <a:extLst>
              <a:ext uri="{FF2B5EF4-FFF2-40B4-BE49-F238E27FC236}">
                <a16:creationId xmlns:a16="http://schemas.microsoft.com/office/drawing/2014/main" id="{4686EAF8-AF17-A094-8D24-A0EB90B86081}"/>
              </a:ext>
            </a:extLst>
          </p:cNvPr>
          <p:cNvSpPr/>
          <p:nvPr/>
        </p:nvSpPr>
        <p:spPr>
          <a:xfrm>
            <a:off x="895060" y="971550"/>
            <a:ext cx="1929109" cy="85725"/>
          </a:xfrm>
          <a:prstGeom prst="rect">
            <a:avLst/>
          </a:prstGeom>
          <a:solidFill>
            <a:srgbClr val="F8D95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noFill/>
            </a:endParaRPr>
          </a:p>
        </p:txBody>
      </p:sp>
      <p:sp>
        <p:nvSpPr>
          <p:cNvPr id="10" name="TextBox 9">
            <a:extLst>
              <a:ext uri="{FF2B5EF4-FFF2-40B4-BE49-F238E27FC236}">
                <a16:creationId xmlns:a16="http://schemas.microsoft.com/office/drawing/2014/main" id="{238E4DAF-6D9A-D96F-96A3-F74398AB5211}"/>
              </a:ext>
            </a:extLst>
          </p:cNvPr>
          <p:cNvSpPr txBox="1"/>
          <p:nvPr/>
        </p:nvSpPr>
        <p:spPr>
          <a:xfrm>
            <a:off x="791021" y="1195371"/>
            <a:ext cx="11038187" cy="307777"/>
          </a:xfrm>
          <a:prstGeom prst="rect">
            <a:avLst/>
          </a:prstGeom>
          <a:noFill/>
        </p:spPr>
        <p:txBody>
          <a:bodyPr wrap="square" rtlCol="0">
            <a:spAutoFit/>
          </a:bodyPr>
          <a:lstStyle/>
          <a:p>
            <a:r>
              <a:rPr lang="fr-FR" sz="1400" dirty="0">
                <a:solidFill>
                  <a:schemeClr val="bg1"/>
                </a:solidFill>
              </a:rPr>
              <a:t>CERCLE DE CONFIANCE (</a:t>
            </a:r>
            <a:r>
              <a:rPr lang="fr-FR" sz="1400" dirty="0" err="1">
                <a:solidFill>
                  <a:schemeClr val="bg1"/>
                </a:solidFill>
              </a:rPr>
              <a:t>CdC</a:t>
            </a:r>
            <a:r>
              <a:rPr lang="fr-FR" sz="1400" dirty="0">
                <a:solidFill>
                  <a:schemeClr val="bg1"/>
                </a:solidFill>
              </a:rPr>
              <a:t>) : Des compétences complémentaires au service d’une même vision de création de valeur.</a:t>
            </a:r>
            <a:endParaRPr lang="en-CA" sz="1400" dirty="0">
              <a:solidFill>
                <a:schemeClr val="bg1"/>
              </a:solidFill>
            </a:endParaRPr>
          </a:p>
        </p:txBody>
      </p:sp>
      <p:sp>
        <p:nvSpPr>
          <p:cNvPr id="18" name="Oval 17">
            <a:extLst>
              <a:ext uri="{FF2B5EF4-FFF2-40B4-BE49-F238E27FC236}">
                <a16:creationId xmlns:a16="http://schemas.microsoft.com/office/drawing/2014/main" id="{7EC28667-6A87-6278-9DA9-742F37601265}"/>
              </a:ext>
            </a:extLst>
          </p:cNvPr>
          <p:cNvSpPr/>
          <p:nvPr/>
        </p:nvSpPr>
        <p:spPr>
          <a:xfrm>
            <a:off x="959614" y="2786926"/>
            <a:ext cx="1800000" cy="1800000"/>
          </a:xfrm>
          <a:prstGeom prst="ellipse">
            <a:avLst/>
          </a:prstGeom>
          <a:solidFill>
            <a:srgbClr val="F8D95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Oval 18">
            <a:extLst>
              <a:ext uri="{FF2B5EF4-FFF2-40B4-BE49-F238E27FC236}">
                <a16:creationId xmlns:a16="http://schemas.microsoft.com/office/drawing/2014/main" id="{0487036D-D303-8B60-3E40-F63FCDB4918A}"/>
              </a:ext>
            </a:extLst>
          </p:cNvPr>
          <p:cNvSpPr/>
          <p:nvPr/>
        </p:nvSpPr>
        <p:spPr>
          <a:xfrm>
            <a:off x="928855" y="1685174"/>
            <a:ext cx="1800000" cy="1800000"/>
          </a:xfrm>
          <a:prstGeom prst="ellipse">
            <a:avLst/>
          </a:prstGeom>
          <a:solidFill>
            <a:srgbClr val="009999">
              <a:alpha val="7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1" name="TextBox 20">
            <a:extLst>
              <a:ext uri="{FF2B5EF4-FFF2-40B4-BE49-F238E27FC236}">
                <a16:creationId xmlns:a16="http://schemas.microsoft.com/office/drawing/2014/main" id="{558019DC-5B22-5F85-7C29-DC4C67573EF2}"/>
              </a:ext>
            </a:extLst>
          </p:cNvPr>
          <p:cNvSpPr txBox="1"/>
          <p:nvPr/>
        </p:nvSpPr>
        <p:spPr>
          <a:xfrm>
            <a:off x="1379372" y="2860863"/>
            <a:ext cx="914294" cy="553998"/>
          </a:xfrm>
          <a:prstGeom prst="rect">
            <a:avLst/>
          </a:prstGeom>
          <a:noFill/>
        </p:spPr>
        <p:txBody>
          <a:bodyPr wrap="square" rtlCol="0">
            <a:spAutoFit/>
          </a:bodyPr>
          <a:lstStyle/>
          <a:p>
            <a:pPr algn="ctr"/>
            <a:r>
              <a:rPr lang="fr-CA" sz="1000" dirty="0">
                <a:solidFill>
                  <a:srgbClr val="F8D956"/>
                </a:solidFill>
              </a:rPr>
              <a:t>CERCLE </a:t>
            </a:r>
          </a:p>
          <a:p>
            <a:pPr algn="ctr"/>
            <a:r>
              <a:rPr lang="fr-CA" sz="1000" dirty="0">
                <a:solidFill>
                  <a:srgbClr val="F8D956"/>
                </a:solidFill>
              </a:rPr>
              <a:t>DE CONFIANCE</a:t>
            </a:r>
            <a:endParaRPr lang="en-CA" sz="1000" dirty="0">
              <a:solidFill>
                <a:srgbClr val="F8D956"/>
              </a:solidFill>
            </a:endParaRPr>
          </a:p>
        </p:txBody>
      </p:sp>
      <p:sp>
        <p:nvSpPr>
          <p:cNvPr id="22" name="TextBox 21">
            <a:extLst>
              <a:ext uri="{FF2B5EF4-FFF2-40B4-BE49-F238E27FC236}">
                <a16:creationId xmlns:a16="http://schemas.microsoft.com/office/drawing/2014/main" id="{19690270-48CC-B532-ED6A-B0CF4AD146A5}"/>
              </a:ext>
            </a:extLst>
          </p:cNvPr>
          <p:cNvSpPr txBox="1"/>
          <p:nvPr/>
        </p:nvSpPr>
        <p:spPr>
          <a:xfrm>
            <a:off x="1030163" y="3548426"/>
            <a:ext cx="1612711" cy="738664"/>
          </a:xfrm>
          <a:prstGeom prst="rect">
            <a:avLst/>
          </a:prstGeom>
          <a:noFill/>
        </p:spPr>
        <p:txBody>
          <a:bodyPr wrap="square" rtlCol="0">
            <a:spAutoFit/>
          </a:bodyPr>
          <a:lstStyle/>
          <a:p>
            <a:pPr algn="ctr"/>
            <a:r>
              <a:rPr lang="fr-CA" sz="1200" b="1" dirty="0"/>
              <a:t>L‘ÉQUIPE HORIZON</a:t>
            </a:r>
          </a:p>
          <a:p>
            <a:pPr algn="ctr"/>
            <a:r>
              <a:rPr lang="fr-CA" sz="1000" dirty="0"/>
              <a:t>Philippe Meuser</a:t>
            </a:r>
          </a:p>
          <a:p>
            <a:pPr algn="ctr"/>
            <a:r>
              <a:rPr lang="fr-CA" sz="1000" dirty="0"/>
              <a:t>Michael </a:t>
            </a:r>
            <a:r>
              <a:rPr lang="fr-CA" sz="1000" dirty="0" err="1"/>
              <a:t>Villiard</a:t>
            </a:r>
            <a:endParaRPr lang="fr-CA" sz="1000" dirty="0"/>
          </a:p>
          <a:p>
            <a:pPr algn="ctr"/>
            <a:r>
              <a:rPr lang="fr-CA" sz="1000" dirty="0"/>
              <a:t>Steven Giguère</a:t>
            </a:r>
            <a:endParaRPr lang="en-CA" sz="1000" dirty="0"/>
          </a:p>
        </p:txBody>
      </p:sp>
      <p:sp>
        <p:nvSpPr>
          <p:cNvPr id="23" name="TextBox 22">
            <a:extLst>
              <a:ext uri="{FF2B5EF4-FFF2-40B4-BE49-F238E27FC236}">
                <a16:creationId xmlns:a16="http://schemas.microsoft.com/office/drawing/2014/main" id="{2F1788B9-7EEC-DAF0-BBC3-570DDC5BA582}"/>
              </a:ext>
            </a:extLst>
          </p:cNvPr>
          <p:cNvSpPr txBox="1"/>
          <p:nvPr/>
        </p:nvSpPr>
        <p:spPr>
          <a:xfrm>
            <a:off x="1022499" y="2113657"/>
            <a:ext cx="1612711" cy="430887"/>
          </a:xfrm>
          <a:prstGeom prst="rect">
            <a:avLst/>
          </a:prstGeom>
          <a:noFill/>
        </p:spPr>
        <p:txBody>
          <a:bodyPr wrap="square" rtlCol="0">
            <a:spAutoFit/>
          </a:bodyPr>
          <a:lstStyle/>
          <a:p>
            <a:pPr algn="ctr"/>
            <a:r>
              <a:rPr lang="fr-CA" sz="1200" b="1" dirty="0">
                <a:solidFill>
                  <a:schemeClr val="bg1"/>
                </a:solidFill>
              </a:rPr>
              <a:t>INVESTISSEURS</a:t>
            </a:r>
          </a:p>
          <a:p>
            <a:pPr algn="ctr"/>
            <a:r>
              <a:rPr lang="fr-CA" sz="1000" i="1" dirty="0">
                <a:solidFill>
                  <a:schemeClr val="bg1"/>
                </a:solidFill>
              </a:rPr>
              <a:t>À déterminer</a:t>
            </a:r>
            <a:endParaRPr lang="en-CA" sz="1000" i="1" dirty="0">
              <a:solidFill>
                <a:schemeClr val="bg1"/>
              </a:solidFill>
            </a:endParaRPr>
          </a:p>
        </p:txBody>
      </p:sp>
      <p:cxnSp>
        <p:nvCxnSpPr>
          <p:cNvPr id="33" name="Straight Connector 32">
            <a:extLst>
              <a:ext uri="{FF2B5EF4-FFF2-40B4-BE49-F238E27FC236}">
                <a16:creationId xmlns:a16="http://schemas.microsoft.com/office/drawing/2014/main" id="{F450740B-808F-32FE-7066-1DF7AE5E1612}"/>
              </a:ext>
            </a:extLst>
          </p:cNvPr>
          <p:cNvCxnSpPr>
            <a:cxnSpLocks/>
          </p:cNvCxnSpPr>
          <p:nvPr/>
        </p:nvCxnSpPr>
        <p:spPr>
          <a:xfrm>
            <a:off x="3820666" y="1685174"/>
            <a:ext cx="0" cy="2901752"/>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35" name="Oval 34">
            <a:extLst>
              <a:ext uri="{FF2B5EF4-FFF2-40B4-BE49-F238E27FC236}">
                <a16:creationId xmlns:a16="http://schemas.microsoft.com/office/drawing/2014/main" id="{76B25D25-72A2-9A19-B9ED-EB08BAB9849F}"/>
              </a:ext>
            </a:extLst>
          </p:cNvPr>
          <p:cNvSpPr/>
          <p:nvPr/>
        </p:nvSpPr>
        <p:spPr>
          <a:xfrm>
            <a:off x="8271066" y="2753244"/>
            <a:ext cx="360000" cy="360000"/>
          </a:xfrm>
          <a:prstGeom prst="ellipse">
            <a:avLst/>
          </a:prstGeom>
          <a:noFill/>
          <a:ln>
            <a:solidFill>
              <a:srgbClr val="F8D95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pic>
        <p:nvPicPr>
          <p:cNvPr id="36" name="Graphic 35" descr="Hammer outline">
            <a:extLst>
              <a:ext uri="{FF2B5EF4-FFF2-40B4-BE49-F238E27FC236}">
                <a16:creationId xmlns:a16="http://schemas.microsoft.com/office/drawing/2014/main" id="{02052095-5730-7DAD-3C05-93DE025B6FC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07066" y="2789244"/>
            <a:ext cx="288000" cy="288000"/>
          </a:xfrm>
          <a:prstGeom prst="rect">
            <a:avLst/>
          </a:prstGeom>
        </p:spPr>
      </p:pic>
      <p:graphicFrame>
        <p:nvGraphicFramePr>
          <p:cNvPr id="37" name="Table 36">
            <a:extLst>
              <a:ext uri="{FF2B5EF4-FFF2-40B4-BE49-F238E27FC236}">
                <a16:creationId xmlns:a16="http://schemas.microsoft.com/office/drawing/2014/main" id="{E4C34BED-C1C2-7038-8B92-EB87F6C6E7E1}"/>
              </a:ext>
            </a:extLst>
          </p:cNvPr>
          <p:cNvGraphicFramePr>
            <a:graphicFrameLocks noGrp="1"/>
          </p:cNvGraphicFramePr>
          <p:nvPr>
            <p:extLst>
              <p:ext uri="{D42A27DB-BD31-4B8C-83A1-F6EECF244321}">
                <p14:modId xmlns:p14="http://schemas.microsoft.com/office/powerpoint/2010/main" val="709699673"/>
              </p:ext>
            </p:extLst>
          </p:nvPr>
        </p:nvGraphicFramePr>
        <p:xfrm>
          <a:off x="5780999" y="1794762"/>
          <a:ext cx="5184000" cy="2747520"/>
        </p:xfrm>
        <a:graphic>
          <a:graphicData uri="http://schemas.openxmlformats.org/drawingml/2006/table">
            <a:tbl>
              <a:tblPr firstRow="1" bandRow="1">
                <a:tableStyleId>{5C22544A-7EE6-4342-B048-85BDC9FD1C3A}</a:tableStyleId>
              </a:tblPr>
              <a:tblGrid>
                <a:gridCol w="1728000">
                  <a:extLst>
                    <a:ext uri="{9D8B030D-6E8A-4147-A177-3AD203B41FA5}">
                      <a16:colId xmlns:a16="http://schemas.microsoft.com/office/drawing/2014/main" val="4106015061"/>
                    </a:ext>
                  </a:extLst>
                </a:gridCol>
                <a:gridCol w="1728000">
                  <a:extLst>
                    <a:ext uri="{9D8B030D-6E8A-4147-A177-3AD203B41FA5}">
                      <a16:colId xmlns:a16="http://schemas.microsoft.com/office/drawing/2014/main" val="1629498724"/>
                    </a:ext>
                  </a:extLst>
                </a:gridCol>
                <a:gridCol w="1728000">
                  <a:extLst>
                    <a:ext uri="{9D8B030D-6E8A-4147-A177-3AD203B41FA5}">
                      <a16:colId xmlns:a16="http://schemas.microsoft.com/office/drawing/2014/main" val="1723380181"/>
                    </a:ext>
                  </a:extLst>
                </a:gridCol>
              </a:tblGrid>
              <a:tr h="252000">
                <a:tc>
                  <a:txBody>
                    <a:bodyPr/>
                    <a:lstStyle/>
                    <a:p>
                      <a:r>
                        <a:rPr lang="fr-CA" sz="1000" b="1" dirty="0">
                          <a:solidFill>
                            <a:schemeClr val="bg1"/>
                          </a:solidFill>
                        </a:rPr>
                        <a:t>Courtier immobilier</a:t>
                      </a:r>
                    </a:p>
                  </a:txBody>
                  <a:tcPr anchor="ctr">
                    <a:lnL w="12700" cap="flat" cmpd="sng" algn="ctr">
                      <a:solidFill>
                        <a:srgbClr val="F8D956"/>
                      </a:solidFill>
                      <a:prstDash val="solid"/>
                      <a:round/>
                      <a:headEnd type="none" w="med" len="med"/>
                      <a:tailEnd type="none" w="med" len="med"/>
                    </a:lnL>
                    <a:lnR w="12700" cap="flat" cmpd="sng" algn="ctr">
                      <a:solidFill>
                        <a:srgbClr val="F8D956"/>
                      </a:solidFill>
                      <a:prstDash val="solid"/>
                      <a:round/>
                      <a:headEnd type="none" w="med" len="med"/>
                      <a:tailEnd type="none" w="med" len="med"/>
                    </a:lnR>
                    <a:lnT w="12700" cap="flat" cmpd="sng" algn="ctr">
                      <a:solidFill>
                        <a:srgbClr val="F8D956"/>
                      </a:solidFill>
                      <a:prstDash val="solid"/>
                      <a:round/>
                      <a:headEnd type="none" w="med" len="med"/>
                      <a:tailEnd type="none" w="med" len="med"/>
                    </a:lnT>
                    <a:lnB w="12700" cap="flat" cmpd="sng" algn="ctr">
                      <a:solidFill>
                        <a:srgbClr val="F8D95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fr-CA" sz="1000" b="1" dirty="0">
                        <a:solidFill>
                          <a:schemeClr val="bg1"/>
                        </a:solidFill>
                      </a:endParaRPr>
                    </a:p>
                  </a:txBody>
                  <a:tcPr anchor="ctr">
                    <a:lnL w="12700" cap="flat" cmpd="sng" algn="ctr">
                      <a:solidFill>
                        <a:srgbClr val="F8D956"/>
                      </a:solidFill>
                      <a:prstDash val="solid"/>
                      <a:round/>
                      <a:headEnd type="none" w="med" len="med"/>
                      <a:tailEnd type="none" w="med" len="med"/>
                    </a:lnL>
                    <a:lnR w="12700" cap="flat" cmpd="sng" algn="ctr">
                      <a:solidFill>
                        <a:srgbClr val="F8D95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CA" sz="1000" b="1" dirty="0">
                          <a:solidFill>
                            <a:schemeClr val="bg1"/>
                          </a:solidFill>
                        </a:rPr>
                        <a:t>Ingénieur en bâtiment</a:t>
                      </a:r>
                      <a:endParaRPr lang="en-CA" sz="1000" b="1" dirty="0">
                        <a:solidFill>
                          <a:schemeClr val="bg1"/>
                        </a:solidFill>
                      </a:endParaRPr>
                    </a:p>
                  </a:txBody>
                  <a:tcPr anchor="ctr">
                    <a:lnL w="12700" cap="flat" cmpd="sng" algn="ctr">
                      <a:solidFill>
                        <a:srgbClr val="F8D956"/>
                      </a:solidFill>
                      <a:prstDash val="solid"/>
                      <a:round/>
                      <a:headEnd type="none" w="med" len="med"/>
                      <a:tailEnd type="none" w="med" len="med"/>
                    </a:lnL>
                    <a:lnR w="12700" cap="flat" cmpd="sng" algn="ctr">
                      <a:solidFill>
                        <a:srgbClr val="F8D956"/>
                      </a:solidFill>
                      <a:prstDash val="solid"/>
                      <a:round/>
                      <a:headEnd type="none" w="med" len="med"/>
                      <a:tailEnd type="none" w="med" len="med"/>
                    </a:lnR>
                    <a:lnT w="12700" cap="flat" cmpd="sng" algn="ctr">
                      <a:solidFill>
                        <a:srgbClr val="F8D956"/>
                      </a:solidFill>
                      <a:prstDash val="solid"/>
                      <a:round/>
                      <a:headEnd type="none" w="med" len="med"/>
                      <a:tailEnd type="none" w="med" len="med"/>
                    </a:lnT>
                    <a:lnB w="12700" cap="flat" cmpd="sng" algn="ctr">
                      <a:solidFill>
                        <a:srgbClr val="F8D95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37654459"/>
                  </a:ext>
                </a:extLst>
              </a:tr>
              <a:tr h="252000">
                <a:tc>
                  <a:txBody>
                    <a:bodyPr/>
                    <a:lstStyle/>
                    <a:p>
                      <a:endParaRPr lang="en-CA" sz="1000" b="1" dirty="0">
                        <a:solidFill>
                          <a:schemeClr val="bg1"/>
                        </a:solidFill>
                      </a:endParaRPr>
                    </a:p>
                  </a:txBody>
                  <a:tcPr anchor="ctr">
                    <a:lnL w="12700" cmpd="sng">
                      <a:noFill/>
                    </a:lnL>
                    <a:lnR w="12700" cmpd="sng">
                      <a:noFill/>
                    </a:lnR>
                    <a:lnT w="12700" cap="flat" cmpd="sng" algn="ctr">
                      <a:solidFill>
                        <a:srgbClr val="F8D956"/>
                      </a:solidFill>
                      <a:prstDash val="solid"/>
                      <a:round/>
                      <a:headEnd type="none" w="med" len="med"/>
                      <a:tailEnd type="none" w="med" len="med"/>
                    </a:lnT>
                    <a:lnB w="12700" cap="flat" cmpd="sng" algn="ctr">
                      <a:solidFill>
                        <a:srgbClr val="F8D95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000" b="1"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000" b="1" dirty="0">
                        <a:solidFill>
                          <a:schemeClr val="bg1"/>
                        </a:solidFill>
                      </a:endParaRPr>
                    </a:p>
                  </a:txBody>
                  <a:tcPr anchor="ctr">
                    <a:lnL w="12700" cmpd="sng">
                      <a:noFill/>
                    </a:lnL>
                    <a:lnR w="12700" cmpd="sng">
                      <a:noFill/>
                    </a:lnR>
                    <a:lnT w="12700" cap="flat" cmpd="sng" algn="ctr">
                      <a:solidFill>
                        <a:srgbClr val="F8D956"/>
                      </a:solidFill>
                      <a:prstDash val="solid"/>
                      <a:round/>
                      <a:headEnd type="none" w="med" len="med"/>
                      <a:tailEnd type="none" w="med" len="med"/>
                    </a:lnT>
                    <a:lnB w="12700" cap="flat" cmpd="sng" algn="ctr">
                      <a:solidFill>
                        <a:srgbClr val="F8D95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9117466"/>
                  </a:ext>
                </a:extLst>
              </a:tr>
              <a:tr h="252000">
                <a:tc>
                  <a:txBody>
                    <a:bodyPr/>
                    <a:lstStyle/>
                    <a:p>
                      <a:r>
                        <a:rPr lang="fr-CA" sz="1000" b="1" dirty="0">
                          <a:solidFill>
                            <a:schemeClr val="bg1"/>
                          </a:solidFill>
                        </a:rPr>
                        <a:t>Courtier hypothécaire</a:t>
                      </a:r>
                      <a:endParaRPr lang="en-CA" sz="1000" b="1" dirty="0">
                        <a:solidFill>
                          <a:schemeClr val="bg1"/>
                        </a:solidFill>
                      </a:endParaRPr>
                    </a:p>
                  </a:txBody>
                  <a:tcPr anchor="ctr">
                    <a:lnL w="12700" cap="flat" cmpd="sng" algn="ctr">
                      <a:solidFill>
                        <a:srgbClr val="F8D956"/>
                      </a:solidFill>
                      <a:prstDash val="solid"/>
                      <a:round/>
                      <a:headEnd type="none" w="med" len="med"/>
                      <a:tailEnd type="none" w="med" len="med"/>
                    </a:lnL>
                    <a:lnR w="12700" cap="flat" cmpd="sng" algn="ctr">
                      <a:solidFill>
                        <a:srgbClr val="F8D956"/>
                      </a:solidFill>
                      <a:prstDash val="solid"/>
                      <a:round/>
                      <a:headEnd type="none" w="med" len="med"/>
                      <a:tailEnd type="none" w="med" len="med"/>
                    </a:lnR>
                    <a:lnT w="12700" cap="flat" cmpd="sng" algn="ctr">
                      <a:solidFill>
                        <a:srgbClr val="F8D956"/>
                      </a:solidFill>
                      <a:prstDash val="solid"/>
                      <a:round/>
                      <a:headEnd type="none" w="med" len="med"/>
                      <a:tailEnd type="none" w="med" len="med"/>
                    </a:lnT>
                    <a:lnB w="12700" cap="flat" cmpd="sng" algn="ctr">
                      <a:solidFill>
                        <a:srgbClr val="F8D95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000" b="1" dirty="0">
                        <a:solidFill>
                          <a:schemeClr val="bg1"/>
                        </a:solidFill>
                      </a:endParaRPr>
                    </a:p>
                  </a:txBody>
                  <a:tcPr anchor="ctr">
                    <a:lnL w="12700" cap="flat" cmpd="sng" algn="ctr">
                      <a:solidFill>
                        <a:srgbClr val="F8D956"/>
                      </a:solidFill>
                      <a:prstDash val="solid"/>
                      <a:round/>
                      <a:headEnd type="none" w="med" len="med"/>
                      <a:tailEnd type="none" w="med" len="med"/>
                    </a:lnL>
                    <a:lnR w="12700" cap="flat" cmpd="sng" algn="ctr">
                      <a:solidFill>
                        <a:srgbClr val="F8D95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CA" sz="1000" b="1" dirty="0">
                          <a:solidFill>
                            <a:schemeClr val="bg1"/>
                          </a:solidFill>
                        </a:rPr>
                        <a:t>Évaluateur</a:t>
                      </a:r>
                      <a:endParaRPr lang="en-CA" sz="1000" b="1" dirty="0">
                        <a:solidFill>
                          <a:schemeClr val="bg1"/>
                        </a:solidFill>
                      </a:endParaRPr>
                    </a:p>
                  </a:txBody>
                  <a:tcPr anchor="ctr">
                    <a:lnL w="12700" cap="flat" cmpd="sng" algn="ctr">
                      <a:solidFill>
                        <a:srgbClr val="F8D956"/>
                      </a:solidFill>
                      <a:prstDash val="solid"/>
                      <a:round/>
                      <a:headEnd type="none" w="med" len="med"/>
                      <a:tailEnd type="none" w="med" len="med"/>
                    </a:lnL>
                    <a:lnR w="12700" cap="flat" cmpd="sng" algn="ctr">
                      <a:solidFill>
                        <a:srgbClr val="F8D956"/>
                      </a:solidFill>
                      <a:prstDash val="solid"/>
                      <a:round/>
                      <a:headEnd type="none" w="med" len="med"/>
                      <a:tailEnd type="none" w="med" len="med"/>
                    </a:lnR>
                    <a:lnT w="12700" cap="flat" cmpd="sng" algn="ctr">
                      <a:solidFill>
                        <a:srgbClr val="F8D956"/>
                      </a:solidFill>
                      <a:prstDash val="solid"/>
                      <a:round/>
                      <a:headEnd type="none" w="med" len="med"/>
                      <a:tailEnd type="none" w="med" len="med"/>
                    </a:lnT>
                    <a:lnB w="12700" cap="flat" cmpd="sng" algn="ctr">
                      <a:solidFill>
                        <a:srgbClr val="F8D95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66100639"/>
                  </a:ext>
                </a:extLst>
              </a:tr>
              <a:tr h="252000">
                <a:tc>
                  <a:txBody>
                    <a:bodyPr/>
                    <a:lstStyle/>
                    <a:p>
                      <a:endParaRPr lang="en-CA" sz="1000" b="1" dirty="0">
                        <a:solidFill>
                          <a:schemeClr val="bg1"/>
                        </a:solidFill>
                      </a:endParaRPr>
                    </a:p>
                  </a:txBody>
                  <a:tcPr anchor="ctr">
                    <a:lnL w="12700" cmpd="sng">
                      <a:noFill/>
                    </a:lnL>
                    <a:lnR w="12700" cmpd="sng">
                      <a:noFill/>
                    </a:lnR>
                    <a:lnT w="12700" cap="flat" cmpd="sng" algn="ctr">
                      <a:solidFill>
                        <a:srgbClr val="F8D956"/>
                      </a:solidFill>
                      <a:prstDash val="solid"/>
                      <a:round/>
                      <a:headEnd type="none" w="med" len="med"/>
                      <a:tailEnd type="none" w="med" len="med"/>
                    </a:lnT>
                    <a:lnB w="12700" cap="flat" cmpd="sng" algn="ctr">
                      <a:solidFill>
                        <a:srgbClr val="F8D95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000" b="1"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000" b="1" dirty="0">
                        <a:solidFill>
                          <a:schemeClr val="bg1"/>
                        </a:solidFill>
                      </a:endParaRPr>
                    </a:p>
                  </a:txBody>
                  <a:tcPr anchor="ctr">
                    <a:lnL w="12700" cmpd="sng">
                      <a:noFill/>
                    </a:lnL>
                    <a:lnR w="12700" cmpd="sng">
                      <a:noFill/>
                    </a:lnR>
                    <a:lnT w="12700" cap="flat" cmpd="sng" algn="ctr">
                      <a:solidFill>
                        <a:srgbClr val="F8D956"/>
                      </a:solidFill>
                      <a:prstDash val="solid"/>
                      <a:round/>
                      <a:headEnd type="none" w="med" len="med"/>
                      <a:tailEnd type="none" w="med" len="med"/>
                    </a:lnT>
                    <a:lnB w="12700" cap="flat" cmpd="sng" algn="ctr">
                      <a:solidFill>
                        <a:srgbClr val="F8D95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5284493"/>
                  </a:ext>
                </a:extLst>
              </a:tr>
              <a:tr h="252000">
                <a:tc>
                  <a:txBody>
                    <a:bodyPr/>
                    <a:lstStyle/>
                    <a:p>
                      <a:r>
                        <a:rPr lang="fr-CA" sz="1000" b="1" dirty="0">
                          <a:solidFill>
                            <a:schemeClr val="bg1"/>
                          </a:solidFill>
                        </a:rPr>
                        <a:t>Avocat</a:t>
                      </a:r>
                      <a:endParaRPr lang="en-CA" sz="1000" b="1" dirty="0">
                        <a:solidFill>
                          <a:schemeClr val="bg1"/>
                        </a:solidFill>
                      </a:endParaRPr>
                    </a:p>
                  </a:txBody>
                  <a:tcPr anchor="ctr">
                    <a:lnL w="12700" cap="flat" cmpd="sng" algn="ctr">
                      <a:solidFill>
                        <a:srgbClr val="F8D956"/>
                      </a:solidFill>
                      <a:prstDash val="solid"/>
                      <a:round/>
                      <a:headEnd type="none" w="med" len="med"/>
                      <a:tailEnd type="none" w="med" len="med"/>
                    </a:lnL>
                    <a:lnR w="12700" cap="flat" cmpd="sng" algn="ctr">
                      <a:solidFill>
                        <a:srgbClr val="F8D956"/>
                      </a:solidFill>
                      <a:prstDash val="solid"/>
                      <a:round/>
                      <a:headEnd type="none" w="med" len="med"/>
                      <a:tailEnd type="none" w="med" len="med"/>
                    </a:lnR>
                    <a:lnT w="12700" cap="flat" cmpd="sng" algn="ctr">
                      <a:solidFill>
                        <a:srgbClr val="F8D956"/>
                      </a:solidFill>
                      <a:prstDash val="solid"/>
                      <a:round/>
                      <a:headEnd type="none" w="med" len="med"/>
                      <a:tailEnd type="none" w="med" len="med"/>
                    </a:lnT>
                    <a:lnB w="12700" cap="flat" cmpd="sng" algn="ctr">
                      <a:solidFill>
                        <a:srgbClr val="F8D95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000" b="1" dirty="0">
                        <a:solidFill>
                          <a:schemeClr val="bg1"/>
                        </a:solidFill>
                      </a:endParaRPr>
                    </a:p>
                  </a:txBody>
                  <a:tcPr anchor="ctr">
                    <a:lnL w="12700" cap="flat" cmpd="sng" algn="ctr">
                      <a:solidFill>
                        <a:srgbClr val="F8D956"/>
                      </a:solidFill>
                      <a:prstDash val="solid"/>
                      <a:round/>
                      <a:headEnd type="none" w="med" len="med"/>
                      <a:tailEnd type="none" w="med" len="med"/>
                    </a:lnL>
                    <a:lnR w="12700" cap="flat" cmpd="sng" algn="ctr">
                      <a:solidFill>
                        <a:srgbClr val="F8D95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CA" sz="1000" b="1" dirty="0">
                          <a:solidFill>
                            <a:schemeClr val="bg1"/>
                          </a:solidFill>
                        </a:rPr>
                        <a:t>Équipe de construction</a:t>
                      </a:r>
                      <a:endParaRPr lang="en-CA" sz="1000" b="1" dirty="0">
                        <a:solidFill>
                          <a:schemeClr val="bg1"/>
                        </a:solidFill>
                      </a:endParaRPr>
                    </a:p>
                  </a:txBody>
                  <a:tcPr anchor="ctr">
                    <a:lnL w="12700" cap="flat" cmpd="sng" algn="ctr">
                      <a:solidFill>
                        <a:srgbClr val="F8D956"/>
                      </a:solidFill>
                      <a:prstDash val="solid"/>
                      <a:round/>
                      <a:headEnd type="none" w="med" len="med"/>
                      <a:tailEnd type="none" w="med" len="med"/>
                    </a:lnL>
                    <a:lnR w="12700" cap="flat" cmpd="sng" algn="ctr">
                      <a:solidFill>
                        <a:srgbClr val="F8D956"/>
                      </a:solidFill>
                      <a:prstDash val="solid"/>
                      <a:round/>
                      <a:headEnd type="none" w="med" len="med"/>
                      <a:tailEnd type="none" w="med" len="med"/>
                    </a:lnR>
                    <a:lnT w="12700" cap="flat" cmpd="sng" algn="ctr">
                      <a:solidFill>
                        <a:srgbClr val="F8D956"/>
                      </a:solidFill>
                      <a:prstDash val="solid"/>
                      <a:round/>
                      <a:headEnd type="none" w="med" len="med"/>
                      <a:tailEnd type="none" w="med" len="med"/>
                    </a:lnT>
                    <a:lnB w="12700" cap="flat" cmpd="sng" algn="ctr">
                      <a:solidFill>
                        <a:srgbClr val="F8D95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9859489"/>
                  </a:ext>
                </a:extLst>
              </a:tr>
              <a:tr h="252000">
                <a:tc>
                  <a:txBody>
                    <a:bodyPr/>
                    <a:lstStyle/>
                    <a:p>
                      <a:endParaRPr lang="en-CA" sz="1000" b="1" dirty="0">
                        <a:solidFill>
                          <a:schemeClr val="bg1"/>
                        </a:solidFill>
                      </a:endParaRPr>
                    </a:p>
                  </a:txBody>
                  <a:tcPr anchor="ctr">
                    <a:lnL w="12700" cmpd="sng">
                      <a:noFill/>
                    </a:lnL>
                    <a:lnR w="12700" cmpd="sng">
                      <a:noFill/>
                    </a:lnR>
                    <a:lnT w="12700" cap="flat" cmpd="sng" algn="ctr">
                      <a:solidFill>
                        <a:srgbClr val="F8D956"/>
                      </a:solidFill>
                      <a:prstDash val="solid"/>
                      <a:round/>
                      <a:headEnd type="none" w="med" len="med"/>
                      <a:tailEnd type="none" w="med" len="med"/>
                    </a:lnT>
                    <a:lnB w="12700" cap="flat" cmpd="sng" algn="ctr">
                      <a:solidFill>
                        <a:srgbClr val="F8D95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000" b="1"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000" b="1" dirty="0">
                        <a:solidFill>
                          <a:schemeClr val="bg1"/>
                        </a:solidFill>
                      </a:endParaRPr>
                    </a:p>
                  </a:txBody>
                  <a:tcPr anchor="ctr">
                    <a:lnL w="12700" cmpd="sng">
                      <a:noFill/>
                    </a:lnL>
                    <a:lnR w="12700" cmpd="sng">
                      <a:noFill/>
                    </a:lnR>
                    <a:lnT w="12700" cap="flat" cmpd="sng" algn="ctr">
                      <a:solidFill>
                        <a:srgbClr val="F8D956"/>
                      </a:solidFill>
                      <a:prstDash val="solid"/>
                      <a:round/>
                      <a:headEnd type="none" w="med" len="med"/>
                      <a:tailEnd type="none" w="med" len="med"/>
                    </a:lnT>
                    <a:lnB w="12700" cap="flat" cmpd="sng" algn="ctr">
                      <a:solidFill>
                        <a:srgbClr val="F8D95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9823517"/>
                  </a:ext>
                </a:extLst>
              </a:tr>
              <a:tr h="252000">
                <a:tc>
                  <a:txBody>
                    <a:bodyPr/>
                    <a:lstStyle/>
                    <a:p>
                      <a:r>
                        <a:rPr kumimoji="0" lang="fr-CA" sz="1000" b="1" i="0" u="none" strike="noStrike" kern="1200" cap="none" spc="0" normalizeH="0" baseline="0" noProof="0" dirty="0">
                          <a:ln>
                            <a:noFill/>
                          </a:ln>
                          <a:solidFill>
                            <a:schemeClr val="bg1"/>
                          </a:solidFill>
                          <a:effectLst/>
                          <a:uLnTx/>
                          <a:uFillTx/>
                          <a:latin typeface="+mn-lt"/>
                          <a:ea typeface="+mn-ea"/>
                          <a:cs typeface="+mn-cs"/>
                        </a:rPr>
                        <a:t>Notaire</a:t>
                      </a:r>
                      <a:endParaRPr lang="en-CA" sz="1000" b="1" dirty="0">
                        <a:solidFill>
                          <a:schemeClr val="bg1"/>
                        </a:solidFill>
                      </a:endParaRPr>
                    </a:p>
                  </a:txBody>
                  <a:tcPr anchor="ctr">
                    <a:lnL w="12700" cap="flat" cmpd="sng" algn="ctr">
                      <a:solidFill>
                        <a:srgbClr val="F8D956"/>
                      </a:solidFill>
                      <a:prstDash val="solid"/>
                      <a:round/>
                      <a:headEnd type="none" w="med" len="med"/>
                      <a:tailEnd type="none" w="med" len="med"/>
                    </a:lnL>
                    <a:lnR w="12700" cap="flat" cmpd="sng" algn="ctr">
                      <a:solidFill>
                        <a:srgbClr val="F8D956"/>
                      </a:solidFill>
                      <a:prstDash val="solid"/>
                      <a:round/>
                      <a:headEnd type="none" w="med" len="med"/>
                      <a:tailEnd type="none" w="med" len="med"/>
                    </a:lnR>
                    <a:lnT w="12700" cap="flat" cmpd="sng" algn="ctr">
                      <a:solidFill>
                        <a:srgbClr val="F8D956"/>
                      </a:solidFill>
                      <a:prstDash val="solid"/>
                      <a:round/>
                      <a:headEnd type="none" w="med" len="med"/>
                      <a:tailEnd type="none" w="med" len="med"/>
                    </a:lnT>
                    <a:lnB w="12700" cap="flat" cmpd="sng" algn="ctr">
                      <a:solidFill>
                        <a:srgbClr val="F8D95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000" b="1" dirty="0">
                        <a:solidFill>
                          <a:schemeClr val="bg1"/>
                        </a:solidFill>
                      </a:endParaRPr>
                    </a:p>
                  </a:txBody>
                  <a:tcPr anchor="ctr">
                    <a:lnL w="12700" cap="flat" cmpd="sng" algn="ctr">
                      <a:solidFill>
                        <a:srgbClr val="F8D956"/>
                      </a:solidFill>
                      <a:prstDash val="solid"/>
                      <a:round/>
                      <a:headEnd type="none" w="med" len="med"/>
                      <a:tailEnd type="none" w="med" len="med"/>
                    </a:lnL>
                    <a:lnR w="12700" cap="flat" cmpd="sng" algn="ctr">
                      <a:solidFill>
                        <a:srgbClr val="F8D95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CA" sz="1000" b="1" dirty="0">
                          <a:solidFill>
                            <a:schemeClr val="bg1"/>
                          </a:solidFill>
                        </a:rPr>
                        <a:t>Gestionnaire immobilier</a:t>
                      </a:r>
                      <a:endParaRPr lang="en-CA" sz="1000" b="1" dirty="0">
                        <a:solidFill>
                          <a:schemeClr val="bg1"/>
                        </a:solidFill>
                      </a:endParaRPr>
                    </a:p>
                  </a:txBody>
                  <a:tcPr anchor="ctr">
                    <a:lnL w="12700" cap="flat" cmpd="sng" algn="ctr">
                      <a:solidFill>
                        <a:srgbClr val="F8D956"/>
                      </a:solidFill>
                      <a:prstDash val="solid"/>
                      <a:round/>
                      <a:headEnd type="none" w="med" len="med"/>
                      <a:tailEnd type="none" w="med" len="med"/>
                    </a:lnL>
                    <a:lnR w="12700" cap="flat" cmpd="sng" algn="ctr">
                      <a:solidFill>
                        <a:srgbClr val="F8D956"/>
                      </a:solidFill>
                      <a:prstDash val="solid"/>
                      <a:round/>
                      <a:headEnd type="none" w="med" len="med"/>
                      <a:tailEnd type="none" w="med" len="med"/>
                    </a:lnR>
                    <a:lnT w="12700" cap="flat" cmpd="sng" algn="ctr">
                      <a:solidFill>
                        <a:srgbClr val="F8D956"/>
                      </a:solidFill>
                      <a:prstDash val="solid"/>
                      <a:round/>
                      <a:headEnd type="none" w="med" len="med"/>
                      <a:tailEnd type="none" w="med" len="med"/>
                    </a:lnT>
                    <a:lnB w="12700" cap="flat" cmpd="sng" algn="ctr">
                      <a:solidFill>
                        <a:srgbClr val="F8D95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2659583"/>
                  </a:ext>
                </a:extLst>
              </a:tr>
              <a:tr h="252000">
                <a:tc>
                  <a:txBody>
                    <a:bodyPr/>
                    <a:lstStyle/>
                    <a:p>
                      <a:endParaRPr lang="en-CA" sz="1000" b="1" dirty="0">
                        <a:solidFill>
                          <a:schemeClr val="bg1"/>
                        </a:solidFill>
                      </a:endParaRPr>
                    </a:p>
                  </a:txBody>
                  <a:tcPr anchor="ctr">
                    <a:lnL w="12700" cmpd="sng">
                      <a:noFill/>
                    </a:lnL>
                    <a:lnR w="12700" cmpd="sng">
                      <a:noFill/>
                    </a:lnR>
                    <a:lnT w="12700" cap="flat" cmpd="sng" algn="ctr">
                      <a:solidFill>
                        <a:srgbClr val="F8D956"/>
                      </a:solidFill>
                      <a:prstDash val="solid"/>
                      <a:round/>
                      <a:headEnd type="none" w="med" len="med"/>
                      <a:tailEnd type="none" w="med" len="med"/>
                    </a:lnT>
                    <a:lnB w="12700" cap="flat" cmpd="sng" algn="ctr">
                      <a:solidFill>
                        <a:srgbClr val="F8D95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000" b="1" dirty="0">
                        <a:solidFill>
                          <a:schemeClr val="bg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000" b="1" dirty="0">
                        <a:solidFill>
                          <a:schemeClr val="bg1"/>
                        </a:solidFill>
                      </a:endParaRPr>
                    </a:p>
                  </a:txBody>
                  <a:tcPr anchor="ctr">
                    <a:lnL w="12700" cmpd="sng">
                      <a:noFill/>
                    </a:lnL>
                    <a:lnR w="12700" cmpd="sng">
                      <a:noFill/>
                    </a:lnR>
                    <a:lnT w="12700" cap="flat" cmpd="sng" algn="ctr">
                      <a:solidFill>
                        <a:srgbClr val="F8D956"/>
                      </a:solidFill>
                      <a:prstDash val="solid"/>
                      <a:round/>
                      <a:headEnd type="none" w="med" len="med"/>
                      <a:tailEnd type="none" w="med" len="med"/>
                    </a:lnT>
                    <a:lnB w="12700" cap="flat" cmpd="sng" algn="ctr">
                      <a:solidFill>
                        <a:srgbClr val="F8D95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2805987"/>
                  </a:ext>
                </a:extLst>
              </a:tr>
              <a:tr h="241551">
                <a:tc>
                  <a:txBody>
                    <a:bodyPr/>
                    <a:lstStyle/>
                    <a:p>
                      <a:r>
                        <a:rPr lang="fr-CA" sz="1000" b="1" dirty="0">
                          <a:solidFill>
                            <a:schemeClr val="bg1"/>
                          </a:solidFill>
                        </a:rPr>
                        <a:t>Inspecteur</a:t>
                      </a:r>
                      <a:endParaRPr lang="en-CA" sz="1000" b="1" dirty="0">
                        <a:solidFill>
                          <a:schemeClr val="bg1"/>
                        </a:solidFill>
                      </a:endParaRPr>
                    </a:p>
                  </a:txBody>
                  <a:tcPr anchor="ctr">
                    <a:lnL w="12700" cap="flat" cmpd="sng" algn="ctr">
                      <a:solidFill>
                        <a:srgbClr val="F8D956"/>
                      </a:solidFill>
                      <a:prstDash val="solid"/>
                      <a:round/>
                      <a:headEnd type="none" w="med" len="med"/>
                      <a:tailEnd type="none" w="med" len="med"/>
                    </a:lnL>
                    <a:lnR w="12700" cap="flat" cmpd="sng" algn="ctr">
                      <a:solidFill>
                        <a:srgbClr val="F8D956"/>
                      </a:solidFill>
                      <a:prstDash val="solid"/>
                      <a:round/>
                      <a:headEnd type="none" w="med" len="med"/>
                      <a:tailEnd type="none" w="med" len="med"/>
                    </a:lnR>
                    <a:lnT w="12700" cap="flat" cmpd="sng" algn="ctr">
                      <a:solidFill>
                        <a:srgbClr val="F8D956"/>
                      </a:solidFill>
                      <a:prstDash val="solid"/>
                      <a:round/>
                      <a:headEnd type="none" w="med" len="med"/>
                      <a:tailEnd type="none" w="med" len="med"/>
                    </a:lnT>
                    <a:lnB w="12700" cap="flat" cmpd="sng" algn="ctr">
                      <a:solidFill>
                        <a:srgbClr val="F8D95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000" b="1" dirty="0">
                        <a:solidFill>
                          <a:schemeClr val="bg1"/>
                        </a:solidFill>
                      </a:endParaRPr>
                    </a:p>
                  </a:txBody>
                  <a:tcPr anchor="ctr">
                    <a:lnL w="12700" cap="flat" cmpd="sng" algn="ctr">
                      <a:solidFill>
                        <a:srgbClr val="F8D956"/>
                      </a:solidFill>
                      <a:prstDash val="solid"/>
                      <a:round/>
                      <a:headEnd type="none" w="med" len="med"/>
                      <a:tailEnd type="none" w="med" len="med"/>
                    </a:lnL>
                    <a:lnR w="12700" cap="flat" cmpd="sng" algn="ctr">
                      <a:solidFill>
                        <a:srgbClr val="F8D95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CA" sz="1000" b="1" dirty="0">
                          <a:solidFill>
                            <a:schemeClr val="bg1"/>
                          </a:solidFill>
                        </a:rPr>
                        <a:t>Prêteur privé</a:t>
                      </a:r>
                      <a:endParaRPr lang="en-CA" sz="1000" b="1" dirty="0">
                        <a:solidFill>
                          <a:schemeClr val="bg1"/>
                        </a:solidFill>
                      </a:endParaRPr>
                    </a:p>
                  </a:txBody>
                  <a:tcPr anchor="ctr">
                    <a:lnL w="12700" cap="flat" cmpd="sng" algn="ctr">
                      <a:solidFill>
                        <a:srgbClr val="F8D956"/>
                      </a:solidFill>
                      <a:prstDash val="solid"/>
                      <a:round/>
                      <a:headEnd type="none" w="med" len="med"/>
                      <a:tailEnd type="none" w="med" len="med"/>
                    </a:lnL>
                    <a:lnR w="12700" cap="flat" cmpd="sng" algn="ctr">
                      <a:solidFill>
                        <a:srgbClr val="F8D956"/>
                      </a:solidFill>
                      <a:prstDash val="solid"/>
                      <a:round/>
                      <a:headEnd type="none" w="med" len="med"/>
                      <a:tailEnd type="none" w="med" len="med"/>
                    </a:lnR>
                    <a:lnT w="12700" cap="flat" cmpd="sng" algn="ctr">
                      <a:solidFill>
                        <a:srgbClr val="F8D956"/>
                      </a:solidFill>
                      <a:prstDash val="solid"/>
                      <a:round/>
                      <a:headEnd type="none" w="med" len="med"/>
                      <a:tailEnd type="none" w="med" len="med"/>
                    </a:lnT>
                    <a:lnB w="12700" cap="flat" cmpd="sng" algn="ctr">
                      <a:solidFill>
                        <a:srgbClr val="F8D95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69556268"/>
                  </a:ext>
                </a:extLst>
              </a:tr>
              <a:tr h="241551">
                <a:tc>
                  <a:txBody>
                    <a:bodyPr/>
                    <a:lstStyle/>
                    <a:p>
                      <a:endParaRPr lang="en-CA" sz="1000" b="1" dirty="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8D956"/>
                      </a:solidFill>
                      <a:prstDash val="solid"/>
                      <a:round/>
                      <a:headEnd type="none" w="med" len="med"/>
                      <a:tailEnd type="none" w="med" len="med"/>
                    </a:lnT>
                    <a:lnB w="12700" cap="flat" cmpd="sng" algn="ctr">
                      <a:solidFill>
                        <a:srgbClr val="F8D95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000" b="1" dirty="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000" b="1" dirty="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8D956"/>
                      </a:solidFill>
                      <a:prstDash val="solid"/>
                      <a:round/>
                      <a:headEnd type="none" w="med" len="med"/>
                      <a:tailEnd type="none" w="med" len="med"/>
                    </a:lnT>
                    <a:lnB w="12700" cap="flat" cmpd="sng" algn="ctr">
                      <a:solidFill>
                        <a:srgbClr val="F8D95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2901306"/>
                  </a:ext>
                </a:extLst>
              </a:tr>
              <a:tr h="241551">
                <a:tc>
                  <a:txBody>
                    <a:bodyPr/>
                    <a:lstStyle/>
                    <a:p>
                      <a:r>
                        <a:rPr lang="fr-CA" sz="1000" b="1" dirty="0">
                          <a:solidFill>
                            <a:schemeClr val="bg1"/>
                          </a:solidFill>
                        </a:rPr>
                        <a:t>Comptable/fiscaliste</a:t>
                      </a:r>
                      <a:endParaRPr lang="en-CA" sz="1000" b="1" dirty="0">
                        <a:solidFill>
                          <a:schemeClr val="bg1"/>
                        </a:solidFill>
                      </a:endParaRPr>
                    </a:p>
                  </a:txBody>
                  <a:tcPr anchor="ctr">
                    <a:lnL w="12700" cap="flat" cmpd="sng" algn="ctr">
                      <a:solidFill>
                        <a:srgbClr val="F8D956"/>
                      </a:solidFill>
                      <a:prstDash val="solid"/>
                      <a:round/>
                      <a:headEnd type="none" w="med" len="med"/>
                      <a:tailEnd type="none" w="med" len="med"/>
                    </a:lnL>
                    <a:lnR w="12700" cap="flat" cmpd="sng" algn="ctr">
                      <a:solidFill>
                        <a:srgbClr val="F8D956"/>
                      </a:solidFill>
                      <a:prstDash val="solid"/>
                      <a:round/>
                      <a:headEnd type="none" w="med" len="med"/>
                      <a:tailEnd type="none" w="med" len="med"/>
                    </a:lnR>
                    <a:lnT w="12700" cap="flat" cmpd="sng" algn="ctr">
                      <a:solidFill>
                        <a:srgbClr val="F8D956"/>
                      </a:solidFill>
                      <a:prstDash val="solid"/>
                      <a:round/>
                      <a:headEnd type="none" w="med" len="med"/>
                      <a:tailEnd type="none" w="med" len="med"/>
                    </a:lnT>
                    <a:lnB w="12700" cap="flat" cmpd="sng" algn="ctr">
                      <a:solidFill>
                        <a:srgbClr val="F8D95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CA" sz="1000" b="1" dirty="0">
                        <a:solidFill>
                          <a:schemeClr val="bg1"/>
                        </a:solidFill>
                      </a:endParaRPr>
                    </a:p>
                  </a:txBody>
                  <a:tcPr anchor="ctr">
                    <a:lnL w="12700" cap="flat" cmpd="sng" algn="ctr">
                      <a:solidFill>
                        <a:srgbClr val="F8D956"/>
                      </a:solidFill>
                      <a:prstDash val="solid"/>
                      <a:round/>
                      <a:headEnd type="none" w="med" len="med"/>
                      <a:tailEnd type="none" w="med" len="med"/>
                    </a:lnL>
                    <a:lnR w="12700" cap="flat" cmpd="sng" algn="ctr">
                      <a:solidFill>
                        <a:srgbClr val="F8D95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CA" sz="1000" b="1" dirty="0">
                          <a:solidFill>
                            <a:schemeClr val="bg1"/>
                          </a:solidFill>
                        </a:rPr>
                        <a:t>Courtier d’assurances</a:t>
                      </a:r>
                      <a:endParaRPr lang="en-CA" sz="1000" b="1" dirty="0">
                        <a:solidFill>
                          <a:schemeClr val="bg1"/>
                        </a:solidFill>
                      </a:endParaRPr>
                    </a:p>
                  </a:txBody>
                  <a:tcPr anchor="ctr">
                    <a:lnL w="12700" cap="flat" cmpd="sng" algn="ctr">
                      <a:solidFill>
                        <a:srgbClr val="F8D956"/>
                      </a:solidFill>
                      <a:prstDash val="solid"/>
                      <a:round/>
                      <a:headEnd type="none" w="med" len="med"/>
                      <a:tailEnd type="none" w="med" len="med"/>
                    </a:lnL>
                    <a:lnR w="12700" cap="flat" cmpd="sng" algn="ctr">
                      <a:solidFill>
                        <a:srgbClr val="F8D956"/>
                      </a:solidFill>
                      <a:prstDash val="solid"/>
                      <a:round/>
                      <a:headEnd type="none" w="med" len="med"/>
                      <a:tailEnd type="none" w="med" len="med"/>
                    </a:lnR>
                    <a:lnT w="12700" cap="flat" cmpd="sng" algn="ctr">
                      <a:solidFill>
                        <a:srgbClr val="F8D956"/>
                      </a:solidFill>
                      <a:prstDash val="solid"/>
                      <a:round/>
                      <a:headEnd type="none" w="med" len="med"/>
                      <a:tailEnd type="none" w="med" len="med"/>
                    </a:lnT>
                    <a:lnB w="12700" cap="flat" cmpd="sng" algn="ctr">
                      <a:solidFill>
                        <a:srgbClr val="F8D95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85951640"/>
                  </a:ext>
                </a:extLst>
              </a:tr>
            </a:tbl>
          </a:graphicData>
        </a:graphic>
      </p:graphicFrame>
      <p:sp>
        <p:nvSpPr>
          <p:cNvPr id="39" name="Oval 38">
            <a:extLst>
              <a:ext uri="{FF2B5EF4-FFF2-40B4-BE49-F238E27FC236}">
                <a16:creationId xmlns:a16="http://schemas.microsoft.com/office/drawing/2014/main" id="{27F1D523-311C-1EE8-3D60-839CA380936F}"/>
              </a:ext>
            </a:extLst>
          </p:cNvPr>
          <p:cNvSpPr/>
          <p:nvPr/>
        </p:nvSpPr>
        <p:spPr>
          <a:xfrm>
            <a:off x="8271066" y="3246964"/>
            <a:ext cx="360000" cy="360000"/>
          </a:xfrm>
          <a:prstGeom prst="ellipse">
            <a:avLst/>
          </a:prstGeom>
          <a:noFill/>
          <a:ln>
            <a:solidFill>
              <a:srgbClr val="F8D95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pic>
        <p:nvPicPr>
          <p:cNvPr id="40" name="Graphic 39" descr="Playbook outline">
            <a:extLst>
              <a:ext uri="{FF2B5EF4-FFF2-40B4-BE49-F238E27FC236}">
                <a16:creationId xmlns:a16="http://schemas.microsoft.com/office/drawing/2014/main" id="{9B3266F7-B046-6DD9-F35B-975DD44138A4}"/>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8307066" y="3282964"/>
            <a:ext cx="288000" cy="288000"/>
          </a:xfrm>
          <a:prstGeom prst="rect">
            <a:avLst/>
          </a:prstGeom>
        </p:spPr>
      </p:pic>
      <p:sp>
        <p:nvSpPr>
          <p:cNvPr id="42" name="Oval 41">
            <a:extLst>
              <a:ext uri="{FF2B5EF4-FFF2-40B4-BE49-F238E27FC236}">
                <a16:creationId xmlns:a16="http://schemas.microsoft.com/office/drawing/2014/main" id="{20D96CF9-2FB8-7DBB-F9C9-CE58EFC0A0F6}"/>
              </a:ext>
            </a:extLst>
          </p:cNvPr>
          <p:cNvSpPr/>
          <p:nvPr/>
        </p:nvSpPr>
        <p:spPr>
          <a:xfrm>
            <a:off x="8271066" y="1743807"/>
            <a:ext cx="360000" cy="360000"/>
          </a:xfrm>
          <a:prstGeom prst="ellipse">
            <a:avLst/>
          </a:prstGeom>
          <a:noFill/>
          <a:ln>
            <a:solidFill>
              <a:srgbClr val="F8D95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pic>
        <p:nvPicPr>
          <p:cNvPr id="47" name="Graphic 46" descr="Scientific Thought outline">
            <a:extLst>
              <a:ext uri="{FF2B5EF4-FFF2-40B4-BE49-F238E27FC236}">
                <a16:creationId xmlns:a16="http://schemas.microsoft.com/office/drawing/2014/main" id="{D7901299-D2B2-12C9-BA19-C57D692280E1}"/>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8307066" y="1779807"/>
            <a:ext cx="288000" cy="288000"/>
          </a:xfrm>
          <a:prstGeom prst="rect">
            <a:avLst/>
          </a:prstGeom>
        </p:spPr>
      </p:pic>
      <p:sp>
        <p:nvSpPr>
          <p:cNvPr id="48" name="Oval 47">
            <a:extLst>
              <a:ext uri="{FF2B5EF4-FFF2-40B4-BE49-F238E27FC236}">
                <a16:creationId xmlns:a16="http://schemas.microsoft.com/office/drawing/2014/main" id="{45F8A097-BC2A-2290-C374-EF78583970D9}"/>
              </a:ext>
            </a:extLst>
          </p:cNvPr>
          <p:cNvSpPr/>
          <p:nvPr/>
        </p:nvSpPr>
        <p:spPr>
          <a:xfrm>
            <a:off x="8271066" y="2237527"/>
            <a:ext cx="360000" cy="360000"/>
          </a:xfrm>
          <a:prstGeom prst="ellipse">
            <a:avLst/>
          </a:prstGeom>
          <a:noFill/>
          <a:ln>
            <a:solidFill>
              <a:srgbClr val="F8D95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pic>
        <p:nvPicPr>
          <p:cNvPr id="49" name="Graphic 48" descr="Document outline">
            <a:extLst>
              <a:ext uri="{FF2B5EF4-FFF2-40B4-BE49-F238E27FC236}">
                <a16:creationId xmlns:a16="http://schemas.microsoft.com/office/drawing/2014/main" id="{1B203E4B-939B-B612-27F6-E02086DE0557}"/>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8307066" y="2273527"/>
            <a:ext cx="288000" cy="288000"/>
          </a:xfrm>
          <a:prstGeom prst="rect">
            <a:avLst/>
          </a:prstGeom>
        </p:spPr>
      </p:pic>
      <p:cxnSp>
        <p:nvCxnSpPr>
          <p:cNvPr id="50" name="Straight Connector 49">
            <a:extLst>
              <a:ext uri="{FF2B5EF4-FFF2-40B4-BE49-F238E27FC236}">
                <a16:creationId xmlns:a16="http://schemas.microsoft.com/office/drawing/2014/main" id="{1B8C9407-0A7D-0453-A9FF-C78C1C1B0CCE}"/>
              </a:ext>
            </a:extLst>
          </p:cNvPr>
          <p:cNvCxnSpPr>
            <a:cxnSpLocks/>
            <a:stCxn id="42" idx="6"/>
          </p:cNvCxnSpPr>
          <p:nvPr/>
        </p:nvCxnSpPr>
        <p:spPr>
          <a:xfrm>
            <a:off x="8631066" y="1923807"/>
            <a:ext cx="611610" cy="0"/>
          </a:xfrm>
          <a:prstGeom prst="line">
            <a:avLst/>
          </a:prstGeom>
          <a:ln w="12700">
            <a:solidFill>
              <a:schemeClr val="bg1"/>
            </a:solidFill>
            <a:prstDash val="sysDash"/>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516F7B2D-B0B9-5C74-55AE-FE81065195F3}"/>
              </a:ext>
            </a:extLst>
          </p:cNvPr>
          <p:cNvCxnSpPr>
            <a:cxnSpLocks/>
          </p:cNvCxnSpPr>
          <p:nvPr/>
        </p:nvCxnSpPr>
        <p:spPr>
          <a:xfrm>
            <a:off x="8631066" y="2422779"/>
            <a:ext cx="611610" cy="0"/>
          </a:xfrm>
          <a:prstGeom prst="line">
            <a:avLst/>
          </a:prstGeom>
          <a:ln w="12700">
            <a:solidFill>
              <a:schemeClr val="bg1"/>
            </a:solidFill>
            <a:prstDash val="sysDash"/>
          </a:ln>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5E4015AF-CEF2-0D7D-0EB8-B10E32BA490E}"/>
              </a:ext>
            </a:extLst>
          </p:cNvPr>
          <p:cNvCxnSpPr>
            <a:cxnSpLocks/>
          </p:cNvCxnSpPr>
          <p:nvPr/>
        </p:nvCxnSpPr>
        <p:spPr>
          <a:xfrm>
            <a:off x="8631066" y="2936992"/>
            <a:ext cx="611610" cy="0"/>
          </a:xfrm>
          <a:prstGeom prst="line">
            <a:avLst/>
          </a:prstGeom>
          <a:ln w="12700">
            <a:solidFill>
              <a:schemeClr val="bg1"/>
            </a:solidFill>
            <a:prstDash val="sysDash"/>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37408F12-5DC0-E3B9-1F18-0B9E14D0613A}"/>
              </a:ext>
            </a:extLst>
          </p:cNvPr>
          <p:cNvCxnSpPr>
            <a:cxnSpLocks/>
          </p:cNvCxnSpPr>
          <p:nvPr/>
        </p:nvCxnSpPr>
        <p:spPr>
          <a:xfrm>
            <a:off x="8631066" y="3431469"/>
            <a:ext cx="611610" cy="0"/>
          </a:xfrm>
          <a:prstGeom prst="line">
            <a:avLst/>
          </a:prstGeom>
          <a:ln w="12700">
            <a:solidFill>
              <a:schemeClr val="bg1"/>
            </a:solidFill>
            <a:prstDash val="sysDash"/>
          </a:ln>
        </p:spPr>
        <p:style>
          <a:lnRef idx="2">
            <a:schemeClr val="accent1"/>
          </a:lnRef>
          <a:fillRef idx="0">
            <a:schemeClr val="accent1"/>
          </a:fillRef>
          <a:effectRef idx="1">
            <a:schemeClr val="accent1"/>
          </a:effectRef>
          <a:fontRef idx="minor">
            <a:schemeClr val="tx1"/>
          </a:fontRef>
        </p:style>
      </p:cxnSp>
      <p:sp>
        <p:nvSpPr>
          <p:cNvPr id="54" name="Oval 53">
            <a:extLst>
              <a:ext uri="{FF2B5EF4-FFF2-40B4-BE49-F238E27FC236}">
                <a16:creationId xmlns:a16="http://schemas.microsoft.com/office/drawing/2014/main" id="{8C6517B4-98AE-B1CC-E63F-87C46436F1B6}"/>
              </a:ext>
            </a:extLst>
          </p:cNvPr>
          <p:cNvSpPr/>
          <p:nvPr/>
        </p:nvSpPr>
        <p:spPr>
          <a:xfrm>
            <a:off x="8271066" y="3758713"/>
            <a:ext cx="360000" cy="360000"/>
          </a:xfrm>
          <a:prstGeom prst="ellipse">
            <a:avLst/>
          </a:prstGeom>
          <a:noFill/>
          <a:ln>
            <a:solidFill>
              <a:srgbClr val="F8D95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pic>
        <p:nvPicPr>
          <p:cNvPr id="55" name="Graphic 54" descr="Dollar outline">
            <a:extLst>
              <a:ext uri="{FF2B5EF4-FFF2-40B4-BE49-F238E27FC236}">
                <a16:creationId xmlns:a16="http://schemas.microsoft.com/office/drawing/2014/main" id="{EAF3E5F0-E9FE-B00A-1302-69452C9D99BC}"/>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8307066" y="3794713"/>
            <a:ext cx="288000" cy="288000"/>
          </a:xfrm>
          <a:prstGeom prst="rect">
            <a:avLst/>
          </a:prstGeom>
        </p:spPr>
      </p:pic>
      <p:cxnSp>
        <p:nvCxnSpPr>
          <p:cNvPr id="56" name="Straight Connector 55">
            <a:extLst>
              <a:ext uri="{FF2B5EF4-FFF2-40B4-BE49-F238E27FC236}">
                <a16:creationId xmlns:a16="http://schemas.microsoft.com/office/drawing/2014/main" id="{ABE25CE4-1A2F-B449-0349-834DF3265C6A}"/>
              </a:ext>
            </a:extLst>
          </p:cNvPr>
          <p:cNvCxnSpPr>
            <a:cxnSpLocks/>
            <a:stCxn id="54" idx="6"/>
          </p:cNvCxnSpPr>
          <p:nvPr/>
        </p:nvCxnSpPr>
        <p:spPr>
          <a:xfrm>
            <a:off x="8631066" y="3938713"/>
            <a:ext cx="611610" cy="0"/>
          </a:xfrm>
          <a:prstGeom prst="line">
            <a:avLst/>
          </a:prstGeom>
          <a:ln w="12700">
            <a:solidFill>
              <a:schemeClr val="bg1"/>
            </a:solidFill>
            <a:prstDash val="sysDash"/>
          </a:ln>
        </p:spPr>
        <p:style>
          <a:lnRef idx="2">
            <a:schemeClr val="accent1"/>
          </a:lnRef>
          <a:fillRef idx="0">
            <a:schemeClr val="accent1"/>
          </a:fillRef>
          <a:effectRef idx="1">
            <a:schemeClr val="accent1"/>
          </a:effectRef>
          <a:fontRef idx="minor">
            <a:schemeClr val="tx1"/>
          </a:fontRef>
        </p:style>
      </p:cxnSp>
      <p:sp>
        <p:nvSpPr>
          <p:cNvPr id="57" name="Oval 56">
            <a:extLst>
              <a:ext uri="{FF2B5EF4-FFF2-40B4-BE49-F238E27FC236}">
                <a16:creationId xmlns:a16="http://schemas.microsoft.com/office/drawing/2014/main" id="{70B0D6F4-43A4-CAC0-8085-DC4AFEAC8D15}"/>
              </a:ext>
            </a:extLst>
          </p:cNvPr>
          <p:cNvSpPr/>
          <p:nvPr/>
        </p:nvSpPr>
        <p:spPr>
          <a:xfrm>
            <a:off x="4815967" y="2751780"/>
            <a:ext cx="360000" cy="360000"/>
          </a:xfrm>
          <a:prstGeom prst="ellipse">
            <a:avLst/>
          </a:prstGeom>
          <a:noFill/>
          <a:ln>
            <a:solidFill>
              <a:srgbClr val="F8D95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pic>
        <p:nvPicPr>
          <p:cNvPr id="58" name="Graphic 57" descr="Judge female outline">
            <a:extLst>
              <a:ext uri="{FF2B5EF4-FFF2-40B4-BE49-F238E27FC236}">
                <a16:creationId xmlns:a16="http://schemas.microsoft.com/office/drawing/2014/main" id="{854F2BED-669C-3E84-94DC-798D3A29C2AE}"/>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4851967" y="2787780"/>
            <a:ext cx="288000" cy="288000"/>
          </a:xfrm>
          <a:prstGeom prst="rect">
            <a:avLst/>
          </a:prstGeom>
        </p:spPr>
      </p:pic>
      <p:sp>
        <p:nvSpPr>
          <p:cNvPr id="59" name="Oval 58">
            <a:extLst>
              <a:ext uri="{FF2B5EF4-FFF2-40B4-BE49-F238E27FC236}">
                <a16:creationId xmlns:a16="http://schemas.microsoft.com/office/drawing/2014/main" id="{81736338-DD1A-FFBB-C684-732ABB7F91E2}"/>
              </a:ext>
            </a:extLst>
          </p:cNvPr>
          <p:cNvSpPr/>
          <p:nvPr/>
        </p:nvSpPr>
        <p:spPr>
          <a:xfrm>
            <a:off x="4815967" y="3245500"/>
            <a:ext cx="360000" cy="360000"/>
          </a:xfrm>
          <a:prstGeom prst="ellipse">
            <a:avLst/>
          </a:prstGeom>
          <a:noFill/>
          <a:ln>
            <a:solidFill>
              <a:srgbClr val="F8D95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pic>
        <p:nvPicPr>
          <p:cNvPr id="60" name="Graphic 59" descr="Contract outline">
            <a:extLst>
              <a:ext uri="{FF2B5EF4-FFF2-40B4-BE49-F238E27FC236}">
                <a16:creationId xmlns:a16="http://schemas.microsoft.com/office/drawing/2014/main" id="{4CDE3F87-36EF-8FF4-5FCB-36651D33719A}"/>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4851967" y="3281500"/>
            <a:ext cx="288000" cy="288000"/>
          </a:xfrm>
          <a:prstGeom prst="rect">
            <a:avLst/>
          </a:prstGeom>
        </p:spPr>
      </p:pic>
      <p:sp>
        <p:nvSpPr>
          <p:cNvPr id="61" name="Oval 60">
            <a:extLst>
              <a:ext uri="{FF2B5EF4-FFF2-40B4-BE49-F238E27FC236}">
                <a16:creationId xmlns:a16="http://schemas.microsoft.com/office/drawing/2014/main" id="{D2BDA0D7-C660-5AA6-BD07-0109AB657297}"/>
              </a:ext>
            </a:extLst>
          </p:cNvPr>
          <p:cNvSpPr/>
          <p:nvPr/>
        </p:nvSpPr>
        <p:spPr>
          <a:xfrm>
            <a:off x="4815967" y="1735765"/>
            <a:ext cx="360000" cy="360000"/>
          </a:xfrm>
          <a:prstGeom prst="ellipse">
            <a:avLst/>
          </a:prstGeom>
          <a:noFill/>
          <a:ln>
            <a:solidFill>
              <a:srgbClr val="F8D95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pic>
        <p:nvPicPr>
          <p:cNvPr id="83" name="Graphic 82" descr="Building outline">
            <a:extLst>
              <a:ext uri="{FF2B5EF4-FFF2-40B4-BE49-F238E27FC236}">
                <a16:creationId xmlns:a16="http://schemas.microsoft.com/office/drawing/2014/main" id="{38B465F4-C62B-E1AD-3066-99D89999A590}"/>
              </a:ext>
            </a:extLst>
          </p:cNvPr>
          <p:cNvPicPr>
            <a:picLocks noChangeAspect="1"/>
          </p:cNvPicPr>
          <p:nvPr/>
        </p:nvPicPr>
        <p:blipFill>
          <a:blip>
            <a:extLst>
              <a:ext uri="{96DAC541-7B7A-43D3-8B79-37D633B846F1}">
                <asvg:svgBlip xmlns:asvg="http://schemas.microsoft.com/office/drawing/2016/SVG/main" r:embed="rId10"/>
              </a:ext>
            </a:extLst>
          </a:blip>
          <a:srcRect/>
          <a:stretch/>
        </p:blipFill>
        <p:spPr>
          <a:xfrm>
            <a:off x="4851967" y="1771765"/>
            <a:ext cx="288000" cy="288000"/>
          </a:xfrm>
          <a:prstGeom prst="rect">
            <a:avLst/>
          </a:prstGeom>
        </p:spPr>
      </p:pic>
      <p:sp>
        <p:nvSpPr>
          <p:cNvPr id="84" name="Oval 83">
            <a:extLst>
              <a:ext uri="{FF2B5EF4-FFF2-40B4-BE49-F238E27FC236}">
                <a16:creationId xmlns:a16="http://schemas.microsoft.com/office/drawing/2014/main" id="{2285EA1C-0EC2-7422-4CFB-27294618643E}"/>
              </a:ext>
            </a:extLst>
          </p:cNvPr>
          <p:cNvSpPr/>
          <p:nvPr/>
        </p:nvSpPr>
        <p:spPr>
          <a:xfrm>
            <a:off x="4815967" y="2236063"/>
            <a:ext cx="360000" cy="360000"/>
          </a:xfrm>
          <a:prstGeom prst="ellipse">
            <a:avLst/>
          </a:prstGeom>
          <a:noFill/>
          <a:ln>
            <a:solidFill>
              <a:srgbClr val="F8D95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pic>
        <p:nvPicPr>
          <p:cNvPr id="85" name="Graphic 84" descr="Coins outline">
            <a:extLst>
              <a:ext uri="{FF2B5EF4-FFF2-40B4-BE49-F238E27FC236}">
                <a16:creationId xmlns:a16="http://schemas.microsoft.com/office/drawing/2014/main" id="{074F6A43-9569-23CA-F902-35237D5A4607}"/>
              </a:ext>
            </a:extLst>
          </p:cNvPr>
          <p:cNvPicPr>
            <a:picLocks noChangeAspect="1"/>
          </p:cNvPicPr>
          <p:nvPr/>
        </p:nvPicPr>
        <p:blipFill>
          <a:blip>
            <a:extLst>
              <a:ext uri="{96DAC541-7B7A-43D3-8B79-37D633B846F1}">
                <asvg:svgBlip xmlns:asvg="http://schemas.microsoft.com/office/drawing/2016/SVG/main" r:embed="rId11"/>
              </a:ext>
            </a:extLst>
          </a:blip>
          <a:srcRect/>
          <a:stretch/>
        </p:blipFill>
        <p:spPr>
          <a:xfrm>
            <a:off x="4851967" y="2272063"/>
            <a:ext cx="288000" cy="288000"/>
          </a:xfrm>
          <a:prstGeom prst="rect">
            <a:avLst/>
          </a:prstGeom>
        </p:spPr>
      </p:pic>
      <p:cxnSp>
        <p:nvCxnSpPr>
          <p:cNvPr id="86" name="Straight Connector 85">
            <a:extLst>
              <a:ext uri="{FF2B5EF4-FFF2-40B4-BE49-F238E27FC236}">
                <a16:creationId xmlns:a16="http://schemas.microsoft.com/office/drawing/2014/main" id="{B93D3348-51C7-1AE0-689A-425FFDC76334}"/>
              </a:ext>
            </a:extLst>
          </p:cNvPr>
          <p:cNvCxnSpPr>
            <a:cxnSpLocks/>
            <a:stCxn id="61" idx="6"/>
          </p:cNvCxnSpPr>
          <p:nvPr/>
        </p:nvCxnSpPr>
        <p:spPr>
          <a:xfrm>
            <a:off x="5175967" y="1915765"/>
            <a:ext cx="611610" cy="0"/>
          </a:xfrm>
          <a:prstGeom prst="line">
            <a:avLst/>
          </a:prstGeom>
          <a:ln w="12700">
            <a:solidFill>
              <a:schemeClr val="bg1"/>
            </a:solidFill>
            <a:prstDash val="sysDash"/>
          </a:ln>
        </p:spPr>
        <p:style>
          <a:lnRef idx="2">
            <a:schemeClr val="accent1"/>
          </a:lnRef>
          <a:fillRef idx="0">
            <a:schemeClr val="accent1"/>
          </a:fillRef>
          <a:effectRef idx="1">
            <a:schemeClr val="accent1"/>
          </a:effectRef>
          <a:fontRef idx="minor">
            <a:schemeClr val="tx1"/>
          </a:fontRef>
        </p:style>
      </p:cxnSp>
      <p:cxnSp>
        <p:nvCxnSpPr>
          <p:cNvPr id="87" name="Straight Connector 86">
            <a:extLst>
              <a:ext uri="{FF2B5EF4-FFF2-40B4-BE49-F238E27FC236}">
                <a16:creationId xmlns:a16="http://schemas.microsoft.com/office/drawing/2014/main" id="{A798B3C3-F78E-91E4-A0E9-FE8B576D25FF}"/>
              </a:ext>
            </a:extLst>
          </p:cNvPr>
          <p:cNvCxnSpPr>
            <a:cxnSpLocks/>
          </p:cNvCxnSpPr>
          <p:nvPr/>
        </p:nvCxnSpPr>
        <p:spPr>
          <a:xfrm>
            <a:off x="5175967" y="2421315"/>
            <a:ext cx="611610" cy="0"/>
          </a:xfrm>
          <a:prstGeom prst="line">
            <a:avLst/>
          </a:prstGeom>
          <a:ln w="12700">
            <a:solidFill>
              <a:schemeClr val="bg1"/>
            </a:solidFill>
            <a:prstDash val="sysDash"/>
          </a:ln>
        </p:spPr>
        <p:style>
          <a:lnRef idx="2">
            <a:schemeClr val="accent1"/>
          </a:lnRef>
          <a:fillRef idx="0">
            <a:schemeClr val="accent1"/>
          </a:fillRef>
          <a:effectRef idx="1">
            <a:schemeClr val="accent1"/>
          </a:effectRef>
          <a:fontRef idx="minor">
            <a:schemeClr val="tx1"/>
          </a:fontRef>
        </p:style>
      </p:cxnSp>
      <p:cxnSp>
        <p:nvCxnSpPr>
          <p:cNvPr id="88" name="Straight Connector 87">
            <a:extLst>
              <a:ext uri="{FF2B5EF4-FFF2-40B4-BE49-F238E27FC236}">
                <a16:creationId xmlns:a16="http://schemas.microsoft.com/office/drawing/2014/main" id="{917FD076-261A-A772-6E63-3DCC5C16E2B1}"/>
              </a:ext>
            </a:extLst>
          </p:cNvPr>
          <p:cNvCxnSpPr>
            <a:cxnSpLocks/>
          </p:cNvCxnSpPr>
          <p:nvPr/>
        </p:nvCxnSpPr>
        <p:spPr>
          <a:xfrm>
            <a:off x="5175967" y="2935528"/>
            <a:ext cx="611610" cy="0"/>
          </a:xfrm>
          <a:prstGeom prst="line">
            <a:avLst/>
          </a:prstGeom>
          <a:ln w="12700">
            <a:solidFill>
              <a:schemeClr val="bg1"/>
            </a:solidFill>
            <a:prstDash val="sysDash"/>
          </a:ln>
        </p:spPr>
        <p:style>
          <a:lnRef idx="2">
            <a:schemeClr val="accent1"/>
          </a:lnRef>
          <a:fillRef idx="0">
            <a:schemeClr val="accent1"/>
          </a:fillRef>
          <a:effectRef idx="1">
            <a:schemeClr val="accent1"/>
          </a:effectRef>
          <a:fontRef idx="minor">
            <a:schemeClr val="tx1"/>
          </a:fontRef>
        </p:style>
      </p:cxnSp>
      <p:cxnSp>
        <p:nvCxnSpPr>
          <p:cNvPr id="92" name="Straight Connector 91">
            <a:extLst>
              <a:ext uri="{FF2B5EF4-FFF2-40B4-BE49-F238E27FC236}">
                <a16:creationId xmlns:a16="http://schemas.microsoft.com/office/drawing/2014/main" id="{1880F37B-143C-53DB-7428-23AF111D5C9F}"/>
              </a:ext>
            </a:extLst>
          </p:cNvPr>
          <p:cNvCxnSpPr>
            <a:cxnSpLocks/>
          </p:cNvCxnSpPr>
          <p:nvPr/>
        </p:nvCxnSpPr>
        <p:spPr>
          <a:xfrm>
            <a:off x="5175967" y="3430005"/>
            <a:ext cx="611610" cy="0"/>
          </a:xfrm>
          <a:prstGeom prst="line">
            <a:avLst/>
          </a:prstGeom>
          <a:ln w="12700">
            <a:solidFill>
              <a:schemeClr val="bg1"/>
            </a:solidFill>
            <a:prstDash val="sysDash"/>
          </a:ln>
        </p:spPr>
        <p:style>
          <a:lnRef idx="2">
            <a:schemeClr val="accent1"/>
          </a:lnRef>
          <a:fillRef idx="0">
            <a:schemeClr val="accent1"/>
          </a:fillRef>
          <a:effectRef idx="1">
            <a:schemeClr val="accent1"/>
          </a:effectRef>
          <a:fontRef idx="minor">
            <a:schemeClr val="tx1"/>
          </a:fontRef>
        </p:style>
      </p:cxnSp>
      <p:sp>
        <p:nvSpPr>
          <p:cNvPr id="93" name="Oval 92">
            <a:extLst>
              <a:ext uri="{FF2B5EF4-FFF2-40B4-BE49-F238E27FC236}">
                <a16:creationId xmlns:a16="http://schemas.microsoft.com/office/drawing/2014/main" id="{8AC35489-3C0E-2716-E889-242F6947AC71}"/>
              </a:ext>
            </a:extLst>
          </p:cNvPr>
          <p:cNvSpPr/>
          <p:nvPr/>
        </p:nvSpPr>
        <p:spPr>
          <a:xfrm>
            <a:off x="4815967" y="3750671"/>
            <a:ext cx="360000" cy="360000"/>
          </a:xfrm>
          <a:prstGeom prst="ellipse">
            <a:avLst/>
          </a:prstGeom>
          <a:noFill/>
          <a:ln>
            <a:solidFill>
              <a:srgbClr val="F8D95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pic>
        <p:nvPicPr>
          <p:cNvPr id="94" name="Graphic 93" descr="Magnifying glass outline">
            <a:extLst>
              <a:ext uri="{FF2B5EF4-FFF2-40B4-BE49-F238E27FC236}">
                <a16:creationId xmlns:a16="http://schemas.microsoft.com/office/drawing/2014/main" id="{7C4D6127-FD88-28FD-B6A1-CC941C050277}"/>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4851967" y="3786671"/>
            <a:ext cx="288000" cy="288000"/>
          </a:xfrm>
          <a:prstGeom prst="rect">
            <a:avLst/>
          </a:prstGeom>
        </p:spPr>
      </p:pic>
      <p:cxnSp>
        <p:nvCxnSpPr>
          <p:cNvPr id="95" name="Straight Connector 94">
            <a:extLst>
              <a:ext uri="{FF2B5EF4-FFF2-40B4-BE49-F238E27FC236}">
                <a16:creationId xmlns:a16="http://schemas.microsoft.com/office/drawing/2014/main" id="{60D67780-02DB-A869-D336-DB8215B8DB2E}"/>
              </a:ext>
            </a:extLst>
          </p:cNvPr>
          <p:cNvCxnSpPr>
            <a:cxnSpLocks/>
            <a:stCxn id="93" idx="6"/>
          </p:cNvCxnSpPr>
          <p:nvPr/>
        </p:nvCxnSpPr>
        <p:spPr>
          <a:xfrm>
            <a:off x="5175967" y="3930671"/>
            <a:ext cx="611610" cy="0"/>
          </a:xfrm>
          <a:prstGeom prst="line">
            <a:avLst/>
          </a:prstGeom>
          <a:ln w="12700">
            <a:solidFill>
              <a:schemeClr val="bg1"/>
            </a:solidFill>
            <a:prstDash val="sysDash"/>
          </a:ln>
        </p:spPr>
        <p:style>
          <a:lnRef idx="2">
            <a:schemeClr val="accent1"/>
          </a:lnRef>
          <a:fillRef idx="0">
            <a:schemeClr val="accent1"/>
          </a:fillRef>
          <a:effectRef idx="1">
            <a:schemeClr val="accent1"/>
          </a:effectRef>
          <a:fontRef idx="minor">
            <a:schemeClr val="tx1"/>
          </a:fontRef>
        </p:style>
      </p:cxnSp>
      <p:sp>
        <p:nvSpPr>
          <p:cNvPr id="96" name="Oval 95">
            <a:extLst>
              <a:ext uri="{FF2B5EF4-FFF2-40B4-BE49-F238E27FC236}">
                <a16:creationId xmlns:a16="http://schemas.microsoft.com/office/drawing/2014/main" id="{AA002F5D-2EDB-ECE8-AF86-AA89448E41B1}"/>
              </a:ext>
            </a:extLst>
          </p:cNvPr>
          <p:cNvSpPr/>
          <p:nvPr/>
        </p:nvSpPr>
        <p:spPr>
          <a:xfrm>
            <a:off x="4815967" y="4241515"/>
            <a:ext cx="360000" cy="360000"/>
          </a:xfrm>
          <a:prstGeom prst="ellipse">
            <a:avLst/>
          </a:prstGeom>
          <a:noFill/>
          <a:ln>
            <a:solidFill>
              <a:srgbClr val="F8D95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pic>
        <p:nvPicPr>
          <p:cNvPr id="97" name="Graphic 96" descr="Money with solid fill">
            <a:extLst>
              <a:ext uri="{FF2B5EF4-FFF2-40B4-BE49-F238E27FC236}">
                <a16:creationId xmlns:a16="http://schemas.microsoft.com/office/drawing/2014/main" id="{5367E7D0-B614-3ACC-16CF-560910EE2063}"/>
              </a:ext>
            </a:extLst>
          </p:cNvPr>
          <p:cNvPicPr>
            <a:picLocks noChangeAspect="1"/>
          </p:cNvPicPr>
          <p:nvPr/>
        </p:nvPicPr>
        <p:blipFill>
          <a:blip>
            <a:extLst>
              <a:ext uri="{96DAC541-7B7A-43D3-8B79-37D633B846F1}">
                <asvg:svgBlip xmlns:asvg="http://schemas.microsoft.com/office/drawing/2016/SVG/main" r:embed="rId13"/>
              </a:ext>
            </a:extLst>
          </a:blip>
          <a:srcRect/>
          <a:stretch/>
        </p:blipFill>
        <p:spPr>
          <a:xfrm>
            <a:off x="4851967" y="4277515"/>
            <a:ext cx="288000" cy="288000"/>
          </a:xfrm>
          <a:prstGeom prst="rect">
            <a:avLst/>
          </a:prstGeom>
        </p:spPr>
      </p:pic>
      <p:cxnSp>
        <p:nvCxnSpPr>
          <p:cNvPr id="98" name="Straight Connector 97">
            <a:extLst>
              <a:ext uri="{FF2B5EF4-FFF2-40B4-BE49-F238E27FC236}">
                <a16:creationId xmlns:a16="http://schemas.microsoft.com/office/drawing/2014/main" id="{084A4479-334C-DA85-E64A-C6319A2A948A}"/>
              </a:ext>
            </a:extLst>
          </p:cNvPr>
          <p:cNvCxnSpPr>
            <a:cxnSpLocks/>
            <a:stCxn id="96" idx="6"/>
          </p:cNvCxnSpPr>
          <p:nvPr/>
        </p:nvCxnSpPr>
        <p:spPr>
          <a:xfrm>
            <a:off x="5175967" y="4421515"/>
            <a:ext cx="611610" cy="0"/>
          </a:xfrm>
          <a:prstGeom prst="line">
            <a:avLst/>
          </a:prstGeom>
          <a:ln w="12700">
            <a:solidFill>
              <a:schemeClr val="bg1"/>
            </a:solidFill>
            <a:prstDash val="sysDash"/>
          </a:ln>
        </p:spPr>
        <p:style>
          <a:lnRef idx="2">
            <a:schemeClr val="accent1"/>
          </a:lnRef>
          <a:fillRef idx="0">
            <a:schemeClr val="accent1"/>
          </a:fillRef>
          <a:effectRef idx="1">
            <a:schemeClr val="accent1"/>
          </a:effectRef>
          <a:fontRef idx="minor">
            <a:schemeClr val="tx1"/>
          </a:fontRef>
        </p:style>
      </p:cxnSp>
      <p:sp>
        <p:nvSpPr>
          <p:cNvPr id="99" name="Oval 98">
            <a:extLst>
              <a:ext uri="{FF2B5EF4-FFF2-40B4-BE49-F238E27FC236}">
                <a16:creationId xmlns:a16="http://schemas.microsoft.com/office/drawing/2014/main" id="{ABC79D10-5B7A-5BA2-6CDD-7AD7E4033FE7}"/>
              </a:ext>
            </a:extLst>
          </p:cNvPr>
          <p:cNvSpPr/>
          <p:nvPr/>
        </p:nvSpPr>
        <p:spPr>
          <a:xfrm>
            <a:off x="8271066" y="4245001"/>
            <a:ext cx="360000" cy="360000"/>
          </a:xfrm>
          <a:prstGeom prst="ellipse">
            <a:avLst/>
          </a:prstGeom>
          <a:noFill/>
          <a:ln>
            <a:solidFill>
              <a:srgbClr val="F8D95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pic>
        <p:nvPicPr>
          <p:cNvPr id="100" name="Graphic 99" descr="Broken Fire Hydrant outline">
            <a:extLst>
              <a:ext uri="{FF2B5EF4-FFF2-40B4-BE49-F238E27FC236}">
                <a16:creationId xmlns:a16="http://schemas.microsoft.com/office/drawing/2014/main" id="{0D05D5FD-4ACC-D6F7-4C24-89BA6E47D806}"/>
              </a:ext>
            </a:extLst>
          </p:cNvPr>
          <p:cNvPicPr>
            <a:picLocks noChangeAspect="1"/>
          </p:cNvPicPr>
          <p:nvPr/>
        </p:nvPicPr>
        <p:blipFill>
          <a:blip>
            <a:extLst>
              <a:ext uri="{96DAC541-7B7A-43D3-8B79-37D633B846F1}">
                <asvg:svgBlip xmlns:asvg="http://schemas.microsoft.com/office/drawing/2016/SVG/main" r:embed="rId14"/>
              </a:ext>
            </a:extLst>
          </a:blip>
          <a:srcRect/>
          <a:stretch/>
        </p:blipFill>
        <p:spPr>
          <a:xfrm>
            <a:off x="8307066" y="4281001"/>
            <a:ext cx="288000" cy="288000"/>
          </a:xfrm>
          <a:prstGeom prst="rect">
            <a:avLst/>
          </a:prstGeom>
        </p:spPr>
      </p:pic>
      <p:cxnSp>
        <p:nvCxnSpPr>
          <p:cNvPr id="101" name="Straight Connector 100">
            <a:extLst>
              <a:ext uri="{FF2B5EF4-FFF2-40B4-BE49-F238E27FC236}">
                <a16:creationId xmlns:a16="http://schemas.microsoft.com/office/drawing/2014/main" id="{30253E9B-862D-57DA-FD76-61957BD81B0E}"/>
              </a:ext>
            </a:extLst>
          </p:cNvPr>
          <p:cNvCxnSpPr>
            <a:cxnSpLocks/>
            <a:stCxn id="99" idx="6"/>
          </p:cNvCxnSpPr>
          <p:nvPr/>
        </p:nvCxnSpPr>
        <p:spPr>
          <a:xfrm>
            <a:off x="8631066" y="4425001"/>
            <a:ext cx="611610" cy="0"/>
          </a:xfrm>
          <a:prstGeom prst="line">
            <a:avLst/>
          </a:prstGeom>
          <a:ln w="12700">
            <a:solidFill>
              <a:schemeClr val="bg1"/>
            </a:solidFill>
            <a:prstDash val="sysDash"/>
          </a:ln>
        </p:spPr>
        <p:style>
          <a:lnRef idx="2">
            <a:schemeClr val="accent1"/>
          </a:lnRef>
          <a:fillRef idx="0">
            <a:schemeClr val="accent1"/>
          </a:fillRef>
          <a:effectRef idx="1">
            <a:schemeClr val="accent1"/>
          </a:effectRef>
          <a:fontRef idx="minor">
            <a:schemeClr val="tx1"/>
          </a:fontRef>
        </p:style>
      </p:cxnSp>
      <p:sp>
        <p:nvSpPr>
          <p:cNvPr id="102" name="TextBox 101">
            <a:extLst>
              <a:ext uri="{FF2B5EF4-FFF2-40B4-BE49-F238E27FC236}">
                <a16:creationId xmlns:a16="http://schemas.microsoft.com/office/drawing/2014/main" id="{8BCA3A03-AF0C-4F58-D6DA-C90C06DBFEC0}"/>
              </a:ext>
            </a:extLst>
          </p:cNvPr>
          <p:cNvSpPr txBox="1">
            <a:spLocks/>
          </p:cNvSpPr>
          <p:nvPr/>
        </p:nvSpPr>
        <p:spPr>
          <a:xfrm>
            <a:off x="51724" y="6128875"/>
            <a:ext cx="2880000" cy="523220"/>
          </a:xfrm>
          <a:prstGeom prst="rect">
            <a:avLst/>
          </a:prstGeom>
          <a:noFill/>
        </p:spPr>
        <p:txBody>
          <a:bodyPr wrap="square" rtlCol="0">
            <a:spAutoFit/>
          </a:bodyPr>
          <a:lstStyle/>
          <a:p>
            <a:pPr marR="0" lvl="0" algn="ctr" defTabSz="914400" rtl="0" eaLnBrk="1" fontAlgn="auto" latinLnBrk="0" hangingPunct="1">
              <a:lnSpc>
                <a:spcPct val="100000"/>
              </a:lnSpc>
              <a:spcBef>
                <a:spcPts val="0"/>
              </a:spcBef>
              <a:spcAft>
                <a:spcPts val="0"/>
              </a:spcAft>
              <a:buClrTx/>
              <a:buSzTx/>
              <a:tabLst/>
              <a:defRPr/>
            </a:pPr>
            <a:r>
              <a:rPr lang="fr-FR" sz="700" b="1" dirty="0">
                <a:solidFill>
                  <a:srgbClr val="F8D956"/>
                </a:solidFill>
                <a:latin typeface="Aptos" panose="02110004020202020204"/>
              </a:rPr>
              <a:t>STEVEN GIGUÈRE</a:t>
            </a:r>
          </a:p>
          <a:p>
            <a:pPr marR="0" lvl="0" algn="ctr" defTabSz="914400" rtl="0" eaLnBrk="1" fontAlgn="auto" latinLnBrk="0" hangingPunct="1">
              <a:lnSpc>
                <a:spcPct val="100000"/>
              </a:lnSpc>
              <a:spcBef>
                <a:spcPts val="0"/>
              </a:spcBef>
              <a:spcAft>
                <a:spcPts val="0"/>
              </a:spcAft>
              <a:buClrTx/>
              <a:buSzTx/>
              <a:tabLst/>
              <a:defRPr/>
            </a:pPr>
            <a:r>
              <a:rPr lang="fr-FR" sz="700" dirty="0">
                <a:solidFill>
                  <a:schemeClr val="bg1"/>
                </a:solidFill>
                <a:latin typeface="Aptos" panose="02110004020202020204"/>
              </a:rPr>
              <a:t>Policier au SPVM</a:t>
            </a:r>
          </a:p>
          <a:p>
            <a:pPr marR="0" lvl="0" algn="ctr" defTabSz="914400" rtl="0" eaLnBrk="1" fontAlgn="auto" latinLnBrk="0" hangingPunct="1">
              <a:lnSpc>
                <a:spcPct val="100000"/>
              </a:lnSpc>
              <a:spcBef>
                <a:spcPts val="0"/>
              </a:spcBef>
              <a:spcAft>
                <a:spcPts val="0"/>
              </a:spcAft>
              <a:buClrTx/>
              <a:buSzTx/>
              <a:tabLst/>
              <a:defRPr/>
            </a:pPr>
            <a:r>
              <a:rPr kumimoji="0" lang="fr-FR" sz="700" i="0" u="none" strike="noStrike" kern="1200" cap="none" spc="0" normalizeH="0" baseline="0" noProof="0" dirty="0">
                <a:ln>
                  <a:noFill/>
                </a:ln>
                <a:solidFill>
                  <a:schemeClr val="bg1"/>
                </a:solidFill>
                <a:effectLst/>
                <a:uLnTx/>
                <a:uFillTx/>
                <a:latin typeface="Aptos" panose="02110004020202020204"/>
                <a:ea typeface="+mn-ea"/>
                <a:cs typeface="+mn-cs"/>
              </a:rPr>
              <a:t>Investisseur depuis 2019</a:t>
            </a:r>
          </a:p>
          <a:p>
            <a:pPr marR="0" lvl="0" algn="ctr" defTabSz="914400" rtl="0" eaLnBrk="1" fontAlgn="auto" latinLnBrk="0" hangingPunct="1">
              <a:lnSpc>
                <a:spcPct val="100000"/>
              </a:lnSpc>
              <a:spcBef>
                <a:spcPts val="0"/>
              </a:spcBef>
              <a:spcAft>
                <a:spcPts val="0"/>
              </a:spcAft>
              <a:buClrTx/>
              <a:buSzTx/>
              <a:tabLst/>
              <a:defRPr/>
            </a:pPr>
            <a:r>
              <a:rPr lang="fr-FR" sz="700" dirty="0">
                <a:solidFill>
                  <a:schemeClr val="bg1"/>
                </a:solidFill>
                <a:latin typeface="Aptos" panose="02110004020202020204"/>
              </a:rPr>
              <a:t>Optimisation &amp; développement</a:t>
            </a:r>
            <a:endParaRPr kumimoji="0" lang="fr-FR" sz="700" i="0" u="none" strike="noStrike" kern="1200" cap="none" spc="0" normalizeH="0" baseline="0" noProof="0" dirty="0">
              <a:ln>
                <a:noFill/>
              </a:ln>
              <a:solidFill>
                <a:schemeClr val="bg1"/>
              </a:solidFill>
              <a:effectLst/>
              <a:uLnTx/>
              <a:uFillTx/>
              <a:latin typeface="Aptos" panose="02110004020202020204"/>
              <a:ea typeface="+mn-ea"/>
              <a:cs typeface="+mn-cs"/>
            </a:endParaRPr>
          </a:p>
        </p:txBody>
      </p:sp>
      <p:sp>
        <p:nvSpPr>
          <p:cNvPr id="103" name="TextBox 102">
            <a:extLst>
              <a:ext uri="{FF2B5EF4-FFF2-40B4-BE49-F238E27FC236}">
                <a16:creationId xmlns:a16="http://schemas.microsoft.com/office/drawing/2014/main" id="{65E2C50E-DB2E-C1CD-7CF8-E0463C2C00DE}"/>
              </a:ext>
            </a:extLst>
          </p:cNvPr>
          <p:cNvSpPr txBox="1">
            <a:spLocks/>
          </p:cNvSpPr>
          <p:nvPr/>
        </p:nvSpPr>
        <p:spPr>
          <a:xfrm>
            <a:off x="1549731" y="6128875"/>
            <a:ext cx="2880000" cy="523220"/>
          </a:xfrm>
          <a:prstGeom prst="rect">
            <a:avLst/>
          </a:prstGeom>
          <a:noFill/>
        </p:spPr>
        <p:txBody>
          <a:bodyPr wrap="square" rtlCol="0">
            <a:spAutoFit/>
          </a:bodyPr>
          <a:lstStyle/>
          <a:p>
            <a:pPr marR="0" lvl="0" algn="ctr" defTabSz="914400" rtl="0" eaLnBrk="1" fontAlgn="auto" latinLnBrk="0" hangingPunct="1">
              <a:lnSpc>
                <a:spcPct val="100000"/>
              </a:lnSpc>
              <a:spcBef>
                <a:spcPts val="0"/>
              </a:spcBef>
              <a:spcAft>
                <a:spcPts val="0"/>
              </a:spcAft>
              <a:buClrTx/>
              <a:buSzTx/>
              <a:tabLst/>
              <a:defRPr/>
            </a:pPr>
            <a:r>
              <a:rPr lang="fr-FR" sz="700" b="1" dirty="0">
                <a:solidFill>
                  <a:srgbClr val="F8D956"/>
                </a:solidFill>
                <a:latin typeface="Aptos" panose="02110004020202020204"/>
              </a:rPr>
              <a:t>MICHAEL VILLIARD</a:t>
            </a:r>
          </a:p>
          <a:p>
            <a:pPr marR="0" lvl="0" algn="ctr" defTabSz="914400" rtl="0" eaLnBrk="1" fontAlgn="auto" latinLnBrk="0" hangingPunct="1">
              <a:lnSpc>
                <a:spcPct val="100000"/>
              </a:lnSpc>
              <a:spcBef>
                <a:spcPts val="0"/>
              </a:spcBef>
              <a:spcAft>
                <a:spcPts val="0"/>
              </a:spcAft>
              <a:buClrTx/>
              <a:buSzTx/>
              <a:tabLst/>
              <a:defRPr/>
            </a:pPr>
            <a:r>
              <a:rPr lang="fr-FR" sz="700" dirty="0">
                <a:solidFill>
                  <a:schemeClr val="bg1"/>
                </a:solidFill>
                <a:latin typeface="Aptos" panose="02110004020202020204"/>
              </a:rPr>
              <a:t>Policier au SPVM</a:t>
            </a:r>
          </a:p>
          <a:p>
            <a:pPr marR="0" lvl="0" algn="ctr" defTabSz="914400" rtl="0" eaLnBrk="1" fontAlgn="auto" latinLnBrk="0" hangingPunct="1">
              <a:lnSpc>
                <a:spcPct val="100000"/>
              </a:lnSpc>
              <a:spcBef>
                <a:spcPts val="0"/>
              </a:spcBef>
              <a:spcAft>
                <a:spcPts val="0"/>
              </a:spcAft>
              <a:buClrTx/>
              <a:buSzTx/>
              <a:tabLst/>
              <a:defRPr/>
            </a:pPr>
            <a:r>
              <a:rPr kumimoji="0" lang="fr-FR" sz="700" i="0" u="none" strike="noStrike" kern="1200" cap="none" spc="0" normalizeH="0" baseline="0" noProof="0" dirty="0">
                <a:ln>
                  <a:noFill/>
                </a:ln>
                <a:solidFill>
                  <a:schemeClr val="bg1"/>
                </a:solidFill>
                <a:effectLst/>
                <a:uLnTx/>
                <a:uFillTx/>
                <a:latin typeface="Aptos" panose="02110004020202020204"/>
                <a:ea typeface="+mn-ea"/>
                <a:cs typeface="+mn-cs"/>
              </a:rPr>
              <a:t>Investisseur depuis 2018</a:t>
            </a:r>
          </a:p>
          <a:p>
            <a:pPr marR="0" lvl="0" algn="ctr" defTabSz="914400" rtl="0" eaLnBrk="1" fontAlgn="auto" latinLnBrk="0" hangingPunct="1">
              <a:lnSpc>
                <a:spcPct val="100000"/>
              </a:lnSpc>
              <a:spcBef>
                <a:spcPts val="0"/>
              </a:spcBef>
              <a:spcAft>
                <a:spcPts val="0"/>
              </a:spcAft>
              <a:buClrTx/>
              <a:buSzTx/>
              <a:tabLst/>
              <a:defRPr/>
            </a:pPr>
            <a:r>
              <a:rPr lang="fr-FR" sz="700" dirty="0">
                <a:solidFill>
                  <a:schemeClr val="bg1"/>
                </a:solidFill>
                <a:latin typeface="Aptos" panose="02110004020202020204"/>
              </a:rPr>
              <a:t>Opérations &amp; gestion</a:t>
            </a:r>
            <a:endParaRPr kumimoji="0" lang="fr-FR" sz="700" i="0" u="none" strike="noStrike" kern="1200" cap="none" spc="0" normalizeH="0" baseline="0" noProof="0" dirty="0">
              <a:ln>
                <a:noFill/>
              </a:ln>
              <a:solidFill>
                <a:schemeClr val="bg1"/>
              </a:solidFill>
              <a:effectLst/>
              <a:uLnTx/>
              <a:uFillTx/>
              <a:latin typeface="Aptos" panose="02110004020202020204"/>
              <a:ea typeface="+mn-ea"/>
              <a:cs typeface="+mn-cs"/>
            </a:endParaRPr>
          </a:p>
        </p:txBody>
      </p:sp>
      <p:sp>
        <p:nvSpPr>
          <p:cNvPr id="104" name="TextBox 103">
            <a:extLst>
              <a:ext uri="{FF2B5EF4-FFF2-40B4-BE49-F238E27FC236}">
                <a16:creationId xmlns:a16="http://schemas.microsoft.com/office/drawing/2014/main" id="{2EE1812E-AE13-5E8B-B9D4-F751885EE40D}"/>
              </a:ext>
            </a:extLst>
          </p:cNvPr>
          <p:cNvSpPr txBox="1">
            <a:spLocks/>
          </p:cNvSpPr>
          <p:nvPr/>
        </p:nvSpPr>
        <p:spPr>
          <a:xfrm>
            <a:off x="3030047" y="6128875"/>
            <a:ext cx="2880000" cy="523220"/>
          </a:xfrm>
          <a:prstGeom prst="rect">
            <a:avLst/>
          </a:prstGeom>
          <a:noFill/>
        </p:spPr>
        <p:txBody>
          <a:bodyPr wrap="square" rtlCol="0">
            <a:spAutoFit/>
          </a:bodyPr>
          <a:lstStyle/>
          <a:p>
            <a:pPr marR="0" lvl="0" algn="ctr" defTabSz="914400" rtl="0" eaLnBrk="1" fontAlgn="auto" latinLnBrk="0" hangingPunct="1">
              <a:lnSpc>
                <a:spcPct val="100000"/>
              </a:lnSpc>
              <a:spcBef>
                <a:spcPts val="0"/>
              </a:spcBef>
              <a:spcAft>
                <a:spcPts val="0"/>
              </a:spcAft>
              <a:buClrTx/>
              <a:buSzTx/>
              <a:tabLst/>
              <a:defRPr/>
            </a:pPr>
            <a:r>
              <a:rPr lang="fr-FR" sz="700" b="1" dirty="0">
                <a:solidFill>
                  <a:srgbClr val="F8D956"/>
                </a:solidFill>
                <a:latin typeface="Aptos" panose="02110004020202020204"/>
              </a:rPr>
              <a:t>PHILIPPE MEUSER</a:t>
            </a:r>
          </a:p>
          <a:p>
            <a:pPr marR="0" lvl="0" algn="ctr" defTabSz="914400" rtl="0" eaLnBrk="1" fontAlgn="auto" latinLnBrk="0" hangingPunct="1">
              <a:lnSpc>
                <a:spcPct val="100000"/>
              </a:lnSpc>
              <a:spcBef>
                <a:spcPts val="0"/>
              </a:spcBef>
              <a:spcAft>
                <a:spcPts val="0"/>
              </a:spcAft>
              <a:buClrTx/>
              <a:buSzTx/>
              <a:tabLst/>
              <a:defRPr/>
            </a:pPr>
            <a:r>
              <a:rPr lang="fr-FR" sz="700" dirty="0">
                <a:solidFill>
                  <a:schemeClr val="bg1"/>
                </a:solidFill>
                <a:latin typeface="Aptos" panose="02110004020202020204"/>
              </a:rPr>
              <a:t>Ingénieur logiciel</a:t>
            </a:r>
          </a:p>
          <a:p>
            <a:pPr marR="0" lvl="0" algn="ctr" defTabSz="914400" rtl="0" eaLnBrk="1" fontAlgn="auto" latinLnBrk="0" hangingPunct="1">
              <a:lnSpc>
                <a:spcPct val="100000"/>
              </a:lnSpc>
              <a:spcBef>
                <a:spcPts val="0"/>
              </a:spcBef>
              <a:spcAft>
                <a:spcPts val="0"/>
              </a:spcAft>
              <a:buClrTx/>
              <a:buSzTx/>
              <a:tabLst/>
              <a:defRPr/>
            </a:pPr>
            <a:r>
              <a:rPr kumimoji="0" lang="fr-FR" sz="700" i="0" u="none" strike="noStrike" kern="1200" cap="none" spc="0" normalizeH="0" baseline="0" noProof="0" dirty="0">
                <a:ln>
                  <a:noFill/>
                </a:ln>
                <a:solidFill>
                  <a:schemeClr val="bg1"/>
                </a:solidFill>
                <a:effectLst/>
                <a:uLnTx/>
                <a:uFillTx/>
                <a:latin typeface="Aptos" panose="02110004020202020204"/>
                <a:ea typeface="+mn-ea"/>
                <a:cs typeface="+mn-cs"/>
              </a:rPr>
              <a:t>Investisseur depuis 2021</a:t>
            </a:r>
          </a:p>
          <a:p>
            <a:pPr marR="0" lvl="0" algn="ctr" defTabSz="914400" rtl="0" eaLnBrk="1" fontAlgn="auto" latinLnBrk="0" hangingPunct="1">
              <a:lnSpc>
                <a:spcPct val="100000"/>
              </a:lnSpc>
              <a:spcBef>
                <a:spcPts val="0"/>
              </a:spcBef>
              <a:spcAft>
                <a:spcPts val="0"/>
              </a:spcAft>
              <a:buClrTx/>
              <a:buSzTx/>
              <a:tabLst/>
              <a:defRPr/>
            </a:pPr>
            <a:r>
              <a:rPr lang="fr-FR" sz="700" dirty="0">
                <a:solidFill>
                  <a:schemeClr val="bg1"/>
                </a:solidFill>
                <a:latin typeface="Aptos" panose="02110004020202020204"/>
              </a:rPr>
              <a:t>Stratégie &amp; finances</a:t>
            </a:r>
            <a:endParaRPr kumimoji="0" lang="fr-FR" sz="700" i="0" u="none" strike="noStrike" kern="1200" cap="none" spc="0" normalizeH="0" baseline="0" noProof="0" dirty="0">
              <a:ln>
                <a:noFill/>
              </a:ln>
              <a:solidFill>
                <a:schemeClr val="bg1"/>
              </a:solidFill>
              <a:effectLst/>
              <a:uLnTx/>
              <a:uFillTx/>
              <a:latin typeface="Aptos" panose="02110004020202020204"/>
              <a:ea typeface="+mn-ea"/>
              <a:cs typeface="+mn-cs"/>
            </a:endParaRPr>
          </a:p>
        </p:txBody>
      </p:sp>
      <p:pic>
        <p:nvPicPr>
          <p:cNvPr id="105" name="Picture 104">
            <a:extLst>
              <a:ext uri="{FF2B5EF4-FFF2-40B4-BE49-F238E27FC236}">
                <a16:creationId xmlns:a16="http://schemas.microsoft.com/office/drawing/2014/main" id="{0EC7DDAF-A982-2905-D58C-D8E3841BFC1F}"/>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4034231" y="4756577"/>
            <a:ext cx="871632" cy="1309579"/>
          </a:xfrm>
          <a:prstGeom prst="rect">
            <a:avLst/>
          </a:prstGeom>
        </p:spPr>
      </p:pic>
      <p:pic>
        <p:nvPicPr>
          <p:cNvPr id="106" name="Picture 105">
            <a:extLst>
              <a:ext uri="{FF2B5EF4-FFF2-40B4-BE49-F238E27FC236}">
                <a16:creationId xmlns:a16="http://schemas.microsoft.com/office/drawing/2014/main" id="{B848439A-A50C-D135-3D23-7C3603F24813}"/>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086667" y="4756643"/>
            <a:ext cx="871631" cy="1309578"/>
          </a:xfrm>
          <a:prstGeom prst="rect">
            <a:avLst/>
          </a:prstGeom>
        </p:spPr>
      </p:pic>
      <p:pic>
        <p:nvPicPr>
          <p:cNvPr id="107" name="Picture 106">
            <a:extLst>
              <a:ext uri="{FF2B5EF4-FFF2-40B4-BE49-F238E27FC236}">
                <a16:creationId xmlns:a16="http://schemas.microsoft.com/office/drawing/2014/main" id="{0A20915E-CB62-07A8-626D-DFEB92897E62}"/>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2553915" y="4756643"/>
            <a:ext cx="871631" cy="1309578"/>
          </a:xfrm>
          <a:prstGeom prst="rect">
            <a:avLst/>
          </a:prstGeom>
        </p:spPr>
      </p:pic>
      <p:pic>
        <p:nvPicPr>
          <p:cNvPr id="108" name="Graphic 107" descr="List outline">
            <a:extLst>
              <a:ext uri="{FF2B5EF4-FFF2-40B4-BE49-F238E27FC236}">
                <a16:creationId xmlns:a16="http://schemas.microsoft.com/office/drawing/2014/main" id="{9EB1DB6E-7D98-E5F0-1988-97D6075A83E8}"/>
              </a:ext>
            </a:extLst>
          </p:cNvPr>
          <p:cNvPicPr>
            <a:picLocks noChangeAspect="1"/>
          </p:cNvPicPr>
          <p:nvPr/>
        </p:nvPicPr>
        <p:blipFill>
          <a:blip>
            <a:extLst>
              <a:ext uri="{96DAC541-7B7A-43D3-8B79-37D633B846F1}">
                <asvg:svgBlip xmlns:asvg="http://schemas.microsoft.com/office/drawing/2016/SVG/main" r:embed="rId18"/>
              </a:ext>
            </a:extLst>
          </a:blip>
          <a:srcRect/>
          <a:stretch/>
        </p:blipFill>
        <p:spPr>
          <a:xfrm>
            <a:off x="6861209" y="5000046"/>
            <a:ext cx="790335" cy="790335"/>
          </a:xfrm>
          <a:prstGeom prst="rect">
            <a:avLst/>
          </a:prstGeom>
        </p:spPr>
      </p:pic>
      <p:sp>
        <p:nvSpPr>
          <p:cNvPr id="109" name="TextBox 108">
            <a:extLst>
              <a:ext uri="{FF2B5EF4-FFF2-40B4-BE49-F238E27FC236}">
                <a16:creationId xmlns:a16="http://schemas.microsoft.com/office/drawing/2014/main" id="{181E4208-4B94-771C-6168-96C5106C2864}"/>
              </a:ext>
            </a:extLst>
          </p:cNvPr>
          <p:cNvSpPr txBox="1"/>
          <p:nvPr/>
        </p:nvSpPr>
        <p:spPr>
          <a:xfrm>
            <a:off x="5955360" y="5886131"/>
            <a:ext cx="2563504"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prstClr val="white"/>
                </a:solidFill>
                <a:effectLst/>
                <a:uLnTx/>
                <a:uFillTx/>
                <a:latin typeface="Aptos" panose="02110004020202020204"/>
                <a:ea typeface="+mn-ea"/>
                <a:cs typeface="+mn-cs"/>
              </a:rPr>
              <a:t>+ de 15 projets complétés</a:t>
            </a:r>
            <a:endParaRPr kumimoji="0" lang="fr-CA" sz="14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pic>
        <p:nvPicPr>
          <p:cNvPr id="110" name="Graphic 109" descr="House outline">
            <a:extLst>
              <a:ext uri="{FF2B5EF4-FFF2-40B4-BE49-F238E27FC236}">
                <a16:creationId xmlns:a16="http://schemas.microsoft.com/office/drawing/2014/main" id="{369BB378-CBE8-E831-9EE3-B200E3EC6E97}"/>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9657062" y="5000046"/>
            <a:ext cx="790335" cy="790335"/>
          </a:xfrm>
          <a:prstGeom prst="rect">
            <a:avLst/>
          </a:prstGeom>
        </p:spPr>
      </p:pic>
      <p:sp>
        <p:nvSpPr>
          <p:cNvPr id="111" name="TextBox 110">
            <a:extLst>
              <a:ext uri="{FF2B5EF4-FFF2-40B4-BE49-F238E27FC236}">
                <a16:creationId xmlns:a16="http://schemas.microsoft.com/office/drawing/2014/main" id="{51C39755-7D7F-D94D-998B-670C818941C6}"/>
              </a:ext>
            </a:extLst>
          </p:cNvPr>
          <p:cNvSpPr txBox="1"/>
          <p:nvPr/>
        </p:nvSpPr>
        <p:spPr>
          <a:xfrm>
            <a:off x="8595066" y="5886131"/>
            <a:ext cx="2791287"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prstClr val="white"/>
                </a:solidFill>
                <a:effectLst/>
                <a:uLnTx/>
                <a:uFillTx/>
                <a:latin typeface="Aptos" panose="02110004020202020204"/>
                <a:ea typeface="+mn-ea"/>
                <a:cs typeface="+mn-cs"/>
              </a:rPr>
              <a:t>+ de 100 logements sous gestion</a:t>
            </a:r>
            <a:endParaRPr kumimoji="0" lang="fr-CA" sz="14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972203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F162E11-686C-4B82-9784-249C0E7B7D94}"/>
              </a:ext>
            </a:extLst>
          </p:cNvPr>
          <p:cNvSpPr/>
          <p:nvPr/>
        </p:nvSpPr>
        <p:spPr>
          <a:xfrm>
            <a:off x="1512848" y="924232"/>
            <a:ext cx="9155153" cy="3716594"/>
          </a:xfrm>
          <a:prstGeom prst="rect">
            <a:avLst/>
          </a:prstGeom>
          <a:solidFill>
            <a:srgbClr val="F8D9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6" name="ZoneTexte 5">
            <a:extLst>
              <a:ext uri="{FF2B5EF4-FFF2-40B4-BE49-F238E27FC236}">
                <a16:creationId xmlns:a16="http://schemas.microsoft.com/office/drawing/2014/main" id="{27B6FE47-51E4-4F3E-8018-E8AA8336EE3D}"/>
              </a:ext>
            </a:extLst>
          </p:cNvPr>
          <p:cNvSpPr txBox="1"/>
          <p:nvPr/>
        </p:nvSpPr>
        <p:spPr>
          <a:xfrm>
            <a:off x="4385905" y="3107632"/>
            <a:ext cx="3420191" cy="400110"/>
          </a:xfrm>
          <a:prstGeom prst="rect">
            <a:avLst/>
          </a:prstGeom>
          <a:noFill/>
        </p:spPr>
        <p:txBody>
          <a:bodyPr wrap="square" rtlCol="0">
            <a:spAutoFit/>
          </a:bodyPr>
          <a:lstStyle/>
          <a:p>
            <a:pPr algn="ctr"/>
            <a:r>
              <a:rPr lang="fr-CA" sz="2000" b="1" dirty="0">
                <a:latin typeface="Arial" panose="020B0604020202020204" pitchFamily="34" charset="0"/>
                <a:cs typeface="Arial" panose="020B0604020202020204" pitchFamily="34" charset="0"/>
              </a:rPr>
              <a:t>QUESTIONS?</a:t>
            </a:r>
          </a:p>
        </p:txBody>
      </p:sp>
      <p:cxnSp>
        <p:nvCxnSpPr>
          <p:cNvPr id="9" name="Connecteur droit 8">
            <a:extLst>
              <a:ext uri="{FF2B5EF4-FFF2-40B4-BE49-F238E27FC236}">
                <a16:creationId xmlns:a16="http://schemas.microsoft.com/office/drawing/2014/main" id="{ABE36C91-78DC-474E-82C2-071D34C23091}"/>
              </a:ext>
            </a:extLst>
          </p:cNvPr>
          <p:cNvCxnSpPr>
            <a:cxnSpLocks/>
          </p:cNvCxnSpPr>
          <p:nvPr/>
        </p:nvCxnSpPr>
        <p:spPr>
          <a:xfrm>
            <a:off x="4447474" y="2872414"/>
            <a:ext cx="32858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9DED7036-CBDD-475C-93AE-D04348BB564B}"/>
              </a:ext>
            </a:extLst>
          </p:cNvPr>
          <p:cNvSpPr/>
          <p:nvPr/>
        </p:nvSpPr>
        <p:spPr>
          <a:xfrm>
            <a:off x="7891060" y="5499614"/>
            <a:ext cx="431012" cy="432615"/>
          </a:xfrm>
          <a:prstGeom prst="rect">
            <a:avLst/>
          </a:prstGeom>
          <a:solidFill>
            <a:srgbClr val="F8D9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2" name="Rectangle 11">
            <a:extLst>
              <a:ext uri="{FF2B5EF4-FFF2-40B4-BE49-F238E27FC236}">
                <a16:creationId xmlns:a16="http://schemas.microsoft.com/office/drawing/2014/main" id="{F5C0353A-7EF1-4D26-98AB-F72B745CE4BF}"/>
              </a:ext>
            </a:extLst>
          </p:cNvPr>
          <p:cNvSpPr/>
          <p:nvPr/>
        </p:nvSpPr>
        <p:spPr>
          <a:xfrm>
            <a:off x="8442854" y="5602117"/>
            <a:ext cx="279177" cy="280215"/>
          </a:xfrm>
          <a:prstGeom prst="rect">
            <a:avLst/>
          </a:prstGeom>
          <a:solidFill>
            <a:srgbClr val="F8D9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3" name="Rectangle 12">
            <a:extLst>
              <a:ext uri="{FF2B5EF4-FFF2-40B4-BE49-F238E27FC236}">
                <a16:creationId xmlns:a16="http://schemas.microsoft.com/office/drawing/2014/main" id="{82A946C8-D93B-4AFF-9C6D-1258B1667814}"/>
              </a:ext>
            </a:extLst>
          </p:cNvPr>
          <p:cNvSpPr/>
          <p:nvPr/>
        </p:nvSpPr>
        <p:spPr>
          <a:xfrm>
            <a:off x="8932237" y="6036272"/>
            <a:ext cx="152400" cy="152967"/>
          </a:xfrm>
          <a:prstGeom prst="rect">
            <a:avLst/>
          </a:prstGeom>
          <a:solidFill>
            <a:srgbClr val="F8D9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4" name="Rectangle 13">
            <a:extLst>
              <a:ext uri="{FF2B5EF4-FFF2-40B4-BE49-F238E27FC236}">
                <a16:creationId xmlns:a16="http://schemas.microsoft.com/office/drawing/2014/main" id="{488EE383-BDAE-4AA5-97CD-2ED2603EA28D}"/>
              </a:ext>
            </a:extLst>
          </p:cNvPr>
          <p:cNvSpPr/>
          <p:nvPr/>
        </p:nvSpPr>
        <p:spPr>
          <a:xfrm>
            <a:off x="9493371" y="5832540"/>
            <a:ext cx="279177" cy="280215"/>
          </a:xfrm>
          <a:prstGeom prst="rect">
            <a:avLst/>
          </a:prstGeom>
          <a:solidFill>
            <a:srgbClr val="F8D9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5" name="Rectangle 14">
            <a:extLst>
              <a:ext uri="{FF2B5EF4-FFF2-40B4-BE49-F238E27FC236}">
                <a16:creationId xmlns:a16="http://schemas.microsoft.com/office/drawing/2014/main" id="{339F4D64-4EAB-4630-B4C1-0C51DC4375F0}"/>
              </a:ext>
            </a:extLst>
          </p:cNvPr>
          <p:cNvSpPr/>
          <p:nvPr/>
        </p:nvSpPr>
        <p:spPr>
          <a:xfrm>
            <a:off x="9984003" y="6385960"/>
            <a:ext cx="152400" cy="152967"/>
          </a:xfrm>
          <a:prstGeom prst="rect">
            <a:avLst/>
          </a:prstGeom>
          <a:solidFill>
            <a:srgbClr val="F8D9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6" name="Rectangle 15">
            <a:extLst>
              <a:ext uri="{FF2B5EF4-FFF2-40B4-BE49-F238E27FC236}">
                <a16:creationId xmlns:a16="http://schemas.microsoft.com/office/drawing/2014/main" id="{EEBC7623-46A2-4172-8C5A-564DA3479EFA}"/>
              </a:ext>
            </a:extLst>
          </p:cNvPr>
          <p:cNvSpPr/>
          <p:nvPr/>
        </p:nvSpPr>
        <p:spPr>
          <a:xfrm>
            <a:off x="7506157" y="5346647"/>
            <a:ext cx="152400" cy="152967"/>
          </a:xfrm>
          <a:prstGeom prst="rect">
            <a:avLst/>
          </a:prstGeom>
          <a:solidFill>
            <a:srgbClr val="F8D9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7" name="Rectangle 16">
            <a:extLst>
              <a:ext uri="{FF2B5EF4-FFF2-40B4-BE49-F238E27FC236}">
                <a16:creationId xmlns:a16="http://schemas.microsoft.com/office/drawing/2014/main" id="{8DF9FBCE-5128-41FC-8211-CA0BC3FE9CDD}"/>
              </a:ext>
            </a:extLst>
          </p:cNvPr>
          <p:cNvSpPr/>
          <p:nvPr/>
        </p:nvSpPr>
        <p:spPr>
          <a:xfrm>
            <a:off x="6135757" y="625888"/>
            <a:ext cx="152400" cy="152967"/>
          </a:xfrm>
          <a:prstGeom prst="rect">
            <a:avLst/>
          </a:prstGeom>
          <a:solidFill>
            <a:srgbClr val="FF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8" name="Rectangle 17">
            <a:extLst>
              <a:ext uri="{FF2B5EF4-FFF2-40B4-BE49-F238E27FC236}">
                <a16:creationId xmlns:a16="http://schemas.microsoft.com/office/drawing/2014/main" id="{8740B64C-A2FF-4E86-93B8-B51D023E9CE8}"/>
              </a:ext>
            </a:extLst>
          </p:cNvPr>
          <p:cNvSpPr/>
          <p:nvPr/>
        </p:nvSpPr>
        <p:spPr>
          <a:xfrm>
            <a:off x="5888475" y="421577"/>
            <a:ext cx="152400" cy="152967"/>
          </a:xfrm>
          <a:prstGeom prst="rect">
            <a:avLst/>
          </a:prstGeom>
          <a:solidFill>
            <a:srgbClr val="F8D9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9" name="Rectangle 18">
            <a:extLst>
              <a:ext uri="{FF2B5EF4-FFF2-40B4-BE49-F238E27FC236}">
                <a16:creationId xmlns:a16="http://schemas.microsoft.com/office/drawing/2014/main" id="{A708B939-98F4-4C56-ADC2-D444C9D1C505}"/>
              </a:ext>
            </a:extLst>
          </p:cNvPr>
          <p:cNvSpPr/>
          <p:nvPr/>
        </p:nvSpPr>
        <p:spPr>
          <a:xfrm>
            <a:off x="10261989" y="5346646"/>
            <a:ext cx="431012" cy="815042"/>
          </a:xfrm>
          <a:prstGeom prst="rect">
            <a:avLst/>
          </a:prstGeom>
          <a:solidFill>
            <a:srgbClr val="F8D9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20" name="AutoShape 10" descr="Centre National de Cyclisme de Bromont | CNCB">
            <a:extLst>
              <a:ext uri="{FF2B5EF4-FFF2-40B4-BE49-F238E27FC236}">
                <a16:creationId xmlns:a16="http://schemas.microsoft.com/office/drawing/2014/main" id="{FF0FE3A4-A972-0218-9733-3B53B1825310}"/>
              </a:ext>
            </a:extLst>
          </p:cNvPr>
          <p:cNvSpPr>
            <a:spLocks noChangeAspect="1" noChangeArrowheads="1"/>
          </p:cNvSpPr>
          <p:nvPr/>
        </p:nvSpPr>
        <p:spPr bwMode="auto">
          <a:xfrm>
            <a:off x="5943600" y="353455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A"/>
          </a:p>
        </p:txBody>
      </p:sp>
      <p:sp>
        <p:nvSpPr>
          <p:cNvPr id="2" name="TextBox 1">
            <a:extLst>
              <a:ext uri="{FF2B5EF4-FFF2-40B4-BE49-F238E27FC236}">
                <a16:creationId xmlns:a16="http://schemas.microsoft.com/office/drawing/2014/main" id="{9FCA111C-F0CD-6E45-CE35-B8A9E95563B0}"/>
              </a:ext>
            </a:extLst>
          </p:cNvPr>
          <p:cNvSpPr txBox="1"/>
          <p:nvPr/>
        </p:nvSpPr>
        <p:spPr>
          <a:xfrm>
            <a:off x="184326" y="6476025"/>
            <a:ext cx="596347" cy="276999"/>
          </a:xfrm>
          <a:prstGeom prst="rect">
            <a:avLst/>
          </a:prstGeom>
          <a:noFill/>
        </p:spPr>
        <p:txBody>
          <a:bodyPr wrap="square" rtlCol="0">
            <a:spAutoFit/>
          </a:bodyPr>
          <a:lstStyle/>
          <a:p>
            <a:r>
              <a:rPr lang="fr-CA" sz="1200" dirty="0">
                <a:solidFill>
                  <a:schemeClr val="bg1"/>
                </a:solidFill>
              </a:rPr>
              <a:t>16</a:t>
            </a:r>
            <a:endParaRPr lang="en-CA" sz="1200" dirty="0">
              <a:solidFill>
                <a:schemeClr val="bg1"/>
              </a:solidFill>
            </a:endParaRPr>
          </a:p>
        </p:txBody>
      </p:sp>
      <p:pic>
        <p:nvPicPr>
          <p:cNvPr id="4" name="Picture 3">
            <a:extLst>
              <a:ext uri="{FF2B5EF4-FFF2-40B4-BE49-F238E27FC236}">
                <a16:creationId xmlns:a16="http://schemas.microsoft.com/office/drawing/2014/main" id="{F64FE013-3DAE-4E31-96D1-4A0504ECC28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1188861" y="6031860"/>
            <a:ext cx="998416" cy="998416"/>
          </a:xfrm>
          <a:prstGeom prst="rect">
            <a:avLst/>
          </a:prstGeom>
        </p:spPr>
      </p:pic>
      <p:sp>
        <p:nvSpPr>
          <p:cNvPr id="7" name="TextBox 6">
            <a:extLst>
              <a:ext uri="{FF2B5EF4-FFF2-40B4-BE49-F238E27FC236}">
                <a16:creationId xmlns:a16="http://schemas.microsoft.com/office/drawing/2014/main" id="{2CFD677A-1816-CE5F-03BC-3A48ABAFF5FD}"/>
              </a:ext>
            </a:extLst>
          </p:cNvPr>
          <p:cNvSpPr txBox="1"/>
          <p:nvPr/>
        </p:nvSpPr>
        <p:spPr>
          <a:xfrm>
            <a:off x="2758786" y="1637643"/>
            <a:ext cx="6564178" cy="954107"/>
          </a:xfrm>
          <a:prstGeom prst="rect">
            <a:avLst/>
          </a:prstGeom>
          <a:noFill/>
        </p:spPr>
        <p:txBody>
          <a:bodyPr wrap="square" rtlCol="0">
            <a:spAutoFit/>
          </a:bodyPr>
          <a:lstStyle/>
          <a:p>
            <a:pPr algn="ctr"/>
            <a:r>
              <a:rPr lang="fr-FR" sz="2800" b="1" dirty="0"/>
              <a:t>BÂTIR ENSEMBLE UN PATRIMOINE DURABLE</a:t>
            </a:r>
            <a:endParaRPr lang="en-CA" sz="2800" b="1" dirty="0">
              <a:solidFill>
                <a:schemeClr val="bg1"/>
              </a:solidFill>
            </a:endParaRPr>
          </a:p>
        </p:txBody>
      </p:sp>
    </p:spTree>
    <p:extLst>
      <p:ext uri="{BB962C8B-B14F-4D97-AF65-F5344CB8AC3E}">
        <p14:creationId xmlns:p14="http://schemas.microsoft.com/office/powerpoint/2010/main" val="8275779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6472</TotalTime>
  <Words>1672</Words>
  <Application>Microsoft Office PowerPoint</Application>
  <PresentationFormat>Widescreen</PresentationFormat>
  <Paragraphs>492</Paragraphs>
  <Slides>16</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Aptos (Body)</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Meuser, Philippe</dc:creator>
  <cp:lastModifiedBy>Philippe Meuser</cp:lastModifiedBy>
  <cp:revision>1</cp:revision>
  <dcterms:created xsi:type="dcterms:W3CDTF">2024-10-09T01:29:37Z</dcterms:created>
  <dcterms:modified xsi:type="dcterms:W3CDTF">2026-09-23T18:41:04Z</dcterms:modified>
</cp:coreProperties>
</file>